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5143500" cx="9144000"/>
  <p:notesSz cx="9144000" cy="5143500"/>
  <p:embeddedFontLst>
    <p:embeddedFont>
      <p:font typeface="Noto Sans Symbols"/>
      <p:regular r:id="rId34"/>
      <p:bold r:id="rId35"/>
    </p:embeddedFont>
    <p:embeddedFont>
      <p:font typeface="Cambria Math"/>
      <p:regular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37" roundtripDataSignature="AMtx7mgx5xbSY8geIdSv+E/arQSEN5qBP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B8C60D3-4BFF-4D49-A3F0-F6A5A3613A8E}">
  <a:tblStyle styleId="{EB8C60D3-4BFF-4D49-A3F0-F6A5A3613A8E}"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NotoSansSymbols-bold.fntdata"/><Relationship Id="rId12" Type="http://schemas.openxmlformats.org/officeDocument/2006/relationships/slide" Target="slides/slide6.xml"/><Relationship Id="rId34" Type="http://schemas.openxmlformats.org/officeDocument/2006/relationships/font" Target="fonts/NotoSansSymbols-regular.fntdata"/><Relationship Id="rId15" Type="http://schemas.openxmlformats.org/officeDocument/2006/relationships/slide" Target="slides/slide9.xml"/><Relationship Id="rId37" Type="http://customschemas.google.com/relationships/presentationmetadata" Target="metadata"/><Relationship Id="rId14" Type="http://schemas.openxmlformats.org/officeDocument/2006/relationships/slide" Target="slides/slide8.xml"/><Relationship Id="rId36" Type="http://schemas.openxmlformats.org/officeDocument/2006/relationships/font" Target="fonts/CambriaMath-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5: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5: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6: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6: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7: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8: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8: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9: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0: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0: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5: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5: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6: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6: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7: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8: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8: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9: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9: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0: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0: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2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2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25: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5: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26: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6: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27: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 name="Shape 12"/>
        <p:cNvGrpSpPr/>
        <p:nvPr/>
      </p:nvGrpSpPr>
      <p:grpSpPr>
        <a:xfrm>
          <a:off x="0" y="0"/>
          <a:ext cx="0" cy="0"/>
          <a:chOff x="0" y="0"/>
          <a:chExt cx="0" cy="0"/>
        </a:xfrm>
      </p:grpSpPr>
      <p:sp>
        <p:nvSpPr>
          <p:cNvPr id="13" name="Google Shape;13;p29"/>
          <p:cNvSpPr txBox="1"/>
          <p:nvPr>
            <p:ph type="title"/>
          </p:nvPr>
        </p:nvSpPr>
        <p:spPr>
          <a:xfrm>
            <a:off x="535940" y="454913"/>
            <a:ext cx="7755890" cy="45211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28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9"/>
          <p:cNvSpPr txBox="1"/>
          <p:nvPr>
            <p:ph idx="1" type="body"/>
          </p:nvPr>
        </p:nvSpPr>
        <p:spPr>
          <a:xfrm>
            <a:off x="879144" y="1408938"/>
            <a:ext cx="4001135" cy="178181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1800">
                <a:solidFill>
                  <a:schemeClr val="dk1"/>
                </a:solidFill>
                <a:latin typeface="Calibri"/>
                <a:ea typeface="Calibri"/>
                <a:cs typeface="Calibri"/>
                <a:sym typeface="Calibri"/>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 name="Google Shape;15;p29"/>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29"/>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9"/>
          <p:cNvSpPr txBox="1"/>
          <p:nvPr>
            <p:ph idx="12" type="sldNum"/>
          </p:nvPr>
        </p:nvSpPr>
        <p:spPr>
          <a:xfrm>
            <a:off x="8401811" y="4830876"/>
            <a:ext cx="244475" cy="177800"/>
          </a:xfrm>
          <a:prstGeom prst="rect">
            <a:avLst/>
          </a:prstGeom>
          <a:noFill/>
          <a:ln>
            <a:noFill/>
          </a:ln>
        </p:spPr>
        <p:txBody>
          <a:bodyPr anchorCtr="0" anchor="t" bIns="0" lIns="0" spcFirstLastPara="1" rIns="0" wrap="square" tIns="0">
            <a:spAutoFit/>
          </a:bodyPr>
          <a:lstStyle>
            <a:lvl1pPr indent="0" lvl="0" marL="38100">
              <a:lnSpc>
                <a:spcPct val="103333"/>
              </a:lnSpc>
              <a:spcBef>
                <a:spcPts val="0"/>
              </a:spcBef>
              <a:buNone/>
              <a:defRPr b="0" i="0" sz="1200">
                <a:solidFill>
                  <a:srgbClr val="888888"/>
                </a:solidFill>
                <a:latin typeface="Calibri"/>
                <a:ea typeface="Calibri"/>
                <a:cs typeface="Calibri"/>
                <a:sym typeface="Calibri"/>
              </a:defRPr>
            </a:lvl1pPr>
            <a:lvl2pPr indent="0" lvl="1" marL="38100">
              <a:lnSpc>
                <a:spcPct val="103333"/>
              </a:lnSpc>
              <a:spcBef>
                <a:spcPts val="0"/>
              </a:spcBef>
              <a:buNone/>
              <a:defRPr b="0" i="0" sz="1200">
                <a:solidFill>
                  <a:srgbClr val="888888"/>
                </a:solidFill>
                <a:latin typeface="Calibri"/>
                <a:ea typeface="Calibri"/>
                <a:cs typeface="Calibri"/>
                <a:sym typeface="Calibri"/>
              </a:defRPr>
            </a:lvl2pPr>
            <a:lvl3pPr indent="0" lvl="2" marL="38100">
              <a:lnSpc>
                <a:spcPct val="103333"/>
              </a:lnSpc>
              <a:spcBef>
                <a:spcPts val="0"/>
              </a:spcBef>
              <a:buNone/>
              <a:defRPr b="0" i="0" sz="1200">
                <a:solidFill>
                  <a:srgbClr val="888888"/>
                </a:solidFill>
                <a:latin typeface="Calibri"/>
                <a:ea typeface="Calibri"/>
                <a:cs typeface="Calibri"/>
                <a:sym typeface="Calibri"/>
              </a:defRPr>
            </a:lvl3pPr>
            <a:lvl4pPr indent="0" lvl="3" marL="38100">
              <a:lnSpc>
                <a:spcPct val="103333"/>
              </a:lnSpc>
              <a:spcBef>
                <a:spcPts val="0"/>
              </a:spcBef>
              <a:buNone/>
              <a:defRPr b="0" i="0" sz="1200">
                <a:solidFill>
                  <a:srgbClr val="888888"/>
                </a:solidFill>
                <a:latin typeface="Calibri"/>
                <a:ea typeface="Calibri"/>
                <a:cs typeface="Calibri"/>
                <a:sym typeface="Calibri"/>
              </a:defRPr>
            </a:lvl4pPr>
            <a:lvl5pPr indent="0" lvl="4" marL="38100">
              <a:lnSpc>
                <a:spcPct val="103333"/>
              </a:lnSpc>
              <a:spcBef>
                <a:spcPts val="0"/>
              </a:spcBef>
              <a:buNone/>
              <a:defRPr b="0" i="0" sz="1200">
                <a:solidFill>
                  <a:srgbClr val="888888"/>
                </a:solidFill>
                <a:latin typeface="Calibri"/>
                <a:ea typeface="Calibri"/>
                <a:cs typeface="Calibri"/>
                <a:sym typeface="Calibri"/>
              </a:defRPr>
            </a:lvl5pPr>
            <a:lvl6pPr indent="0" lvl="5" marL="38100">
              <a:lnSpc>
                <a:spcPct val="103333"/>
              </a:lnSpc>
              <a:spcBef>
                <a:spcPts val="0"/>
              </a:spcBef>
              <a:buNone/>
              <a:defRPr b="0" i="0" sz="1200">
                <a:solidFill>
                  <a:srgbClr val="888888"/>
                </a:solidFill>
                <a:latin typeface="Calibri"/>
                <a:ea typeface="Calibri"/>
                <a:cs typeface="Calibri"/>
                <a:sym typeface="Calibri"/>
              </a:defRPr>
            </a:lvl6pPr>
            <a:lvl7pPr indent="0" lvl="6" marL="38100">
              <a:lnSpc>
                <a:spcPct val="103333"/>
              </a:lnSpc>
              <a:spcBef>
                <a:spcPts val="0"/>
              </a:spcBef>
              <a:buNone/>
              <a:defRPr b="0" i="0" sz="1200">
                <a:solidFill>
                  <a:srgbClr val="888888"/>
                </a:solidFill>
                <a:latin typeface="Calibri"/>
                <a:ea typeface="Calibri"/>
                <a:cs typeface="Calibri"/>
                <a:sym typeface="Calibri"/>
              </a:defRPr>
            </a:lvl7pPr>
            <a:lvl8pPr indent="0" lvl="7" marL="38100">
              <a:lnSpc>
                <a:spcPct val="103333"/>
              </a:lnSpc>
              <a:spcBef>
                <a:spcPts val="0"/>
              </a:spcBef>
              <a:buNone/>
              <a:defRPr b="0" i="0" sz="1200">
                <a:solidFill>
                  <a:srgbClr val="888888"/>
                </a:solidFill>
                <a:latin typeface="Calibri"/>
                <a:ea typeface="Calibri"/>
                <a:cs typeface="Calibri"/>
                <a:sym typeface="Calibri"/>
              </a:defRPr>
            </a:lvl8pPr>
            <a:lvl9pPr indent="0" lvl="8" marL="38100">
              <a:lnSpc>
                <a:spcPct val="103333"/>
              </a:lnSpc>
              <a:spcBef>
                <a:spcPts val="0"/>
              </a:spcBef>
              <a:buNone/>
              <a:defRPr b="0" i="0" sz="1200">
                <a:solidFill>
                  <a:srgbClr val="888888"/>
                </a:solidFill>
                <a:latin typeface="Calibri"/>
                <a:ea typeface="Calibri"/>
                <a:cs typeface="Calibri"/>
                <a:sym typeface="Calibri"/>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8" name="Shape 18"/>
        <p:cNvGrpSpPr/>
        <p:nvPr/>
      </p:nvGrpSpPr>
      <p:grpSpPr>
        <a:xfrm>
          <a:off x="0" y="0"/>
          <a:ext cx="0" cy="0"/>
          <a:chOff x="0" y="0"/>
          <a:chExt cx="0" cy="0"/>
        </a:xfrm>
      </p:grpSpPr>
      <p:sp>
        <p:nvSpPr>
          <p:cNvPr id="19" name="Google Shape;19;p30"/>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30"/>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0"/>
          <p:cNvSpPr txBox="1"/>
          <p:nvPr>
            <p:ph idx="12" type="sldNum"/>
          </p:nvPr>
        </p:nvSpPr>
        <p:spPr>
          <a:xfrm>
            <a:off x="8401811" y="4830876"/>
            <a:ext cx="244475" cy="177800"/>
          </a:xfrm>
          <a:prstGeom prst="rect">
            <a:avLst/>
          </a:prstGeom>
          <a:noFill/>
          <a:ln>
            <a:noFill/>
          </a:ln>
        </p:spPr>
        <p:txBody>
          <a:bodyPr anchorCtr="0" anchor="t" bIns="0" lIns="0" spcFirstLastPara="1" rIns="0" wrap="square" tIns="0">
            <a:spAutoFit/>
          </a:bodyPr>
          <a:lstStyle>
            <a:lvl1pPr indent="0" lvl="0" marL="38100">
              <a:lnSpc>
                <a:spcPct val="103333"/>
              </a:lnSpc>
              <a:spcBef>
                <a:spcPts val="0"/>
              </a:spcBef>
              <a:buNone/>
              <a:defRPr b="0" i="0" sz="1200">
                <a:solidFill>
                  <a:srgbClr val="888888"/>
                </a:solidFill>
                <a:latin typeface="Calibri"/>
                <a:ea typeface="Calibri"/>
                <a:cs typeface="Calibri"/>
                <a:sym typeface="Calibri"/>
              </a:defRPr>
            </a:lvl1pPr>
            <a:lvl2pPr indent="0" lvl="1" marL="38100">
              <a:lnSpc>
                <a:spcPct val="103333"/>
              </a:lnSpc>
              <a:spcBef>
                <a:spcPts val="0"/>
              </a:spcBef>
              <a:buNone/>
              <a:defRPr b="0" i="0" sz="1200">
                <a:solidFill>
                  <a:srgbClr val="888888"/>
                </a:solidFill>
                <a:latin typeface="Calibri"/>
                <a:ea typeface="Calibri"/>
                <a:cs typeface="Calibri"/>
                <a:sym typeface="Calibri"/>
              </a:defRPr>
            </a:lvl2pPr>
            <a:lvl3pPr indent="0" lvl="2" marL="38100">
              <a:lnSpc>
                <a:spcPct val="103333"/>
              </a:lnSpc>
              <a:spcBef>
                <a:spcPts val="0"/>
              </a:spcBef>
              <a:buNone/>
              <a:defRPr b="0" i="0" sz="1200">
                <a:solidFill>
                  <a:srgbClr val="888888"/>
                </a:solidFill>
                <a:latin typeface="Calibri"/>
                <a:ea typeface="Calibri"/>
                <a:cs typeface="Calibri"/>
                <a:sym typeface="Calibri"/>
              </a:defRPr>
            </a:lvl3pPr>
            <a:lvl4pPr indent="0" lvl="3" marL="38100">
              <a:lnSpc>
                <a:spcPct val="103333"/>
              </a:lnSpc>
              <a:spcBef>
                <a:spcPts val="0"/>
              </a:spcBef>
              <a:buNone/>
              <a:defRPr b="0" i="0" sz="1200">
                <a:solidFill>
                  <a:srgbClr val="888888"/>
                </a:solidFill>
                <a:latin typeface="Calibri"/>
                <a:ea typeface="Calibri"/>
                <a:cs typeface="Calibri"/>
                <a:sym typeface="Calibri"/>
              </a:defRPr>
            </a:lvl4pPr>
            <a:lvl5pPr indent="0" lvl="4" marL="38100">
              <a:lnSpc>
                <a:spcPct val="103333"/>
              </a:lnSpc>
              <a:spcBef>
                <a:spcPts val="0"/>
              </a:spcBef>
              <a:buNone/>
              <a:defRPr b="0" i="0" sz="1200">
                <a:solidFill>
                  <a:srgbClr val="888888"/>
                </a:solidFill>
                <a:latin typeface="Calibri"/>
                <a:ea typeface="Calibri"/>
                <a:cs typeface="Calibri"/>
                <a:sym typeface="Calibri"/>
              </a:defRPr>
            </a:lvl5pPr>
            <a:lvl6pPr indent="0" lvl="5" marL="38100">
              <a:lnSpc>
                <a:spcPct val="103333"/>
              </a:lnSpc>
              <a:spcBef>
                <a:spcPts val="0"/>
              </a:spcBef>
              <a:buNone/>
              <a:defRPr b="0" i="0" sz="1200">
                <a:solidFill>
                  <a:srgbClr val="888888"/>
                </a:solidFill>
                <a:latin typeface="Calibri"/>
                <a:ea typeface="Calibri"/>
                <a:cs typeface="Calibri"/>
                <a:sym typeface="Calibri"/>
              </a:defRPr>
            </a:lvl6pPr>
            <a:lvl7pPr indent="0" lvl="6" marL="38100">
              <a:lnSpc>
                <a:spcPct val="103333"/>
              </a:lnSpc>
              <a:spcBef>
                <a:spcPts val="0"/>
              </a:spcBef>
              <a:buNone/>
              <a:defRPr b="0" i="0" sz="1200">
                <a:solidFill>
                  <a:srgbClr val="888888"/>
                </a:solidFill>
                <a:latin typeface="Calibri"/>
                <a:ea typeface="Calibri"/>
                <a:cs typeface="Calibri"/>
                <a:sym typeface="Calibri"/>
              </a:defRPr>
            </a:lvl7pPr>
            <a:lvl8pPr indent="0" lvl="7" marL="38100">
              <a:lnSpc>
                <a:spcPct val="103333"/>
              </a:lnSpc>
              <a:spcBef>
                <a:spcPts val="0"/>
              </a:spcBef>
              <a:buNone/>
              <a:defRPr b="0" i="0" sz="1200">
                <a:solidFill>
                  <a:srgbClr val="888888"/>
                </a:solidFill>
                <a:latin typeface="Calibri"/>
                <a:ea typeface="Calibri"/>
                <a:cs typeface="Calibri"/>
                <a:sym typeface="Calibri"/>
              </a:defRPr>
            </a:lvl8pPr>
            <a:lvl9pPr indent="0" lvl="8" marL="38100">
              <a:lnSpc>
                <a:spcPct val="103333"/>
              </a:lnSpc>
              <a:spcBef>
                <a:spcPts val="0"/>
              </a:spcBef>
              <a:buNone/>
              <a:defRPr b="0" i="0" sz="1200">
                <a:solidFill>
                  <a:srgbClr val="888888"/>
                </a:solidFill>
                <a:latin typeface="Calibri"/>
                <a:ea typeface="Calibri"/>
                <a:cs typeface="Calibri"/>
                <a:sym typeface="Calibri"/>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2" name="Shape 22"/>
        <p:cNvGrpSpPr/>
        <p:nvPr/>
      </p:nvGrpSpPr>
      <p:grpSpPr>
        <a:xfrm>
          <a:off x="0" y="0"/>
          <a:ext cx="0" cy="0"/>
          <a:chOff x="0" y="0"/>
          <a:chExt cx="0" cy="0"/>
        </a:xfrm>
      </p:grpSpPr>
      <p:sp>
        <p:nvSpPr>
          <p:cNvPr id="23" name="Google Shape;23;p31"/>
          <p:cNvSpPr txBox="1"/>
          <p:nvPr>
            <p:ph type="title"/>
          </p:nvPr>
        </p:nvSpPr>
        <p:spPr>
          <a:xfrm>
            <a:off x="535940" y="454913"/>
            <a:ext cx="7755890" cy="45211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28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31"/>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1"/>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31"/>
          <p:cNvSpPr txBox="1"/>
          <p:nvPr>
            <p:ph idx="12" type="sldNum"/>
          </p:nvPr>
        </p:nvSpPr>
        <p:spPr>
          <a:xfrm>
            <a:off x="8401811" y="4830876"/>
            <a:ext cx="244475" cy="177800"/>
          </a:xfrm>
          <a:prstGeom prst="rect">
            <a:avLst/>
          </a:prstGeom>
          <a:noFill/>
          <a:ln>
            <a:noFill/>
          </a:ln>
        </p:spPr>
        <p:txBody>
          <a:bodyPr anchorCtr="0" anchor="t" bIns="0" lIns="0" spcFirstLastPara="1" rIns="0" wrap="square" tIns="0">
            <a:spAutoFit/>
          </a:bodyPr>
          <a:lstStyle>
            <a:lvl1pPr indent="0" lvl="0" marL="38100">
              <a:lnSpc>
                <a:spcPct val="103333"/>
              </a:lnSpc>
              <a:spcBef>
                <a:spcPts val="0"/>
              </a:spcBef>
              <a:buNone/>
              <a:defRPr b="0" i="0" sz="1200">
                <a:solidFill>
                  <a:srgbClr val="888888"/>
                </a:solidFill>
                <a:latin typeface="Calibri"/>
                <a:ea typeface="Calibri"/>
                <a:cs typeface="Calibri"/>
                <a:sym typeface="Calibri"/>
              </a:defRPr>
            </a:lvl1pPr>
            <a:lvl2pPr indent="0" lvl="1" marL="38100">
              <a:lnSpc>
                <a:spcPct val="103333"/>
              </a:lnSpc>
              <a:spcBef>
                <a:spcPts val="0"/>
              </a:spcBef>
              <a:buNone/>
              <a:defRPr b="0" i="0" sz="1200">
                <a:solidFill>
                  <a:srgbClr val="888888"/>
                </a:solidFill>
                <a:latin typeface="Calibri"/>
                <a:ea typeface="Calibri"/>
                <a:cs typeface="Calibri"/>
                <a:sym typeface="Calibri"/>
              </a:defRPr>
            </a:lvl2pPr>
            <a:lvl3pPr indent="0" lvl="2" marL="38100">
              <a:lnSpc>
                <a:spcPct val="103333"/>
              </a:lnSpc>
              <a:spcBef>
                <a:spcPts val="0"/>
              </a:spcBef>
              <a:buNone/>
              <a:defRPr b="0" i="0" sz="1200">
                <a:solidFill>
                  <a:srgbClr val="888888"/>
                </a:solidFill>
                <a:latin typeface="Calibri"/>
                <a:ea typeface="Calibri"/>
                <a:cs typeface="Calibri"/>
                <a:sym typeface="Calibri"/>
              </a:defRPr>
            </a:lvl3pPr>
            <a:lvl4pPr indent="0" lvl="3" marL="38100">
              <a:lnSpc>
                <a:spcPct val="103333"/>
              </a:lnSpc>
              <a:spcBef>
                <a:spcPts val="0"/>
              </a:spcBef>
              <a:buNone/>
              <a:defRPr b="0" i="0" sz="1200">
                <a:solidFill>
                  <a:srgbClr val="888888"/>
                </a:solidFill>
                <a:latin typeface="Calibri"/>
                <a:ea typeface="Calibri"/>
                <a:cs typeface="Calibri"/>
                <a:sym typeface="Calibri"/>
              </a:defRPr>
            </a:lvl4pPr>
            <a:lvl5pPr indent="0" lvl="4" marL="38100">
              <a:lnSpc>
                <a:spcPct val="103333"/>
              </a:lnSpc>
              <a:spcBef>
                <a:spcPts val="0"/>
              </a:spcBef>
              <a:buNone/>
              <a:defRPr b="0" i="0" sz="1200">
                <a:solidFill>
                  <a:srgbClr val="888888"/>
                </a:solidFill>
                <a:latin typeface="Calibri"/>
                <a:ea typeface="Calibri"/>
                <a:cs typeface="Calibri"/>
                <a:sym typeface="Calibri"/>
              </a:defRPr>
            </a:lvl5pPr>
            <a:lvl6pPr indent="0" lvl="5" marL="38100">
              <a:lnSpc>
                <a:spcPct val="103333"/>
              </a:lnSpc>
              <a:spcBef>
                <a:spcPts val="0"/>
              </a:spcBef>
              <a:buNone/>
              <a:defRPr b="0" i="0" sz="1200">
                <a:solidFill>
                  <a:srgbClr val="888888"/>
                </a:solidFill>
                <a:latin typeface="Calibri"/>
                <a:ea typeface="Calibri"/>
                <a:cs typeface="Calibri"/>
                <a:sym typeface="Calibri"/>
              </a:defRPr>
            </a:lvl6pPr>
            <a:lvl7pPr indent="0" lvl="6" marL="38100">
              <a:lnSpc>
                <a:spcPct val="103333"/>
              </a:lnSpc>
              <a:spcBef>
                <a:spcPts val="0"/>
              </a:spcBef>
              <a:buNone/>
              <a:defRPr b="0" i="0" sz="1200">
                <a:solidFill>
                  <a:srgbClr val="888888"/>
                </a:solidFill>
                <a:latin typeface="Calibri"/>
                <a:ea typeface="Calibri"/>
                <a:cs typeface="Calibri"/>
                <a:sym typeface="Calibri"/>
              </a:defRPr>
            </a:lvl7pPr>
            <a:lvl8pPr indent="0" lvl="7" marL="38100">
              <a:lnSpc>
                <a:spcPct val="103333"/>
              </a:lnSpc>
              <a:spcBef>
                <a:spcPts val="0"/>
              </a:spcBef>
              <a:buNone/>
              <a:defRPr b="0" i="0" sz="1200">
                <a:solidFill>
                  <a:srgbClr val="888888"/>
                </a:solidFill>
                <a:latin typeface="Calibri"/>
                <a:ea typeface="Calibri"/>
                <a:cs typeface="Calibri"/>
                <a:sym typeface="Calibri"/>
              </a:defRPr>
            </a:lvl8pPr>
            <a:lvl9pPr indent="0" lvl="8" marL="38100">
              <a:lnSpc>
                <a:spcPct val="103333"/>
              </a:lnSpc>
              <a:spcBef>
                <a:spcPts val="0"/>
              </a:spcBef>
              <a:buNone/>
              <a:defRPr b="0" i="0" sz="1200">
                <a:solidFill>
                  <a:srgbClr val="888888"/>
                </a:solidFill>
                <a:latin typeface="Calibri"/>
                <a:ea typeface="Calibri"/>
                <a:cs typeface="Calibri"/>
                <a:sym typeface="Calibri"/>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7" name="Shape 27"/>
        <p:cNvGrpSpPr/>
        <p:nvPr/>
      </p:nvGrpSpPr>
      <p:grpSpPr>
        <a:xfrm>
          <a:off x="0" y="0"/>
          <a:ext cx="0" cy="0"/>
          <a:chOff x="0" y="0"/>
          <a:chExt cx="0" cy="0"/>
        </a:xfrm>
      </p:grpSpPr>
      <p:sp>
        <p:nvSpPr>
          <p:cNvPr id="28" name="Google Shape;28;p32"/>
          <p:cNvSpPr txBox="1"/>
          <p:nvPr>
            <p:ph type="ctrTitle"/>
          </p:nvPr>
        </p:nvSpPr>
        <p:spPr>
          <a:xfrm>
            <a:off x="685800" y="1594485"/>
            <a:ext cx="7772400" cy="108013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28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2"/>
          <p:cNvSpPr txBox="1"/>
          <p:nvPr>
            <p:ph idx="1" type="subTitle"/>
          </p:nvPr>
        </p:nvSpPr>
        <p:spPr>
          <a:xfrm>
            <a:off x="1371600" y="2880360"/>
            <a:ext cx="6400800" cy="12858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800">
                <a:solidFill>
                  <a:schemeClr val="dk1"/>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2"/>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32"/>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32"/>
          <p:cNvSpPr txBox="1"/>
          <p:nvPr>
            <p:ph idx="12" type="sldNum"/>
          </p:nvPr>
        </p:nvSpPr>
        <p:spPr>
          <a:xfrm>
            <a:off x="8401811" y="4830876"/>
            <a:ext cx="244475" cy="177800"/>
          </a:xfrm>
          <a:prstGeom prst="rect">
            <a:avLst/>
          </a:prstGeom>
          <a:noFill/>
          <a:ln>
            <a:noFill/>
          </a:ln>
        </p:spPr>
        <p:txBody>
          <a:bodyPr anchorCtr="0" anchor="t" bIns="0" lIns="0" spcFirstLastPara="1" rIns="0" wrap="square" tIns="0">
            <a:spAutoFit/>
          </a:bodyPr>
          <a:lstStyle>
            <a:lvl1pPr indent="0" lvl="0" marL="38100">
              <a:lnSpc>
                <a:spcPct val="103333"/>
              </a:lnSpc>
              <a:spcBef>
                <a:spcPts val="0"/>
              </a:spcBef>
              <a:buNone/>
              <a:defRPr b="0" i="0" sz="1200">
                <a:solidFill>
                  <a:srgbClr val="888888"/>
                </a:solidFill>
                <a:latin typeface="Calibri"/>
                <a:ea typeface="Calibri"/>
                <a:cs typeface="Calibri"/>
                <a:sym typeface="Calibri"/>
              </a:defRPr>
            </a:lvl1pPr>
            <a:lvl2pPr indent="0" lvl="1" marL="38100">
              <a:lnSpc>
                <a:spcPct val="103333"/>
              </a:lnSpc>
              <a:spcBef>
                <a:spcPts val="0"/>
              </a:spcBef>
              <a:buNone/>
              <a:defRPr b="0" i="0" sz="1200">
                <a:solidFill>
                  <a:srgbClr val="888888"/>
                </a:solidFill>
                <a:latin typeface="Calibri"/>
                <a:ea typeface="Calibri"/>
                <a:cs typeface="Calibri"/>
                <a:sym typeface="Calibri"/>
              </a:defRPr>
            </a:lvl2pPr>
            <a:lvl3pPr indent="0" lvl="2" marL="38100">
              <a:lnSpc>
                <a:spcPct val="103333"/>
              </a:lnSpc>
              <a:spcBef>
                <a:spcPts val="0"/>
              </a:spcBef>
              <a:buNone/>
              <a:defRPr b="0" i="0" sz="1200">
                <a:solidFill>
                  <a:srgbClr val="888888"/>
                </a:solidFill>
                <a:latin typeface="Calibri"/>
                <a:ea typeface="Calibri"/>
                <a:cs typeface="Calibri"/>
                <a:sym typeface="Calibri"/>
              </a:defRPr>
            </a:lvl3pPr>
            <a:lvl4pPr indent="0" lvl="3" marL="38100">
              <a:lnSpc>
                <a:spcPct val="103333"/>
              </a:lnSpc>
              <a:spcBef>
                <a:spcPts val="0"/>
              </a:spcBef>
              <a:buNone/>
              <a:defRPr b="0" i="0" sz="1200">
                <a:solidFill>
                  <a:srgbClr val="888888"/>
                </a:solidFill>
                <a:latin typeface="Calibri"/>
                <a:ea typeface="Calibri"/>
                <a:cs typeface="Calibri"/>
                <a:sym typeface="Calibri"/>
              </a:defRPr>
            </a:lvl4pPr>
            <a:lvl5pPr indent="0" lvl="4" marL="38100">
              <a:lnSpc>
                <a:spcPct val="103333"/>
              </a:lnSpc>
              <a:spcBef>
                <a:spcPts val="0"/>
              </a:spcBef>
              <a:buNone/>
              <a:defRPr b="0" i="0" sz="1200">
                <a:solidFill>
                  <a:srgbClr val="888888"/>
                </a:solidFill>
                <a:latin typeface="Calibri"/>
                <a:ea typeface="Calibri"/>
                <a:cs typeface="Calibri"/>
                <a:sym typeface="Calibri"/>
              </a:defRPr>
            </a:lvl5pPr>
            <a:lvl6pPr indent="0" lvl="5" marL="38100">
              <a:lnSpc>
                <a:spcPct val="103333"/>
              </a:lnSpc>
              <a:spcBef>
                <a:spcPts val="0"/>
              </a:spcBef>
              <a:buNone/>
              <a:defRPr b="0" i="0" sz="1200">
                <a:solidFill>
                  <a:srgbClr val="888888"/>
                </a:solidFill>
                <a:latin typeface="Calibri"/>
                <a:ea typeface="Calibri"/>
                <a:cs typeface="Calibri"/>
                <a:sym typeface="Calibri"/>
              </a:defRPr>
            </a:lvl6pPr>
            <a:lvl7pPr indent="0" lvl="6" marL="38100">
              <a:lnSpc>
                <a:spcPct val="103333"/>
              </a:lnSpc>
              <a:spcBef>
                <a:spcPts val="0"/>
              </a:spcBef>
              <a:buNone/>
              <a:defRPr b="0" i="0" sz="1200">
                <a:solidFill>
                  <a:srgbClr val="888888"/>
                </a:solidFill>
                <a:latin typeface="Calibri"/>
                <a:ea typeface="Calibri"/>
                <a:cs typeface="Calibri"/>
                <a:sym typeface="Calibri"/>
              </a:defRPr>
            </a:lvl7pPr>
            <a:lvl8pPr indent="0" lvl="7" marL="38100">
              <a:lnSpc>
                <a:spcPct val="103333"/>
              </a:lnSpc>
              <a:spcBef>
                <a:spcPts val="0"/>
              </a:spcBef>
              <a:buNone/>
              <a:defRPr b="0" i="0" sz="1200">
                <a:solidFill>
                  <a:srgbClr val="888888"/>
                </a:solidFill>
                <a:latin typeface="Calibri"/>
                <a:ea typeface="Calibri"/>
                <a:cs typeface="Calibri"/>
                <a:sym typeface="Calibri"/>
              </a:defRPr>
            </a:lvl8pPr>
            <a:lvl9pPr indent="0" lvl="8" marL="38100">
              <a:lnSpc>
                <a:spcPct val="103333"/>
              </a:lnSpc>
              <a:spcBef>
                <a:spcPts val="0"/>
              </a:spcBef>
              <a:buNone/>
              <a:defRPr b="0" i="0" sz="1200">
                <a:solidFill>
                  <a:srgbClr val="888888"/>
                </a:solidFill>
                <a:latin typeface="Calibri"/>
                <a:ea typeface="Calibri"/>
                <a:cs typeface="Calibri"/>
                <a:sym typeface="Calibri"/>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3" name="Shape 33"/>
        <p:cNvGrpSpPr/>
        <p:nvPr/>
      </p:nvGrpSpPr>
      <p:grpSpPr>
        <a:xfrm>
          <a:off x="0" y="0"/>
          <a:ext cx="0" cy="0"/>
          <a:chOff x="0" y="0"/>
          <a:chExt cx="0" cy="0"/>
        </a:xfrm>
      </p:grpSpPr>
      <p:sp>
        <p:nvSpPr>
          <p:cNvPr id="34" name="Google Shape;34;p33"/>
          <p:cNvSpPr txBox="1"/>
          <p:nvPr>
            <p:ph type="title"/>
          </p:nvPr>
        </p:nvSpPr>
        <p:spPr>
          <a:xfrm>
            <a:off x="535940" y="454913"/>
            <a:ext cx="7755890" cy="45211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28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3"/>
          <p:cNvSpPr txBox="1"/>
          <p:nvPr>
            <p:ph idx="1" type="body"/>
          </p:nvPr>
        </p:nvSpPr>
        <p:spPr>
          <a:xfrm>
            <a:off x="457200" y="1183005"/>
            <a:ext cx="3977640" cy="339471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6" name="Google Shape;36;p33"/>
          <p:cNvSpPr txBox="1"/>
          <p:nvPr>
            <p:ph idx="2" type="body"/>
          </p:nvPr>
        </p:nvSpPr>
        <p:spPr>
          <a:xfrm>
            <a:off x="4709160" y="1183005"/>
            <a:ext cx="3977640" cy="339471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 name="Google Shape;37;p33"/>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33"/>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33"/>
          <p:cNvSpPr txBox="1"/>
          <p:nvPr>
            <p:ph idx="12" type="sldNum"/>
          </p:nvPr>
        </p:nvSpPr>
        <p:spPr>
          <a:xfrm>
            <a:off x="8401811" y="4830876"/>
            <a:ext cx="244475" cy="177800"/>
          </a:xfrm>
          <a:prstGeom prst="rect">
            <a:avLst/>
          </a:prstGeom>
          <a:noFill/>
          <a:ln>
            <a:noFill/>
          </a:ln>
        </p:spPr>
        <p:txBody>
          <a:bodyPr anchorCtr="0" anchor="t" bIns="0" lIns="0" spcFirstLastPara="1" rIns="0" wrap="square" tIns="0">
            <a:spAutoFit/>
          </a:bodyPr>
          <a:lstStyle>
            <a:lvl1pPr indent="0" lvl="0" marL="38100">
              <a:lnSpc>
                <a:spcPct val="103333"/>
              </a:lnSpc>
              <a:spcBef>
                <a:spcPts val="0"/>
              </a:spcBef>
              <a:buNone/>
              <a:defRPr b="0" i="0" sz="1200">
                <a:solidFill>
                  <a:srgbClr val="888888"/>
                </a:solidFill>
                <a:latin typeface="Calibri"/>
                <a:ea typeface="Calibri"/>
                <a:cs typeface="Calibri"/>
                <a:sym typeface="Calibri"/>
              </a:defRPr>
            </a:lvl1pPr>
            <a:lvl2pPr indent="0" lvl="1" marL="38100">
              <a:lnSpc>
                <a:spcPct val="103333"/>
              </a:lnSpc>
              <a:spcBef>
                <a:spcPts val="0"/>
              </a:spcBef>
              <a:buNone/>
              <a:defRPr b="0" i="0" sz="1200">
                <a:solidFill>
                  <a:srgbClr val="888888"/>
                </a:solidFill>
                <a:latin typeface="Calibri"/>
                <a:ea typeface="Calibri"/>
                <a:cs typeface="Calibri"/>
                <a:sym typeface="Calibri"/>
              </a:defRPr>
            </a:lvl2pPr>
            <a:lvl3pPr indent="0" lvl="2" marL="38100">
              <a:lnSpc>
                <a:spcPct val="103333"/>
              </a:lnSpc>
              <a:spcBef>
                <a:spcPts val="0"/>
              </a:spcBef>
              <a:buNone/>
              <a:defRPr b="0" i="0" sz="1200">
                <a:solidFill>
                  <a:srgbClr val="888888"/>
                </a:solidFill>
                <a:latin typeface="Calibri"/>
                <a:ea typeface="Calibri"/>
                <a:cs typeface="Calibri"/>
                <a:sym typeface="Calibri"/>
              </a:defRPr>
            </a:lvl3pPr>
            <a:lvl4pPr indent="0" lvl="3" marL="38100">
              <a:lnSpc>
                <a:spcPct val="103333"/>
              </a:lnSpc>
              <a:spcBef>
                <a:spcPts val="0"/>
              </a:spcBef>
              <a:buNone/>
              <a:defRPr b="0" i="0" sz="1200">
                <a:solidFill>
                  <a:srgbClr val="888888"/>
                </a:solidFill>
                <a:latin typeface="Calibri"/>
                <a:ea typeface="Calibri"/>
                <a:cs typeface="Calibri"/>
                <a:sym typeface="Calibri"/>
              </a:defRPr>
            </a:lvl4pPr>
            <a:lvl5pPr indent="0" lvl="4" marL="38100">
              <a:lnSpc>
                <a:spcPct val="103333"/>
              </a:lnSpc>
              <a:spcBef>
                <a:spcPts val="0"/>
              </a:spcBef>
              <a:buNone/>
              <a:defRPr b="0" i="0" sz="1200">
                <a:solidFill>
                  <a:srgbClr val="888888"/>
                </a:solidFill>
                <a:latin typeface="Calibri"/>
                <a:ea typeface="Calibri"/>
                <a:cs typeface="Calibri"/>
                <a:sym typeface="Calibri"/>
              </a:defRPr>
            </a:lvl5pPr>
            <a:lvl6pPr indent="0" lvl="5" marL="38100">
              <a:lnSpc>
                <a:spcPct val="103333"/>
              </a:lnSpc>
              <a:spcBef>
                <a:spcPts val="0"/>
              </a:spcBef>
              <a:buNone/>
              <a:defRPr b="0" i="0" sz="1200">
                <a:solidFill>
                  <a:srgbClr val="888888"/>
                </a:solidFill>
                <a:latin typeface="Calibri"/>
                <a:ea typeface="Calibri"/>
                <a:cs typeface="Calibri"/>
                <a:sym typeface="Calibri"/>
              </a:defRPr>
            </a:lvl6pPr>
            <a:lvl7pPr indent="0" lvl="6" marL="38100">
              <a:lnSpc>
                <a:spcPct val="103333"/>
              </a:lnSpc>
              <a:spcBef>
                <a:spcPts val="0"/>
              </a:spcBef>
              <a:buNone/>
              <a:defRPr b="0" i="0" sz="1200">
                <a:solidFill>
                  <a:srgbClr val="888888"/>
                </a:solidFill>
                <a:latin typeface="Calibri"/>
                <a:ea typeface="Calibri"/>
                <a:cs typeface="Calibri"/>
                <a:sym typeface="Calibri"/>
              </a:defRPr>
            </a:lvl7pPr>
            <a:lvl8pPr indent="0" lvl="7" marL="38100">
              <a:lnSpc>
                <a:spcPct val="103333"/>
              </a:lnSpc>
              <a:spcBef>
                <a:spcPts val="0"/>
              </a:spcBef>
              <a:buNone/>
              <a:defRPr b="0" i="0" sz="1200">
                <a:solidFill>
                  <a:srgbClr val="888888"/>
                </a:solidFill>
                <a:latin typeface="Calibri"/>
                <a:ea typeface="Calibri"/>
                <a:cs typeface="Calibri"/>
                <a:sym typeface="Calibri"/>
              </a:defRPr>
            </a:lvl8pPr>
            <a:lvl9pPr indent="0" lvl="8" marL="38100">
              <a:lnSpc>
                <a:spcPct val="103333"/>
              </a:lnSpc>
              <a:spcBef>
                <a:spcPts val="0"/>
              </a:spcBef>
              <a:buNone/>
              <a:defRPr b="0" i="0" sz="1200">
                <a:solidFill>
                  <a:srgbClr val="888888"/>
                </a:solidFill>
                <a:latin typeface="Calibri"/>
                <a:ea typeface="Calibri"/>
                <a:cs typeface="Calibri"/>
                <a:sym typeface="Calibri"/>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28"/>
          <p:cNvPicPr preferRelativeResize="0"/>
          <p:nvPr/>
        </p:nvPicPr>
        <p:blipFill rotWithShape="1">
          <a:blip r:embed="rId1">
            <a:alphaModFix/>
          </a:blip>
          <a:srcRect b="0" l="0" r="0" t="0"/>
          <a:stretch/>
        </p:blipFill>
        <p:spPr>
          <a:xfrm>
            <a:off x="0" y="12191"/>
            <a:ext cx="8955024" cy="432816"/>
          </a:xfrm>
          <a:prstGeom prst="rect">
            <a:avLst/>
          </a:prstGeom>
          <a:noFill/>
          <a:ln>
            <a:noFill/>
          </a:ln>
        </p:spPr>
      </p:pic>
      <p:sp>
        <p:nvSpPr>
          <p:cNvPr id="7" name="Google Shape;7;p28"/>
          <p:cNvSpPr txBox="1"/>
          <p:nvPr>
            <p:ph type="title"/>
          </p:nvPr>
        </p:nvSpPr>
        <p:spPr>
          <a:xfrm>
            <a:off x="535940" y="454913"/>
            <a:ext cx="7755890" cy="452119"/>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28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28"/>
          <p:cNvSpPr txBox="1"/>
          <p:nvPr>
            <p:ph idx="1" type="body"/>
          </p:nvPr>
        </p:nvSpPr>
        <p:spPr>
          <a:xfrm>
            <a:off x="879144" y="1408938"/>
            <a:ext cx="4001135" cy="178181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9" name="Google Shape;9;p28"/>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28"/>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8"/>
          <p:cNvSpPr txBox="1"/>
          <p:nvPr>
            <p:ph idx="12" type="sldNum"/>
          </p:nvPr>
        </p:nvSpPr>
        <p:spPr>
          <a:xfrm>
            <a:off x="8401811" y="4830876"/>
            <a:ext cx="244475" cy="177800"/>
          </a:xfrm>
          <a:prstGeom prst="rect">
            <a:avLst/>
          </a:prstGeom>
          <a:noFill/>
          <a:ln>
            <a:noFill/>
          </a:ln>
        </p:spPr>
        <p:txBody>
          <a:bodyPr anchorCtr="0" anchor="t" bIns="0" lIns="0" spcFirstLastPara="1" rIns="0" wrap="square" tIns="0">
            <a:spAutoFit/>
          </a:bodyPr>
          <a:lstStyle>
            <a:lvl1pPr indent="0" lvl="0" marL="38100">
              <a:lnSpc>
                <a:spcPct val="103333"/>
              </a:lnSpc>
              <a:spcBef>
                <a:spcPts val="0"/>
              </a:spcBef>
              <a:buNone/>
              <a:defRPr b="0" i="0" sz="1200">
                <a:solidFill>
                  <a:srgbClr val="888888"/>
                </a:solidFill>
                <a:latin typeface="Calibri"/>
                <a:ea typeface="Calibri"/>
                <a:cs typeface="Calibri"/>
                <a:sym typeface="Calibri"/>
              </a:defRPr>
            </a:lvl1pPr>
            <a:lvl2pPr indent="0" lvl="1" marL="38100">
              <a:lnSpc>
                <a:spcPct val="103333"/>
              </a:lnSpc>
              <a:spcBef>
                <a:spcPts val="0"/>
              </a:spcBef>
              <a:buNone/>
              <a:defRPr b="0" i="0" sz="1200">
                <a:solidFill>
                  <a:srgbClr val="888888"/>
                </a:solidFill>
                <a:latin typeface="Calibri"/>
                <a:ea typeface="Calibri"/>
                <a:cs typeface="Calibri"/>
                <a:sym typeface="Calibri"/>
              </a:defRPr>
            </a:lvl2pPr>
            <a:lvl3pPr indent="0" lvl="2" marL="38100">
              <a:lnSpc>
                <a:spcPct val="103333"/>
              </a:lnSpc>
              <a:spcBef>
                <a:spcPts val="0"/>
              </a:spcBef>
              <a:buNone/>
              <a:defRPr b="0" i="0" sz="1200">
                <a:solidFill>
                  <a:srgbClr val="888888"/>
                </a:solidFill>
                <a:latin typeface="Calibri"/>
                <a:ea typeface="Calibri"/>
                <a:cs typeface="Calibri"/>
                <a:sym typeface="Calibri"/>
              </a:defRPr>
            </a:lvl3pPr>
            <a:lvl4pPr indent="0" lvl="3" marL="38100">
              <a:lnSpc>
                <a:spcPct val="103333"/>
              </a:lnSpc>
              <a:spcBef>
                <a:spcPts val="0"/>
              </a:spcBef>
              <a:buNone/>
              <a:defRPr b="0" i="0" sz="1200">
                <a:solidFill>
                  <a:srgbClr val="888888"/>
                </a:solidFill>
                <a:latin typeface="Calibri"/>
                <a:ea typeface="Calibri"/>
                <a:cs typeface="Calibri"/>
                <a:sym typeface="Calibri"/>
              </a:defRPr>
            </a:lvl4pPr>
            <a:lvl5pPr indent="0" lvl="4" marL="38100">
              <a:lnSpc>
                <a:spcPct val="103333"/>
              </a:lnSpc>
              <a:spcBef>
                <a:spcPts val="0"/>
              </a:spcBef>
              <a:buNone/>
              <a:defRPr b="0" i="0" sz="1200">
                <a:solidFill>
                  <a:srgbClr val="888888"/>
                </a:solidFill>
                <a:latin typeface="Calibri"/>
                <a:ea typeface="Calibri"/>
                <a:cs typeface="Calibri"/>
                <a:sym typeface="Calibri"/>
              </a:defRPr>
            </a:lvl5pPr>
            <a:lvl6pPr indent="0" lvl="5" marL="38100">
              <a:lnSpc>
                <a:spcPct val="103333"/>
              </a:lnSpc>
              <a:spcBef>
                <a:spcPts val="0"/>
              </a:spcBef>
              <a:buNone/>
              <a:defRPr b="0" i="0" sz="1200">
                <a:solidFill>
                  <a:srgbClr val="888888"/>
                </a:solidFill>
                <a:latin typeface="Calibri"/>
                <a:ea typeface="Calibri"/>
                <a:cs typeface="Calibri"/>
                <a:sym typeface="Calibri"/>
              </a:defRPr>
            </a:lvl6pPr>
            <a:lvl7pPr indent="0" lvl="6" marL="38100">
              <a:lnSpc>
                <a:spcPct val="103333"/>
              </a:lnSpc>
              <a:spcBef>
                <a:spcPts val="0"/>
              </a:spcBef>
              <a:buNone/>
              <a:defRPr b="0" i="0" sz="1200">
                <a:solidFill>
                  <a:srgbClr val="888888"/>
                </a:solidFill>
                <a:latin typeface="Calibri"/>
                <a:ea typeface="Calibri"/>
                <a:cs typeface="Calibri"/>
                <a:sym typeface="Calibri"/>
              </a:defRPr>
            </a:lvl7pPr>
            <a:lvl8pPr indent="0" lvl="7" marL="38100">
              <a:lnSpc>
                <a:spcPct val="103333"/>
              </a:lnSpc>
              <a:spcBef>
                <a:spcPts val="0"/>
              </a:spcBef>
              <a:buNone/>
              <a:defRPr b="0" i="0" sz="1200">
                <a:solidFill>
                  <a:srgbClr val="888888"/>
                </a:solidFill>
                <a:latin typeface="Calibri"/>
                <a:ea typeface="Calibri"/>
                <a:cs typeface="Calibri"/>
                <a:sym typeface="Calibri"/>
              </a:defRPr>
            </a:lvl8pPr>
            <a:lvl9pPr indent="0" lvl="8" marL="38100">
              <a:lnSpc>
                <a:spcPct val="103333"/>
              </a:lnSpc>
              <a:spcBef>
                <a:spcPts val="0"/>
              </a:spcBef>
              <a:buNone/>
              <a:defRPr b="0" i="0" sz="1200">
                <a:solidFill>
                  <a:srgbClr val="888888"/>
                </a:solidFill>
                <a:latin typeface="Calibri"/>
                <a:ea typeface="Calibri"/>
                <a:cs typeface="Calibri"/>
                <a:sym typeface="Calibri"/>
              </a:defRPr>
            </a:lvl9pPr>
          </a:lstStyle>
          <a:p>
            <a:pPr indent="0" lvl="0" marL="3810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4.jpg"/><Relationship Id="rId5"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www.datacamp.com/tutorial/techniques-to-handle-missing-data-value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4.jpg"/><Relationship Id="rId4" Type="http://schemas.openxmlformats.org/officeDocument/2006/relationships/image" Target="../media/image18.jpg"/><Relationship Id="rId5" Type="http://schemas.openxmlformats.org/officeDocument/2006/relationships/hyperlink" Target="https://www.scaler.com/topics/data-mining-tutorial/outlier-detection-methods-in-data-mining/" TargetMode="External"/><Relationship Id="rId6"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4.jpg"/><Relationship Id="rId4" Type="http://schemas.openxmlformats.org/officeDocument/2006/relationships/image" Target="../media/image31.jpg"/><Relationship Id="rId5"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medium.com/data-science/preprocessing-data-feature-scaling-cc28c508e8af" TargetMode="Externa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2.png"/><Relationship Id="rId4" Type="http://schemas.openxmlformats.org/officeDocument/2006/relationships/image" Target="../media/image17.png"/><Relationship Id="rId5" Type="http://schemas.openxmlformats.org/officeDocument/2006/relationships/image" Target="../media/image1.png"/><Relationship Id="rId6" Type="http://schemas.openxmlformats.org/officeDocument/2006/relationships/image" Target="../media/image1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35.jpg"/><Relationship Id="rId5" Type="http://schemas.openxmlformats.org/officeDocument/2006/relationships/image" Target="../media/image43.jpg"/><Relationship Id="rId6" Type="http://schemas.openxmlformats.org/officeDocument/2006/relationships/hyperlink" Target="https://towardsdatascience.com/feature-handling-3f14c12ecbb8"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13.jpg"/><Relationship Id="rId5" Type="http://schemas.openxmlformats.org/officeDocument/2006/relationships/image" Target="../media/image10.png"/><Relationship Id="rId6"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33.png"/><Relationship Id="rId5" Type="http://schemas.openxmlformats.org/officeDocument/2006/relationships/image" Target="../media/image16.png"/><Relationship Id="rId6"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0.png"/><Relationship Id="rId5" Type="http://schemas.openxmlformats.org/officeDocument/2006/relationships/image" Target="../media/image30.jpg"/><Relationship Id="rId6" Type="http://schemas.openxmlformats.org/officeDocument/2006/relationships/image" Target="../media/image2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41.png"/><Relationship Id="rId5" Type="http://schemas.openxmlformats.org/officeDocument/2006/relationships/hyperlink" Target="https://builtin.com/data-science/step-step-explanation-principal-component-analysi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5.jp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2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40.png"/><Relationship Id="rId9" Type="http://schemas.openxmlformats.org/officeDocument/2006/relationships/image" Target="../media/image44.jpg"/><Relationship Id="rId5" Type="http://schemas.openxmlformats.org/officeDocument/2006/relationships/image" Target="../media/image28.png"/><Relationship Id="rId6" Type="http://schemas.openxmlformats.org/officeDocument/2006/relationships/hyperlink" Target="https://towardsdatascience.com/t-sne-clearly-explained-d84c537f53a" TargetMode="External"/><Relationship Id="rId7" Type="http://schemas.openxmlformats.org/officeDocument/2006/relationships/hyperlink" Target="https://distill.pub/2016/misread-tsne/" TargetMode="External"/><Relationship Id="rId8" Type="http://schemas.openxmlformats.org/officeDocument/2006/relationships/image" Target="../media/image2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9.jpg"/><Relationship Id="rId4" Type="http://schemas.openxmlformats.org/officeDocument/2006/relationships/image" Target="../media/image3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9.jpg"/><Relationship Id="rId4" Type="http://schemas.openxmlformats.org/officeDocument/2006/relationships/image" Target="../media/image32.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6.jpg"/><Relationship Id="rId4" Type="http://schemas.openxmlformats.org/officeDocument/2006/relationships/hyperlink" Target="https://www.nature.com/articles/s41467-019-13056-x" TargetMode="External"/><Relationship Id="rId5" Type="http://schemas.openxmlformats.org/officeDocument/2006/relationships/image" Target="../media/image1.png"/><Relationship Id="rId6" Type="http://schemas.openxmlformats.org/officeDocument/2006/relationships/hyperlink" Target="https://www.scdiscoveries.com/blog/knowledge/what-does-a-t-sne-plot-show/"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hyperlink" Target="https://www.kaggle.com/code/ash316/eda-to-prediction-dietanic" TargetMode="External"/><Relationship Id="rId4" Type="http://schemas.openxmlformats.org/officeDocument/2006/relationships/hyperlink" Target="https://www.kaggle.com/code/datafan07/top-1-approach-eda-new-models-and-stacking" TargetMode="External"/><Relationship Id="rId9" Type="http://schemas.openxmlformats.org/officeDocument/2006/relationships/hyperlink" Target="https://www.kaggle.com/code/digvijaysingh16/k-mean-clustering-for-wine-quality-data" TargetMode="External"/><Relationship Id="rId5" Type="http://schemas.openxmlformats.org/officeDocument/2006/relationships/hyperlink" Target="https://www.kaggle.com/code/digvijaysingh16/k-mean-clustering-for-wine-quality-data" TargetMode="External"/><Relationship Id="rId6" Type="http://schemas.openxmlformats.org/officeDocument/2006/relationships/hyperlink" Target="https://www.kaggle.com/code/ash316/eda-to-prediction-dietanic" TargetMode="External"/><Relationship Id="rId7" Type="http://schemas.openxmlformats.org/officeDocument/2006/relationships/image" Target="../media/image1.png"/><Relationship Id="rId8" Type="http://schemas.openxmlformats.org/officeDocument/2006/relationships/hyperlink" Target="https://www.kaggle.com/code/datafan07/top-1-approach-eda-new-models-and-stacking"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hyperlink" Target="https://www.kaggle.com/datasets/fedesoriano/heart-failure-prediction" TargetMode="External"/><Relationship Id="rId4" Type="http://schemas.openxmlformats.org/officeDocument/2006/relationships/hyperlink" Target="https://www.kaggle.com/datasets/fedesoriano/heart-failure-prediction" TargetMode="External"/><Relationship Id="rId5"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pic>
        <p:nvPicPr>
          <p:cNvPr id="44" name="Google Shape;44;p1"/>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45" name="Google Shape;45;p1"/>
          <p:cNvSpPr txBox="1"/>
          <p:nvPr>
            <p:ph type="title"/>
          </p:nvPr>
        </p:nvSpPr>
        <p:spPr>
          <a:xfrm>
            <a:off x="2842386" y="1872487"/>
            <a:ext cx="3457575" cy="6350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0" lang="en-US" sz="4000">
                <a:solidFill>
                  <a:srgbClr val="FFFFFF"/>
                </a:solidFill>
                <a:latin typeface="Calibri"/>
                <a:ea typeface="Calibri"/>
                <a:cs typeface="Calibri"/>
                <a:sym typeface="Calibri"/>
              </a:rPr>
              <a:t>Scientific Python</a:t>
            </a:r>
            <a:endParaRPr sz="4000">
              <a:latin typeface="Calibri"/>
              <a:ea typeface="Calibri"/>
              <a:cs typeface="Calibri"/>
              <a:sym typeface="Calibri"/>
            </a:endParaRPr>
          </a:p>
        </p:txBody>
      </p:sp>
      <p:sp>
        <p:nvSpPr>
          <p:cNvPr id="46" name="Google Shape;46;p1"/>
          <p:cNvSpPr txBox="1"/>
          <p:nvPr/>
        </p:nvSpPr>
        <p:spPr>
          <a:xfrm>
            <a:off x="1371600" y="2528630"/>
            <a:ext cx="6477000" cy="628377"/>
          </a:xfrm>
          <a:prstGeom prst="rect">
            <a:avLst/>
          </a:prstGeom>
          <a:noFill/>
          <a:ln>
            <a:noFill/>
          </a:ln>
        </p:spPr>
        <p:txBody>
          <a:bodyPr anchorCtr="0" anchor="t" bIns="0" lIns="0" spcFirstLastPara="1" rIns="0" wrap="square" tIns="12700">
            <a:spAutoFit/>
          </a:bodyPr>
          <a:lstStyle/>
          <a:p>
            <a:pPr indent="0" lvl="0" marL="0" rtl="0" algn="ctr">
              <a:lnSpc>
                <a:spcPct val="100000"/>
              </a:lnSpc>
              <a:spcBef>
                <a:spcPts val="0"/>
              </a:spcBef>
              <a:spcAft>
                <a:spcPts val="0"/>
              </a:spcAft>
              <a:buNone/>
            </a:pPr>
            <a:r>
              <a:rPr lang="en-US" sz="2000">
                <a:solidFill>
                  <a:srgbClr val="FFFFFF"/>
                </a:solidFill>
                <a:latin typeface="Calibri"/>
                <a:ea typeface="Calibri"/>
                <a:cs typeface="Calibri"/>
                <a:sym typeface="Calibri"/>
              </a:rPr>
              <a:t>Lecture 8. Classical machine learning. Exploratory data analysis, dimensionality reduction</a:t>
            </a:r>
            <a:endParaRPr sz="2000">
              <a:latin typeface="Calibri"/>
              <a:ea typeface="Calibri"/>
              <a:cs typeface="Calibri"/>
              <a:sym typeface="Calibri"/>
            </a:endParaRPr>
          </a:p>
        </p:txBody>
      </p:sp>
      <p:sp>
        <p:nvSpPr>
          <p:cNvPr id="47" name="Google Shape;47;p1"/>
          <p:cNvSpPr txBox="1"/>
          <p:nvPr/>
        </p:nvSpPr>
        <p:spPr>
          <a:xfrm>
            <a:off x="2285173" y="3238465"/>
            <a:ext cx="4572000" cy="1823576"/>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rgbClr val="FFFFFF"/>
              </a:buClr>
              <a:buSzPts val="1600"/>
              <a:buFont typeface="Calibri"/>
              <a:buNone/>
            </a:pPr>
            <a:r>
              <a:rPr b="0" i="0" lang="en-US" sz="1600" u="none" strike="noStrike">
                <a:solidFill>
                  <a:srgbClr val="FFFFFF"/>
                </a:solidFill>
                <a:latin typeface="Calibri"/>
                <a:ea typeface="Calibri"/>
                <a:cs typeface="Calibri"/>
                <a:sym typeface="Calibri"/>
              </a:rPr>
              <a:t>Vitalii Dravgelis</a:t>
            </a:r>
            <a:endParaRPr sz="1600">
              <a:latin typeface="Calibri"/>
              <a:ea typeface="Calibri"/>
              <a:cs typeface="Calibri"/>
              <a:sym typeface="Calibri"/>
            </a:endParaRPr>
          </a:p>
          <a:p>
            <a:pPr indent="0" lvl="0" marL="0" rtl="0" algn="ctr">
              <a:spcBef>
                <a:spcPts val="0"/>
              </a:spcBef>
              <a:spcAft>
                <a:spcPts val="0"/>
              </a:spcAft>
              <a:buClr>
                <a:srgbClr val="FFFFFF"/>
              </a:buClr>
              <a:buSzPts val="1400"/>
              <a:buFont typeface="Calibri"/>
              <a:buNone/>
            </a:pPr>
            <a:r>
              <a:rPr b="0" i="1" lang="en-US" sz="1400" u="none" strike="noStrike">
                <a:solidFill>
                  <a:srgbClr val="FFFFFF"/>
                </a:solidFill>
                <a:latin typeface="Calibri"/>
                <a:ea typeface="Calibri"/>
                <a:cs typeface="Calibri"/>
                <a:sym typeface="Calibri"/>
              </a:rPr>
              <a:t>ITMO University</a:t>
            </a:r>
            <a:endParaRPr b="0" sz="1400"/>
          </a:p>
          <a:p>
            <a:pPr indent="0" lvl="0" marL="0" rtl="0" algn="l">
              <a:spcBef>
                <a:spcPts val="0"/>
              </a:spcBef>
              <a:spcAft>
                <a:spcPts val="0"/>
              </a:spcAft>
              <a:buSzPts val="1800"/>
              <a:buFont typeface="Arial"/>
              <a:buNone/>
            </a:pPr>
            <a:r>
              <a:t/>
            </a:r>
            <a:endParaRPr b="0" sz="1800"/>
          </a:p>
          <a:p>
            <a:pPr indent="0" lvl="0" marL="0" rtl="0" algn="ctr">
              <a:spcBef>
                <a:spcPts val="1450"/>
              </a:spcBef>
              <a:spcAft>
                <a:spcPts val="0"/>
              </a:spcAft>
              <a:buClr>
                <a:srgbClr val="FFFFFF"/>
              </a:buClr>
              <a:buSzPts val="1600"/>
              <a:buFont typeface="Calibri"/>
              <a:buNone/>
            </a:pPr>
            <a:r>
              <a:rPr b="0" i="0" lang="en-US" sz="1600" u="none" strike="noStrike">
                <a:solidFill>
                  <a:srgbClr val="FFFFFF"/>
                </a:solidFill>
                <a:latin typeface="Calibri"/>
                <a:ea typeface="Calibri"/>
                <a:cs typeface="Calibri"/>
                <a:sym typeface="Calibri"/>
              </a:rPr>
              <a:t>Slides by Karina Pats</a:t>
            </a:r>
            <a:endParaRPr b="0" sz="1600"/>
          </a:p>
          <a:p>
            <a:pPr indent="0" lvl="0" marL="0" rtl="0" algn="l">
              <a:spcBef>
                <a:spcPts val="0"/>
              </a:spcBef>
              <a:spcAft>
                <a:spcPts val="0"/>
              </a:spcAft>
              <a:buSzPts val="1800"/>
              <a:buFont typeface="Arial"/>
              <a:buNone/>
            </a:pPr>
            <a:br>
              <a:rPr lang="en-US" sz="1800"/>
            </a:br>
            <a:endParaRPr sz="1800"/>
          </a:p>
        </p:txBody>
      </p:sp>
      <p:sp>
        <p:nvSpPr>
          <p:cNvPr id="48" name="Google Shape;48;p1"/>
          <p:cNvSpPr txBox="1"/>
          <p:nvPr/>
        </p:nvSpPr>
        <p:spPr>
          <a:xfrm>
            <a:off x="3969258" y="4541316"/>
            <a:ext cx="1205100" cy="444300"/>
          </a:xfrm>
          <a:prstGeom prst="rect">
            <a:avLst/>
          </a:prstGeom>
          <a:noFill/>
          <a:ln>
            <a:noFill/>
          </a:ln>
        </p:spPr>
        <p:txBody>
          <a:bodyPr anchorCtr="0" anchor="t" bIns="0" lIns="0" spcFirstLastPara="1" rIns="0" wrap="square" tIns="13325">
            <a:spAutoFit/>
          </a:bodyPr>
          <a:lstStyle/>
          <a:p>
            <a:pPr indent="0" lvl="0" marL="635" rtl="0" algn="ctr">
              <a:lnSpc>
                <a:spcPct val="100000"/>
              </a:lnSpc>
              <a:spcBef>
                <a:spcPts val="0"/>
              </a:spcBef>
              <a:spcAft>
                <a:spcPts val="0"/>
              </a:spcAft>
              <a:buNone/>
            </a:pPr>
            <a:r>
              <a:rPr lang="en-US" sz="1400">
                <a:solidFill>
                  <a:srgbClr val="FFFFFF"/>
                </a:solidFill>
                <a:latin typeface="Calibri"/>
                <a:ea typeface="Calibri"/>
                <a:cs typeface="Calibri"/>
                <a:sym typeface="Calibri"/>
              </a:rPr>
              <a:t>2</a:t>
            </a:r>
            <a:r>
              <a:rPr lang="en-US">
                <a:solidFill>
                  <a:srgbClr val="FFFFFF"/>
                </a:solidFill>
                <a:latin typeface="Calibri"/>
                <a:ea typeface="Calibri"/>
                <a:cs typeface="Calibri"/>
                <a:sym typeface="Calibri"/>
              </a:rPr>
              <a:t>6</a:t>
            </a:r>
            <a:r>
              <a:rPr lang="en-US" sz="1400">
                <a:solidFill>
                  <a:srgbClr val="FFFFFF"/>
                </a:solidFill>
                <a:latin typeface="Calibri"/>
                <a:ea typeface="Calibri"/>
                <a:cs typeface="Calibri"/>
                <a:sym typeface="Calibri"/>
              </a:rPr>
              <a:t>.03.2026</a:t>
            </a:r>
            <a:endParaRPr sz="1400">
              <a:latin typeface="Calibri"/>
              <a:ea typeface="Calibri"/>
              <a:cs typeface="Calibri"/>
              <a:sym typeface="Calibri"/>
            </a:endParaRPr>
          </a:p>
          <a:p>
            <a:pPr indent="0" lvl="0" marL="0" rtl="0" algn="ctr">
              <a:lnSpc>
                <a:spcPct val="100000"/>
              </a:lnSpc>
              <a:spcBef>
                <a:spcPts val="0"/>
              </a:spcBef>
              <a:spcAft>
                <a:spcPts val="0"/>
              </a:spcAft>
              <a:buNone/>
            </a:pPr>
            <a:r>
              <a:rPr lang="en-US" sz="1400">
                <a:solidFill>
                  <a:srgbClr val="FFFFFF"/>
                </a:solidFill>
                <a:latin typeface="Calibri"/>
                <a:ea typeface="Calibri"/>
                <a:cs typeface="Calibri"/>
                <a:sym typeface="Calibri"/>
              </a:rPr>
              <a:t>Saint Petersburg</a:t>
            </a:r>
            <a:endParaRPr sz="1400">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2"/>
          <p:cNvSpPr txBox="1"/>
          <p:nvPr>
            <p:ph type="title"/>
          </p:nvPr>
        </p:nvSpPr>
        <p:spPr>
          <a:xfrm>
            <a:off x="535940" y="454913"/>
            <a:ext cx="7755890" cy="452119"/>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Machine learning (ML)</a:t>
            </a:r>
            <a:endParaRPr/>
          </a:p>
        </p:txBody>
      </p:sp>
      <p:sp>
        <p:nvSpPr>
          <p:cNvPr id="54" name="Google Shape;54;p2"/>
          <p:cNvSpPr txBox="1"/>
          <p:nvPr/>
        </p:nvSpPr>
        <p:spPr>
          <a:xfrm>
            <a:off x="879144" y="1408938"/>
            <a:ext cx="3820795" cy="2824480"/>
          </a:xfrm>
          <a:prstGeom prst="rect">
            <a:avLst/>
          </a:prstGeom>
          <a:noFill/>
          <a:ln>
            <a:noFill/>
          </a:ln>
        </p:spPr>
        <p:txBody>
          <a:bodyPr anchorCtr="0" anchor="t" bIns="0" lIns="0" spcFirstLastPara="1" rIns="0" wrap="square" tIns="12700">
            <a:spAutoFit/>
          </a:bodyPr>
          <a:lstStyle/>
          <a:p>
            <a:pPr indent="0" lvl="0" marL="12700" marR="5080" rtl="0" algn="just">
              <a:lnSpc>
                <a:spcPct val="100000"/>
              </a:lnSpc>
              <a:spcBef>
                <a:spcPts val="0"/>
              </a:spcBef>
              <a:spcAft>
                <a:spcPts val="0"/>
              </a:spcAft>
              <a:buNone/>
            </a:pPr>
            <a:r>
              <a:rPr lang="en-US" sz="1800">
                <a:latin typeface="Calibri"/>
                <a:ea typeface="Calibri"/>
                <a:cs typeface="Calibri"/>
                <a:sym typeface="Calibri"/>
              </a:rPr>
              <a:t>Machine learning – a subset of artificial intelligence  (AI)  that  focuses  on  the development  of  </a:t>
            </a:r>
            <a:r>
              <a:rPr b="1" lang="en-US" sz="1800">
                <a:latin typeface="Calibri"/>
                <a:ea typeface="Calibri"/>
                <a:cs typeface="Calibri"/>
                <a:sym typeface="Calibri"/>
              </a:rPr>
              <a:t>computer  algorithms that  improve  automatically  </a:t>
            </a:r>
            <a:r>
              <a:rPr lang="en-US" sz="1800">
                <a:latin typeface="Calibri"/>
                <a:ea typeface="Calibri"/>
                <a:cs typeface="Calibri"/>
                <a:sym typeface="Calibri"/>
              </a:rPr>
              <a:t>through experience and by the use of data.</a:t>
            </a:r>
            <a:endParaRPr sz="1800">
              <a:latin typeface="Calibri"/>
              <a:ea typeface="Calibri"/>
              <a:cs typeface="Calibri"/>
              <a:sym typeface="Calibri"/>
            </a:endParaRPr>
          </a:p>
          <a:p>
            <a:pPr indent="0" lvl="0" marL="12700" marR="5080" rtl="0" algn="just">
              <a:lnSpc>
                <a:spcPct val="100000"/>
              </a:lnSpc>
              <a:spcBef>
                <a:spcPts val="430"/>
              </a:spcBef>
              <a:spcAft>
                <a:spcPts val="0"/>
              </a:spcAft>
              <a:buNone/>
            </a:pPr>
            <a:r>
              <a:rPr lang="en-US" sz="1800">
                <a:latin typeface="Calibri"/>
                <a:ea typeface="Calibri"/>
                <a:cs typeface="Calibri"/>
                <a:sym typeface="Calibri"/>
              </a:rPr>
              <a:t>Computer  is  given  a  set  of  examples (</a:t>
            </a:r>
            <a:r>
              <a:rPr b="1" lang="en-US" sz="1800">
                <a:latin typeface="Calibri"/>
                <a:ea typeface="Calibri"/>
                <a:cs typeface="Calibri"/>
                <a:sym typeface="Calibri"/>
              </a:rPr>
              <a:t>data</a:t>
            </a:r>
            <a:r>
              <a:rPr lang="en-US" sz="1800">
                <a:latin typeface="Calibri"/>
                <a:ea typeface="Calibri"/>
                <a:cs typeface="Calibri"/>
                <a:sym typeface="Calibri"/>
              </a:rPr>
              <a:t>) and a </a:t>
            </a:r>
            <a:r>
              <a:rPr b="1" lang="en-US" sz="1800">
                <a:latin typeface="Calibri"/>
                <a:ea typeface="Calibri"/>
                <a:cs typeface="Calibri"/>
                <a:sym typeface="Calibri"/>
              </a:rPr>
              <a:t>task </a:t>
            </a:r>
            <a:r>
              <a:rPr lang="en-US" sz="1800">
                <a:latin typeface="Calibri"/>
                <a:ea typeface="Calibri"/>
                <a:cs typeface="Calibri"/>
                <a:sym typeface="Calibri"/>
              </a:rPr>
              <a:t>to perform, but it's up to the computer to figure out how to accomplish  the  task  based  on  the examples it's given.</a:t>
            </a:r>
            <a:endParaRPr sz="1800">
              <a:latin typeface="Calibri"/>
              <a:ea typeface="Calibri"/>
              <a:cs typeface="Calibri"/>
              <a:sym typeface="Calibri"/>
            </a:endParaRPr>
          </a:p>
        </p:txBody>
      </p:sp>
      <p:pic>
        <p:nvPicPr>
          <p:cNvPr id="55" name="Google Shape;55;p2"/>
          <p:cNvPicPr preferRelativeResize="0"/>
          <p:nvPr/>
        </p:nvPicPr>
        <p:blipFill rotWithShape="1">
          <a:blip r:embed="rId3">
            <a:alphaModFix/>
          </a:blip>
          <a:srcRect b="0" l="0" r="0" t="0"/>
          <a:stretch/>
        </p:blipFill>
        <p:spPr>
          <a:xfrm>
            <a:off x="548640" y="1491233"/>
            <a:ext cx="152400" cy="160020"/>
          </a:xfrm>
          <a:prstGeom prst="rect">
            <a:avLst/>
          </a:prstGeom>
          <a:noFill/>
          <a:ln>
            <a:noFill/>
          </a:ln>
        </p:spPr>
      </p:pic>
      <p:pic>
        <p:nvPicPr>
          <p:cNvPr id="56" name="Google Shape;56;p2"/>
          <p:cNvPicPr preferRelativeResize="0"/>
          <p:nvPr/>
        </p:nvPicPr>
        <p:blipFill rotWithShape="1">
          <a:blip r:embed="rId3">
            <a:alphaModFix/>
          </a:blip>
          <a:srcRect b="0" l="0" r="0" t="0"/>
          <a:stretch/>
        </p:blipFill>
        <p:spPr>
          <a:xfrm>
            <a:off x="548640" y="2917698"/>
            <a:ext cx="152400" cy="160019"/>
          </a:xfrm>
          <a:prstGeom prst="rect">
            <a:avLst/>
          </a:prstGeom>
          <a:noFill/>
          <a:ln>
            <a:noFill/>
          </a:ln>
        </p:spPr>
      </p:pic>
      <p:pic>
        <p:nvPicPr>
          <p:cNvPr id="57" name="Google Shape;57;p2"/>
          <p:cNvPicPr preferRelativeResize="0"/>
          <p:nvPr/>
        </p:nvPicPr>
        <p:blipFill rotWithShape="1">
          <a:blip r:embed="rId4">
            <a:alphaModFix/>
          </a:blip>
          <a:srcRect b="0" l="0" r="0" t="0"/>
          <a:stretch/>
        </p:blipFill>
        <p:spPr>
          <a:xfrm>
            <a:off x="5239511" y="990600"/>
            <a:ext cx="3118104" cy="3843528"/>
          </a:xfrm>
          <a:prstGeom prst="rect">
            <a:avLst/>
          </a:prstGeom>
          <a:noFill/>
          <a:ln>
            <a:noFill/>
          </a:ln>
        </p:spPr>
      </p:pic>
      <p:sp>
        <p:nvSpPr>
          <p:cNvPr id="58" name="Google Shape;58;p2"/>
          <p:cNvSpPr txBox="1"/>
          <p:nvPr>
            <p:ph idx="12" type="sldNum"/>
          </p:nvPr>
        </p:nvSpPr>
        <p:spPr>
          <a:xfrm>
            <a:off x="8401811" y="4830876"/>
            <a:ext cx="244475" cy="177800"/>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pic>
        <p:nvPicPr>
          <p:cNvPr descr="machine learning meme" id="59" name="Google Shape;59;p2"/>
          <p:cNvPicPr preferRelativeResize="0"/>
          <p:nvPr/>
        </p:nvPicPr>
        <p:blipFill rotWithShape="1">
          <a:blip r:embed="rId5">
            <a:alphaModFix/>
          </a:blip>
          <a:srcRect b="0" l="0" r="0" t="0"/>
          <a:stretch/>
        </p:blipFill>
        <p:spPr>
          <a:xfrm>
            <a:off x="5052820" y="892014"/>
            <a:ext cx="3491485" cy="39388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3"/>
          <p:cNvSpPr txBox="1"/>
          <p:nvPr>
            <p:ph type="title"/>
          </p:nvPr>
        </p:nvSpPr>
        <p:spPr>
          <a:xfrm>
            <a:off x="535940" y="454913"/>
            <a:ext cx="7755890" cy="452119"/>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Machine learning lifecycle</a:t>
            </a:r>
            <a:endParaRPr/>
          </a:p>
        </p:txBody>
      </p:sp>
      <p:sp>
        <p:nvSpPr>
          <p:cNvPr id="65" name="Google Shape;65;p3"/>
          <p:cNvSpPr txBox="1"/>
          <p:nvPr>
            <p:ph idx="1" type="body"/>
          </p:nvPr>
        </p:nvSpPr>
        <p:spPr>
          <a:xfrm>
            <a:off x="879144" y="1408938"/>
            <a:ext cx="4001100" cy="178590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b="1" lang="en-US">
                <a:latin typeface="Calibri"/>
                <a:ea typeface="Calibri"/>
                <a:cs typeface="Calibri"/>
                <a:sym typeface="Calibri"/>
              </a:rPr>
              <a:t>Data part </a:t>
            </a:r>
            <a:r>
              <a:rPr lang="en-US"/>
              <a:t>– collection of proper datasets, its exploration, optimization and analysis.</a:t>
            </a:r>
            <a:endParaRPr/>
          </a:p>
          <a:p>
            <a:pPr indent="0" lvl="0" marL="12700" marR="8255" rtl="0" algn="l">
              <a:lnSpc>
                <a:spcPct val="100000"/>
              </a:lnSpc>
              <a:spcBef>
                <a:spcPts val="430"/>
              </a:spcBef>
              <a:spcAft>
                <a:spcPts val="0"/>
              </a:spcAft>
              <a:buNone/>
            </a:pPr>
            <a:r>
              <a:rPr b="1" lang="en-US">
                <a:latin typeface="Calibri"/>
                <a:ea typeface="Calibri"/>
                <a:cs typeface="Calibri"/>
                <a:sym typeface="Calibri"/>
              </a:rPr>
              <a:t>Modeling	 part	 </a:t>
            </a:r>
            <a:r>
              <a:rPr lang="en-US"/>
              <a:t>– selection of	the ML model, its application and evaluation.</a:t>
            </a:r>
            <a:endParaRPr/>
          </a:p>
          <a:p>
            <a:pPr indent="0" lvl="0" marL="12700" rtl="0" algn="l">
              <a:lnSpc>
                <a:spcPct val="100000"/>
              </a:lnSpc>
              <a:spcBef>
                <a:spcPts val="434"/>
              </a:spcBef>
              <a:spcAft>
                <a:spcPts val="0"/>
              </a:spcAft>
              <a:buNone/>
            </a:pPr>
            <a:r>
              <a:rPr b="1" lang="en-US">
                <a:latin typeface="Calibri"/>
                <a:ea typeface="Calibri"/>
                <a:cs typeface="Calibri"/>
                <a:sym typeface="Calibri"/>
              </a:rPr>
              <a:t>Engineering</a:t>
            </a:r>
            <a:r>
              <a:rPr b="1" lang="en-US"/>
              <a:t> </a:t>
            </a:r>
            <a:r>
              <a:rPr b="1" lang="en-US">
                <a:latin typeface="Calibri"/>
                <a:ea typeface="Calibri"/>
                <a:cs typeface="Calibri"/>
                <a:sym typeface="Calibri"/>
              </a:rPr>
              <a:t>part</a:t>
            </a:r>
            <a:r>
              <a:rPr b="1" lang="en-US"/>
              <a:t> </a:t>
            </a:r>
            <a:r>
              <a:rPr lang="en-US"/>
              <a:t>– model deployment, monitoring and support.</a:t>
            </a:r>
            <a:endParaRPr/>
          </a:p>
        </p:txBody>
      </p:sp>
      <p:pic>
        <p:nvPicPr>
          <p:cNvPr id="66" name="Google Shape;66;p3"/>
          <p:cNvPicPr preferRelativeResize="0"/>
          <p:nvPr/>
        </p:nvPicPr>
        <p:blipFill rotWithShape="1">
          <a:blip r:embed="rId3">
            <a:alphaModFix/>
          </a:blip>
          <a:srcRect b="0" l="0" r="0" t="0"/>
          <a:stretch/>
        </p:blipFill>
        <p:spPr>
          <a:xfrm>
            <a:off x="548640" y="1491233"/>
            <a:ext cx="152400" cy="160020"/>
          </a:xfrm>
          <a:prstGeom prst="rect">
            <a:avLst/>
          </a:prstGeom>
          <a:noFill/>
          <a:ln>
            <a:noFill/>
          </a:ln>
        </p:spPr>
      </p:pic>
      <p:pic>
        <p:nvPicPr>
          <p:cNvPr id="67" name="Google Shape;67;p3"/>
          <p:cNvPicPr preferRelativeResize="0"/>
          <p:nvPr/>
        </p:nvPicPr>
        <p:blipFill rotWithShape="1">
          <a:blip r:embed="rId3">
            <a:alphaModFix/>
          </a:blip>
          <a:srcRect b="0" l="0" r="0" t="0"/>
          <a:stretch/>
        </p:blipFill>
        <p:spPr>
          <a:xfrm>
            <a:off x="548640" y="2094738"/>
            <a:ext cx="152400" cy="160019"/>
          </a:xfrm>
          <a:prstGeom prst="rect">
            <a:avLst/>
          </a:prstGeom>
          <a:noFill/>
          <a:ln>
            <a:noFill/>
          </a:ln>
        </p:spPr>
      </p:pic>
      <p:pic>
        <p:nvPicPr>
          <p:cNvPr id="68" name="Google Shape;68;p3"/>
          <p:cNvPicPr preferRelativeResize="0"/>
          <p:nvPr/>
        </p:nvPicPr>
        <p:blipFill rotWithShape="1">
          <a:blip r:embed="rId3">
            <a:alphaModFix/>
          </a:blip>
          <a:srcRect b="0" l="0" r="0" t="0"/>
          <a:stretch/>
        </p:blipFill>
        <p:spPr>
          <a:xfrm>
            <a:off x="548640" y="2698242"/>
            <a:ext cx="152400" cy="160019"/>
          </a:xfrm>
          <a:prstGeom prst="rect">
            <a:avLst/>
          </a:prstGeom>
          <a:noFill/>
          <a:ln>
            <a:noFill/>
          </a:ln>
        </p:spPr>
      </p:pic>
      <p:grpSp>
        <p:nvGrpSpPr>
          <p:cNvPr id="69" name="Google Shape;69;p3"/>
          <p:cNvGrpSpPr/>
          <p:nvPr/>
        </p:nvGrpSpPr>
        <p:grpSpPr>
          <a:xfrm>
            <a:off x="5254593" y="1502947"/>
            <a:ext cx="3025240" cy="3044256"/>
            <a:chOff x="5254593" y="1502947"/>
            <a:chExt cx="3025240" cy="3044256"/>
          </a:xfrm>
        </p:grpSpPr>
        <p:pic>
          <p:nvPicPr>
            <p:cNvPr id="70" name="Google Shape;70;p3"/>
            <p:cNvPicPr preferRelativeResize="0"/>
            <p:nvPr/>
          </p:nvPicPr>
          <p:blipFill rotWithShape="1">
            <a:blip r:embed="rId4">
              <a:alphaModFix/>
            </a:blip>
            <a:srcRect b="0" l="0" r="0" t="0"/>
            <a:stretch/>
          </p:blipFill>
          <p:spPr>
            <a:xfrm>
              <a:off x="5254593" y="1502947"/>
              <a:ext cx="3025240" cy="3044256"/>
            </a:xfrm>
            <a:prstGeom prst="rect">
              <a:avLst/>
            </a:prstGeom>
            <a:noFill/>
            <a:ln>
              <a:noFill/>
            </a:ln>
          </p:spPr>
        </p:pic>
        <p:sp>
          <p:nvSpPr>
            <p:cNvPr id="71" name="Google Shape;71;p3"/>
            <p:cNvSpPr/>
            <p:nvPr/>
          </p:nvSpPr>
          <p:spPr>
            <a:xfrm>
              <a:off x="6105144" y="2417063"/>
              <a:ext cx="1272540" cy="1196340"/>
            </a:xfrm>
            <a:custGeom>
              <a:rect b="b" l="l" r="r" t="t"/>
              <a:pathLst>
                <a:path extrusionOk="0" h="1196339" w="1272540">
                  <a:moveTo>
                    <a:pt x="636270" y="0"/>
                  </a:moveTo>
                  <a:lnTo>
                    <a:pt x="586544" y="1799"/>
                  </a:lnTo>
                  <a:lnTo>
                    <a:pt x="537866" y="7110"/>
                  </a:lnTo>
                  <a:lnTo>
                    <a:pt x="490376" y="15799"/>
                  </a:lnTo>
                  <a:lnTo>
                    <a:pt x="444216" y="27733"/>
                  </a:lnTo>
                  <a:lnTo>
                    <a:pt x="399527" y="42779"/>
                  </a:lnTo>
                  <a:lnTo>
                    <a:pt x="356451" y="60804"/>
                  </a:lnTo>
                  <a:lnTo>
                    <a:pt x="315129" y="81675"/>
                  </a:lnTo>
                  <a:lnTo>
                    <a:pt x="275702" y="105258"/>
                  </a:lnTo>
                  <a:lnTo>
                    <a:pt x="238312" y="131421"/>
                  </a:lnTo>
                  <a:lnTo>
                    <a:pt x="203101" y="160031"/>
                  </a:lnTo>
                  <a:lnTo>
                    <a:pt x="170209" y="190955"/>
                  </a:lnTo>
                  <a:lnTo>
                    <a:pt x="139779" y="224059"/>
                  </a:lnTo>
                  <a:lnTo>
                    <a:pt x="111951" y="259210"/>
                  </a:lnTo>
                  <a:lnTo>
                    <a:pt x="86868" y="296276"/>
                  </a:lnTo>
                  <a:lnTo>
                    <a:pt x="64670" y="335124"/>
                  </a:lnTo>
                  <a:lnTo>
                    <a:pt x="45499" y="375620"/>
                  </a:lnTo>
                  <a:lnTo>
                    <a:pt x="29496" y="417631"/>
                  </a:lnTo>
                  <a:lnTo>
                    <a:pt x="16803" y="461025"/>
                  </a:lnTo>
                  <a:lnTo>
                    <a:pt x="7562" y="505668"/>
                  </a:lnTo>
                  <a:lnTo>
                    <a:pt x="1914" y="551427"/>
                  </a:lnTo>
                  <a:lnTo>
                    <a:pt x="0" y="598169"/>
                  </a:lnTo>
                  <a:lnTo>
                    <a:pt x="1914" y="644912"/>
                  </a:lnTo>
                  <a:lnTo>
                    <a:pt x="7562" y="690671"/>
                  </a:lnTo>
                  <a:lnTo>
                    <a:pt x="16803" y="735314"/>
                  </a:lnTo>
                  <a:lnTo>
                    <a:pt x="29496" y="778708"/>
                  </a:lnTo>
                  <a:lnTo>
                    <a:pt x="45499" y="820719"/>
                  </a:lnTo>
                  <a:lnTo>
                    <a:pt x="64670" y="861215"/>
                  </a:lnTo>
                  <a:lnTo>
                    <a:pt x="86868" y="900063"/>
                  </a:lnTo>
                  <a:lnTo>
                    <a:pt x="111951" y="937129"/>
                  </a:lnTo>
                  <a:lnTo>
                    <a:pt x="139779" y="972280"/>
                  </a:lnTo>
                  <a:lnTo>
                    <a:pt x="170209" y="1005384"/>
                  </a:lnTo>
                  <a:lnTo>
                    <a:pt x="203101" y="1036308"/>
                  </a:lnTo>
                  <a:lnTo>
                    <a:pt x="238312" y="1064918"/>
                  </a:lnTo>
                  <a:lnTo>
                    <a:pt x="275702" y="1091081"/>
                  </a:lnTo>
                  <a:lnTo>
                    <a:pt x="315129" y="1114664"/>
                  </a:lnTo>
                  <a:lnTo>
                    <a:pt x="356451" y="1135535"/>
                  </a:lnTo>
                  <a:lnTo>
                    <a:pt x="399527" y="1153560"/>
                  </a:lnTo>
                  <a:lnTo>
                    <a:pt x="444216" y="1168606"/>
                  </a:lnTo>
                  <a:lnTo>
                    <a:pt x="490376" y="1180540"/>
                  </a:lnTo>
                  <a:lnTo>
                    <a:pt x="537866" y="1189229"/>
                  </a:lnTo>
                  <a:lnTo>
                    <a:pt x="586544" y="1194540"/>
                  </a:lnTo>
                  <a:lnTo>
                    <a:pt x="636270" y="1196340"/>
                  </a:lnTo>
                  <a:lnTo>
                    <a:pt x="685995" y="1194540"/>
                  </a:lnTo>
                  <a:lnTo>
                    <a:pt x="734673" y="1189229"/>
                  </a:lnTo>
                  <a:lnTo>
                    <a:pt x="782163" y="1180540"/>
                  </a:lnTo>
                  <a:lnTo>
                    <a:pt x="828323" y="1168606"/>
                  </a:lnTo>
                  <a:lnTo>
                    <a:pt x="873012" y="1153560"/>
                  </a:lnTo>
                  <a:lnTo>
                    <a:pt x="916088" y="1135535"/>
                  </a:lnTo>
                  <a:lnTo>
                    <a:pt x="957410" y="1114664"/>
                  </a:lnTo>
                  <a:lnTo>
                    <a:pt x="996837" y="1091081"/>
                  </a:lnTo>
                  <a:lnTo>
                    <a:pt x="1034227" y="1064918"/>
                  </a:lnTo>
                  <a:lnTo>
                    <a:pt x="1069438" y="1036308"/>
                  </a:lnTo>
                  <a:lnTo>
                    <a:pt x="1102330" y="1005384"/>
                  </a:lnTo>
                  <a:lnTo>
                    <a:pt x="1132760" y="972280"/>
                  </a:lnTo>
                  <a:lnTo>
                    <a:pt x="1160588" y="937129"/>
                  </a:lnTo>
                  <a:lnTo>
                    <a:pt x="1185672" y="900063"/>
                  </a:lnTo>
                  <a:lnTo>
                    <a:pt x="1207869" y="861215"/>
                  </a:lnTo>
                  <a:lnTo>
                    <a:pt x="1227040" y="820719"/>
                  </a:lnTo>
                  <a:lnTo>
                    <a:pt x="1243043" y="778708"/>
                  </a:lnTo>
                  <a:lnTo>
                    <a:pt x="1255736" y="735314"/>
                  </a:lnTo>
                  <a:lnTo>
                    <a:pt x="1264977" y="690671"/>
                  </a:lnTo>
                  <a:lnTo>
                    <a:pt x="1270625" y="644912"/>
                  </a:lnTo>
                  <a:lnTo>
                    <a:pt x="1272539" y="598169"/>
                  </a:lnTo>
                  <a:lnTo>
                    <a:pt x="1270625" y="551427"/>
                  </a:lnTo>
                  <a:lnTo>
                    <a:pt x="1264977" y="505668"/>
                  </a:lnTo>
                  <a:lnTo>
                    <a:pt x="1255736" y="461025"/>
                  </a:lnTo>
                  <a:lnTo>
                    <a:pt x="1243043" y="417631"/>
                  </a:lnTo>
                  <a:lnTo>
                    <a:pt x="1227040" y="375620"/>
                  </a:lnTo>
                  <a:lnTo>
                    <a:pt x="1207869" y="335124"/>
                  </a:lnTo>
                  <a:lnTo>
                    <a:pt x="1185672" y="296276"/>
                  </a:lnTo>
                  <a:lnTo>
                    <a:pt x="1160588" y="259210"/>
                  </a:lnTo>
                  <a:lnTo>
                    <a:pt x="1132760" y="224059"/>
                  </a:lnTo>
                  <a:lnTo>
                    <a:pt x="1102330" y="190955"/>
                  </a:lnTo>
                  <a:lnTo>
                    <a:pt x="1069438" y="160031"/>
                  </a:lnTo>
                  <a:lnTo>
                    <a:pt x="1034227" y="131421"/>
                  </a:lnTo>
                  <a:lnTo>
                    <a:pt x="996837" y="105258"/>
                  </a:lnTo>
                  <a:lnTo>
                    <a:pt x="957410" y="81675"/>
                  </a:lnTo>
                  <a:lnTo>
                    <a:pt x="916088" y="60804"/>
                  </a:lnTo>
                  <a:lnTo>
                    <a:pt x="873012" y="42779"/>
                  </a:lnTo>
                  <a:lnTo>
                    <a:pt x="828323" y="27733"/>
                  </a:lnTo>
                  <a:lnTo>
                    <a:pt x="782163" y="15799"/>
                  </a:lnTo>
                  <a:lnTo>
                    <a:pt x="734673" y="7110"/>
                  </a:lnTo>
                  <a:lnTo>
                    <a:pt x="685995" y="1799"/>
                  </a:lnTo>
                  <a:lnTo>
                    <a:pt x="63627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2" name="Google Shape;72;p3"/>
            <p:cNvSpPr/>
            <p:nvPr/>
          </p:nvSpPr>
          <p:spPr>
            <a:xfrm>
              <a:off x="6105144" y="2417063"/>
              <a:ext cx="1272540" cy="1196340"/>
            </a:xfrm>
            <a:custGeom>
              <a:rect b="b" l="l" r="r" t="t"/>
              <a:pathLst>
                <a:path extrusionOk="0" h="1196339" w="1272540">
                  <a:moveTo>
                    <a:pt x="0" y="598169"/>
                  </a:moveTo>
                  <a:lnTo>
                    <a:pt x="1914" y="551427"/>
                  </a:lnTo>
                  <a:lnTo>
                    <a:pt x="7562" y="505668"/>
                  </a:lnTo>
                  <a:lnTo>
                    <a:pt x="16803" y="461025"/>
                  </a:lnTo>
                  <a:lnTo>
                    <a:pt x="29496" y="417631"/>
                  </a:lnTo>
                  <a:lnTo>
                    <a:pt x="45499" y="375620"/>
                  </a:lnTo>
                  <a:lnTo>
                    <a:pt x="64670" y="335124"/>
                  </a:lnTo>
                  <a:lnTo>
                    <a:pt x="86868" y="296276"/>
                  </a:lnTo>
                  <a:lnTo>
                    <a:pt x="111951" y="259210"/>
                  </a:lnTo>
                  <a:lnTo>
                    <a:pt x="139779" y="224059"/>
                  </a:lnTo>
                  <a:lnTo>
                    <a:pt x="170209" y="190955"/>
                  </a:lnTo>
                  <a:lnTo>
                    <a:pt x="203101" y="160031"/>
                  </a:lnTo>
                  <a:lnTo>
                    <a:pt x="238312" y="131421"/>
                  </a:lnTo>
                  <a:lnTo>
                    <a:pt x="275702" y="105258"/>
                  </a:lnTo>
                  <a:lnTo>
                    <a:pt x="315129" y="81675"/>
                  </a:lnTo>
                  <a:lnTo>
                    <a:pt x="356451" y="60804"/>
                  </a:lnTo>
                  <a:lnTo>
                    <a:pt x="399527" y="42779"/>
                  </a:lnTo>
                  <a:lnTo>
                    <a:pt x="444216" y="27733"/>
                  </a:lnTo>
                  <a:lnTo>
                    <a:pt x="490376" y="15799"/>
                  </a:lnTo>
                  <a:lnTo>
                    <a:pt x="537866" y="7110"/>
                  </a:lnTo>
                  <a:lnTo>
                    <a:pt x="586544" y="1799"/>
                  </a:lnTo>
                  <a:lnTo>
                    <a:pt x="636270" y="0"/>
                  </a:lnTo>
                  <a:lnTo>
                    <a:pt x="685995" y="1799"/>
                  </a:lnTo>
                  <a:lnTo>
                    <a:pt x="734673" y="7110"/>
                  </a:lnTo>
                  <a:lnTo>
                    <a:pt x="782163" y="15799"/>
                  </a:lnTo>
                  <a:lnTo>
                    <a:pt x="828323" y="27733"/>
                  </a:lnTo>
                  <a:lnTo>
                    <a:pt x="873012" y="42779"/>
                  </a:lnTo>
                  <a:lnTo>
                    <a:pt x="916088" y="60804"/>
                  </a:lnTo>
                  <a:lnTo>
                    <a:pt x="957410" y="81675"/>
                  </a:lnTo>
                  <a:lnTo>
                    <a:pt x="996837" y="105258"/>
                  </a:lnTo>
                  <a:lnTo>
                    <a:pt x="1034227" y="131421"/>
                  </a:lnTo>
                  <a:lnTo>
                    <a:pt x="1069438" y="160031"/>
                  </a:lnTo>
                  <a:lnTo>
                    <a:pt x="1102330" y="190955"/>
                  </a:lnTo>
                  <a:lnTo>
                    <a:pt x="1132760" y="224059"/>
                  </a:lnTo>
                  <a:lnTo>
                    <a:pt x="1160588" y="259210"/>
                  </a:lnTo>
                  <a:lnTo>
                    <a:pt x="1185672" y="296276"/>
                  </a:lnTo>
                  <a:lnTo>
                    <a:pt x="1207869" y="335124"/>
                  </a:lnTo>
                  <a:lnTo>
                    <a:pt x="1227040" y="375620"/>
                  </a:lnTo>
                  <a:lnTo>
                    <a:pt x="1243043" y="417631"/>
                  </a:lnTo>
                  <a:lnTo>
                    <a:pt x="1255736" y="461025"/>
                  </a:lnTo>
                  <a:lnTo>
                    <a:pt x="1264977" y="505668"/>
                  </a:lnTo>
                  <a:lnTo>
                    <a:pt x="1270625" y="551427"/>
                  </a:lnTo>
                  <a:lnTo>
                    <a:pt x="1272539" y="598169"/>
                  </a:lnTo>
                  <a:lnTo>
                    <a:pt x="1270625" y="644912"/>
                  </a:lnTo>
                  <a:lnTo>
                    <a:pt x="1264977" y="690671"/>
                  </a:lnTo>
                  <a:lnTo>
                    <a:pt x="1255736" y="735314"/>
                  </a:lnTo>
                  <a:lnTo>
                    <a:pt x="1243043" y="778708"/>
                  </a:lnTo>
                  <a:lnTo>
                    <a:pt x="1227040" y="820719"/>
                  </a:lnTo>
                  <a:lnTo>
                    <a:pt x="1207869" y="861215"/>
                  </a:lnTo>
                  <a:lnTo>
                    <a:pt x="1185672" y="900063"/>
                  </a:lnTo>
                  <a:lnTo>
                    <a:pt x="1160588" y="937129"/>
                  </a:lnTo>
                  <a:lnTo>
                    <a:pt x="1132760" y="972280"/>
                  </a:lnTo>
                  <a:lnTo>
                    <a:pt x="1102330" y="1005384"/>
                  </a:lnTo>
                  <a:lnTo>
                    <a:pt x="1069438" y="1036308"/>
                  </a:lnTo>
                  <a:lnTo>
                    <a:pt x="1034227" y="1064918"/>
                  </a:lnTo>
                  <a:lnTo>
                    <a:pt x="996837" y="1091081"/>
                  </a:lnTo>
                  <a:lnTo>
                    <a:pt x="957410" y="1114664"/>
                  </a:lnTo>
                  <a:lnTo>
                    <a:pt x="916088" y="1135535"/>
                  </a:lnTo>
                  <a:lnTo>
                    <a:pt x="873012" y="1153560"/>
                  </a:lnTo>
                  <a:lnTo>
                    <a:pt x="828323" y="1168606"/>
                  </a:lnTo>
                  <a:lnTo>
                    <a:pt x="782163" y="1180540"/>
                  </a:lnTo>
                  <a:lnTo>
                    <a:pt x="734673" y="1189229"/>
                  </a:lnTo>
                  <a:lnTo>
                    <a:pt x="685995" y="1194540"/>
                  </a:lnTo>
                  <a:lnTo>
                    <a:pt x="636270" y="1196340"/>
                  </a:lnTo>
                  <a:lnTo>
                    <a:pt x="586544" y="1194540"/>
                  </a:lnTo>
                  <a:lnTo>
                    <a:pt x="537866" y="1189229"/>
                  </a:lnTo>
                  <a:lnTo>
                    <a:pt x="490376" y="1180540"/>
                  </a:lnTo>
                  <a:lnTo>
                    <a:pt x="444216" y="1168606"/>
                  </a:lnTo>
                  <a:lnTo>
                    <a:pt x="399527" y="1153560"/>
                  </a:lnTo>
                  <a:lnTo>
                    <a:pt x="356451" y="1135535"/>
                  </a:lnTo>
                  <a:lnTo>
                    <a:pt x="315129" y="1114664"/>
                  </a:lnTo>
                  <a:lnTo>
                    <a:pt x="275702" y="1091081"/>
                  </a:lnTo>
                  <a:lnTo>
                    <a:pt x="238312" y="1064918"/>
                  </a:lnTo>
                  <a:lnTo>
                    <a:pt x="203101" y="1036308"/>
                  </a:lnTo>
                  <a:lnTo>
                    <a:pt x="170209" y="1005384"/>
                  </a:lnTo>
                  <a:lnTo>
                    <a:pt x="139779" y="972280"/>
                  </a:lnTo>
                  <a:lnTo>
                    <a:pt x="111951" y="937129"/>
                  </a:lnTo>
                  <a:lnTo>
                    <a:pt x="86868" y="900063"/>
                  </a:lnTo>
                  <a:lnTo>
                    <a:pt x="64670" y="861215"/>
                  </a:lnTo>
                  <a:lnTo>
                    <a:pt x="45499" y="820719"/>
                  </a:lnTo>
                  <a:lnTo>
                    <a:pt x="29496" y="778708"/>
                  </a:lnTo>
                  <a:lnTo>
                    <a:pt x="16803" y="735314"/>
                  </a:lnTo>
                  <a:lnTo>
                    <a:pt x="7562" y="690671"/>
                  </a:lnTo>
                  <a:lnTo>
                    <a:pt x="1914" y="644912"/>
                  </a:lnTo>
                  <a:lnTo>
                    <a:pt x="0" y="598169"/>
                  </a:lnTo>
                  <a:close/>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73" name="Google Shape;73;p3"/>
          <p:cNvSpPr txBox="1"/>
          <p:nvPr>
            <p:ph idx="12" type="sldNum"/>
          </p:nvPr>
        </p:nvSpPr>
        <p:spPr>
          <a:xfrm>
            <a:off x="8401811" y="4830876"/>
            <a:ext cx="244475" cy="177800"/>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
        <p:nvSpPr>
          <p:cNvPr id="74" name="Google Shape;74;p3"/>
          <p:cNvSpPr txBox="1"/>
          <p:nvPr/>
        </p:nvSpPr>
        <p:spPr>
          <a:xfrm>
            <a:off x="1130808" y="3613403"/>
            <a:ext cx="2997835" cy="934719"/>
          </a:xfrm>
          <a:prstGeom prst="rect">
            <a:avLst/>
          </a:prstGeom>
          <a:solidFill>
            <a:srgbClr val="92D050"/>
          </a:solidFill>
          <a:ln cap="flat" cmpd="sng" w="9525">
            <a:solidFill>
              <a:srgbClr val="D7D7D7"/>
            </a:solidFill>
            <a:prstDash val="solid"/>
            <a:round/>
            <a:headEnd len="sm" w="sm" type="none"/>
            <a:tailEnd len="sm" w="sm" type="none"/>
          </a:ln>
        </p:spPr>
        <p:txBody>
          <a:bodyPr anchorCtr="0" anchor="t" bIns="0" lIns="0" spcFirstLastPara="1" rIns="0" wrap="square" tIns="52050">
            <a:spAutoFit/>
          </a:bodyPr>
          <a:lstStyle/>
          <a:p>
            <a:pPr indent="0" lvl="0" marL="0" rtl="0" algn="l">
              <a:lnSpc>
                <a:spcPct val="100000"/>
              </a:lnSpc>
              <a:spcBef>
                <a:spcPts val="0"/>
              </a:spcBef>
              <a:spcAft>
                <a:spcPts val="0"/>
              </a:spcAft>
              <a:buNone/>
            </a:pPr>
            <a:r>
              <a:t/>
            </a:r>
            <a:endParaRPr sz="1800">
              <a:latin typeface="Times New Roman"/>
              <a:ea typeface="Times New Roman"/>
              <a:cs typeface="Times New Roman"/>
              <a:sym typeface="Times New Roman"/>
            </a:endParaRPr>
          </a:p>
          <a:p>
            <a:pPr indent="0" lvl="0" marL="271780" rtl="0" algn="l">
              <a:lnSpc>
                <a:spcPct val="100000"/>
              </a:lnSpc>
              <a:spcBef>
                <a:spcPts val="5"/>
              </a:spcBef>
              <a:spcAft>
                <a:spcPts val="0"/>
              </a:spcAft>
              <a:buNone/>
            </a:pPr>
            <a:r>
              <a:rPr b="1" lang="en-US" sz="1800">
                <a:solidFill>
                  <a:srgbClr val="FFFFFF"/>
                </a:solidFill>
                <a:latin typeface="Calibri"/>
                <a:ea typeface="Calibri"/>
                <a:cs typeface="Calibri"/>
                <a:sym typeface="Calibri"/>
              </a:rPr>
              <a:t>today’s focus on data part</a:t>
            </a:r>
            <a:endParaRPr sz="1800">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4"/>
          <p:cNvSpPr txBox="1"/>
          <p:nvPr>
            <p:ph type="title"/>
          </p:nvPr>
        </p:nvSpPr>
        <p:spPr>
          <a:xfrm>
            <a:off x="535940" y="454913"/>
            <a:ext cx="7755890" cy="452119"/>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Exploratory data analysis</a:t>
            </a:r>
            <a:endParaRPr/>
          </a:p>
        </p:txBody>
      </p:sp>
      <p:sp>
        <p:nvSpPr>
          <p:cNvPr id="80" name="Google Shape;80;p4"/>
          <p:cNvSpPr txBox="1"/>
          <p:nvPr/>
        </p:nvSpPr>
        <p:spPr>
          <a:xfrm>
            <a:off x="879144" y="1408938"/>
            <a:ext cx="6650355" cy="2550160"/>
          </a:xfrm>
          <a:prstGeom prst="rect">
            <a:avLst/>
          </a:prstGeom>
          <a:noFill/>
          <a:ln>
            <a:noFill/>
          </a:ln>
        </p:spPr>
        <p:txBody>
          <a:bodyPr anchorCtr="0" anchor="t" bIns="0" lIns="0" spcFirstLastPara="1" rIns="0" wrap="square" tIns="12700">
            <a:spAutoFit/>
          </a:bodyPr>
          <a:lstStyle/>
          <a:p>
            <a:pPr indent="0" lvl="0" marL="12700" marR="57785" rtl="0" algn="l">
              <a:lnSpc>
                <a:spcPct val="100000"/>
              </a:lnSpc>
              <a:spcBef>
                <a:spcPts val="0"/>
              </a:spcBef>
              <a:spcAft>
                <a:spcPts val="0"/>
              </a:spcAft>
              <a:buNone/>
            </a:pPr>
            <a:r>
              <a:rPr lang="en-US" sz="1800">
                <a:latin typeface="Calibri"/>
                <a:ea typeface="Calibri"/>
                <a:cs typeface="Calibri"/>
                <a:sym typeface="Calibri"/>
              </a:rPr>
              <a:t>A process to </a:t>
            </a:r>
            <a:r>
              <a:rPr b="1" lang="en-US" sz="1800">
                <a:latin typeface="Calibri"/>
                <a:ea typeface="Calibri"/>
                <a:cs typeface="Calibri"/>
                <a:sym typeface="Calibri"/>
              </a:rPr>
              <a:t>understand the data in depth </a:t>
            </a:r>
            <a:r>
              <a:rPr lang="en-US" sz="1800">
                <a:latin typeface="Calibri"/>
                <a:ea typeface="Calibri"/>
                <a:cs typeface="Calibri"/>
                <a:sym typeface="Calibri"/>
              </a:rPr>
              <a:t>and learn the different data characteristics, often with visual means.</a:t>
            </a:r>
            <a:endParaRPr sz="1800">
              <a:latin typeface="Calibri"/>
              <a:ea typeface="Calibri"/>
              <a:cs typeface="Calibri"/>
              <a:sym typeface="Calibri"/>
            </a:endParaRPr>
          </a:p>
          <a:p>
            <a:pPr indent="0" lvl="0" marL="0" rtl="0" algn="l">
              <a:lnSpc>
                <a:spcPct val="100000"/>
              </a:lnSpc>
              <a:spcBef>
                <a:spcPts val="825"/>
              </a:spcBef>
              <a:spcAft>
                <a:spcPts val="0"/>
              </a:spcAft>
              <a:buNone/>
            </a:pPr>
            <a:r>
              <a:t/>
            </a:r>
            <a:endParaRPr sz="1800">
              <a:latin typeface="Calibri"/>
              <a:ea typeface="Calibri"/>
              <a:cs typeface="Calibri"/>
              <a:sym typeface="Calibri"/>
            </a:endParaRPr>
          </a:p>
          <a:p>
            <a:pPr indent="0" lvl="0" marL="12700" rtl="0" algn="l">
              <a:lnSpc>
                <a:spcPct val="100000"/>
              </a:lnSpc>
              <a:spcBef>
                <a:spcPts val="0"/>
              </a:spcBef>
              <a:spcAft>
                <a:spcPts val="0"/>
              </a:spcAft>
              <a:buNone/>
            </a:pPr>
            <a:r>
              <a:rPr lang="en-US" sz="1800">
                <a:latin typeface="Calibri"/>
                <a:ea typeface="Calibri"/>
                <a:cs typeface="Calibri"/>
                <a:sym typeface="Calibri"/>
              </a:rPr>
              <a:t>Why to perform EDA:</a:t>
            </a:r>
            <a:endParaRPr sz="1800">
              <a:latin typeface="Calibri"/>
              <a:ea typeface="Calibri"/>
              <a:cs typeface="Calibri"/>
              <a:sym typeface="Calibri"/>
            </a:endParaRPr>
          </a:p>
          <a:p>
            <a:pPr indent="-286385" lvl="0" marL="413384" rtl="0" algn="l">
              <a:lnSpc>
                <a:spcPct val="100000"/>
              </a:lnSpc>
              <a:spcBef>
                <a:spcPts val="434"/>
              </a:spcBef>
              <a:spcAft>
                <a:spcPts val="0"/>
              </a:spcAft>
              <a:buSzPts val="1800"/>
              <a:buFont typeface="Arial"/>
              <a:buChar char="•"/>
            </a:pPr>
            <a:r>
              <a:rPr lang="en-US" sz="1800">
                <a:latin typeface="Calibri"/>
                <a:ea typeface="Calibri"/>
                <a:cs typeface="Calibri"/>
                <a:sym typeface="Calibri"/>
              </a:rPr>
              <a:t>Allows to get a </a:t>
            </a:r>
            <a:r>
              <a:rPr b="1" lang="en-US" sz="1800">
                <a:latin typeface="Calibri"/>
                <a:ea typeface="Calibri"/>
                <a:cs typeface="Calibri"/>
                <a:sym typeface="Calibri"/>
              </a:rPr>
              <a:t>better feel of the data </a:t>
            </a:r>
            <a:r>
              <a:rPr lang="en-US" sz="1800">
                <a:latin typeface="Calibri"/>
                <a:ea typeface="Calibri"/>
                <a:cs typeface="Calibri"/>
                <a:sym typeface="Calibri"/>
              </a:rPr>
              <a:t>and find useful patterns in it.</a:t>
            </a:r>
            <a:endParaRPr sz="1800">
              <a:latin typeface="Calibri"/>
              <a:ea typeface="Calibri"/>
              <a:cs typeface="Calibri"/>
              <a:sym typeface="Calibri"/>
            </a:endParaRPr>
          </a:p>
          <a:p>
            <a:pPr indent="-286385" lvl="0" marL="413384" rtl="0" algn="l">
              <a:lnSpc>
                <a:spcPct val="100000"/>
              </a:lnSpc>
              <a:spcBef>
                <a:spcPts val="430"/>
              </a:spcBef>
              <a:spcAft>
                <a:spcPts val="0"/>
              </a:spcAft>
              <a:buSzPts val="1800"/>
              <a:buFont typeface="Arial"/>
              <a:buChar char="•"/>
            </a:pPr>
            <a:r>
              <a:rPr lang="en-US" sz="1800">
                <a:latin typeface="Calibri"/>
                <a:ea typeface="Calibri"/>
                <a:cs typeface="Calibri"/>
                <a:sym typeface="Calibri"/>
              </a:rPr>
              <a:t>Helps to choose a </a:t>
            </a:r>
            <a:r>
              <a:rPr b="1" lang="en-US" sz="1800">
                <a:latin typeface="Calibri"/>
                <a:ea typeface="Calibri"/>
                <a:cs typeface="Calibri"/>
                <a:sym typeface="Calibri"/>
              </a:rPr>
              <a:t>better machine learning model</a:t>
            </a:r>
            <a:r>
              <a:rPr lang="en-US" sz="1800">
                <a:latin typeface="Calibri"/>
                <a:ea typeface="Calibri"/>
                <a:cs typeface="Calibri"/>
                <a:sym typeface="Calibri"/>
              </a:rPr>
              <a:t>.</a:t>
            </a:r>
            <a:endParaRPr sz="1800">
              <a:latin typeface="Calibri"/>
              <a:ea typeface="Calibri"/>
              <a:cs typeface="Calibri"/>
              <a:sym typeface="Calibri"/>
            </a:endParaRPr>
          </a:p>
          <a:p>
            <a:pPr indent="-286385" lvl="0" marL="413384" rtl="0" algn="l">
              <a:lnSpc>
                <a:spcPct val="100000"/>
              </a:lnSpc>
              <a:spcBef>
                <a:spcPts val="434"/>
              </a:spcBef>
              <a:spcAft>
                <a:spcPts val="0"/>
              </a:spcAft>
              <a:buSzPts val="1800"/>
              <a:buFont typeface="Arial"/>
              <a:buChar char="•"/>
            </a:pPr>
            <a:r>
              <a:rPr lang="en-US" sz="1800">
                <a:latin typeface="Calibri"/>
                <a:ea typeface="Calibri"/>
                <a:cs typeface="Calibri"/>
                <a:sym typeface="Calibri"/>
              </a:rPr>
              <a:t>Allows a machine learning model to </a:t>
            </a:r>
            <a:r>
              <a:rPr b="1" lang="en-US" sz="1800">
                <a:latin typeface="Calibri"/>
                <a:ea typeface="Calibri"/>
                <a:cs typeface="Calibri"/>
                <a:sym typeface="Calibri"/>
              </a:rPr>
              <a:t>fit our dataset better.</a:t>
            </a:r>
            <a:endParaRPr sz="1800">
              <a:latin typeface="Calibri"/>
              <a:ea typeface="Calibri"/>
              <a:cs typeface="Calibri"/>
              <a:sym typeface="Calibri"/>
            </a:endParaRPr>
          </a:p>
          <a:p>
            <a:pPr indent="-286385" lvl="0" marL="413384" rtl="0" algn="l">
              <a:lnSpc>
                <a:spcPct val="100000"/>
              </a:lnSpc>
              <a:spcBef>
                <a:spcPts val="434"/>
              </a:spcBef>
              <a:spcAft>
                <a:spcPts val="0"/>
              </a:spcAft>
              <a:buSzPts val="1800"/>
              <a:buFont typeface="Arial"/>
              <a:buChar char="•"/>
            </a:pPr>
            <a:r>
              <a:rPr lang="en-US" sz="1800">
                <a:latin typeface="Calibri"/>
                <a:ea typeface="Calibri"/>
                <a:cs typeface="Calibri"/>
                <a:sym typeface="Calibri"/>
              </a:rPr>
              <a:t>Basis for more </a:t>
            </a:r>
            <a:r>
              <a:rPr b="1" lang="en-US" sz="1800">
                <a:latin typeface="Calibri"/>
                <a:ea typeface="Calibri"/>
                <a:cs typeface="Calibri"/>
                <a:sym typeface="Calibri"/>
              </a:rPr>
              <a:t>accurate results</a:t>
            </a:r>
            <a:r>
              <a:rPr lang="en-US" sz="1800">
                <a:latin typeface="Calibri"/>
                <a:ea typeface="Calibri"/>
                <a:cs typeface="Calibri"/>
                <a:sym typeface="Calibri"/>
              </a:rPr>
              <a:t>.</a:t>
            </a:r>
            <a:endParaRPr sz="1800">
              <a:latin typeface="Calibri"/>
              <a:ea typeface="Calibri"/>
              <a:cs typeface="Calibri"/>
              <a:sym typeface="Calibri"/>
            </a:endParaRPr>
          </a:p>
        </p:txBody>
      </p:sp>
      <p:pic>
        <p:nvPicPr>
          <p:cNvPr id="81" name="Google Shape;81;p4"/>
          <p:cNvPicPr preferRelativeResize="0"/>
          <p:nvPr/>
        </p:nvPicPr>
        <p:blipFill rotWithShape="1">
          <a:blip r:embed="rId3">
            <a:alphaModFix/>
          </a:blip>
          <a:srcRect b="0" l="0" r="0" t="0"/>
          <a:stretch/>
        </p:blipFill>
        <p:spPr>
          <a:xfrm>
            <a:off x="548640" y="1491233"/>
            <a:ext cx="152400" cy="160020"/>
          </a:xfrm>
          <a:prstGeom prst="rect">
            <a:avLst/>
          </a:prstGeom>
          <a:noFill/>
          <a:ln>
            <a:noFill/>
          </a:ln>
        </p:spPr>
      </p:pic>
      <p:pic>
        <p:nvPicPr>
          <p:cNvPr id="82" name="Google Shape;82;p4"/>
          <p:cNvPicPr preferRelativeResize="0"/>
          <p:nvPr/>
        </p:nvPicPr>
        <p:blipFill rotWithShape="1">
          <a:blip r:embed="rId3">
            <a:alphaModFix/>
          </a:blip>
          <a:srcRect b="0" l="0" r="0" t="0"/>
          <a:stretch/>
        </p:blipFill>
        <p:spPr>
          <a:xfrm>
            <a:off x="548640" y="2423922"/>
            <a:ext cx="152400" cy="160019"/>
          </a:xfrm>
          <a:prstGeom prst="rect">
            <a:avLst/>
          </a:prstGeom>
          <a:noFill/>
          <a:ln>
            <a:noFill/>
          </a:ln>
        </p:spPr>
      </p:pic>
      <p:sp>
        <p:nvSpPr>
          <p:cNvPr id="83" name="Google Shape;83;p4"/>
          <p:cNvSpPr txBox="1"/>
          <p:nvPr>
            <p:ph idx="12" type="sldNum"/>
          </p:nvPr>
        </p:nvSpPr>
        <p:spPr>
          <a:xfrm>
            <a:off x="8401811" y="4830876"/>
            <a:ext cx="244475" cy="177800"/>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5"/>
          <p:cNvSpPr txBox="1"/>
          <p:nvPr>
            <p:ph type="title"/>
          </p:nvPr>
        </p:nvSpPr>
        <p:spPr>
          <a:xfrm>
            <a:off x="535940" y="454913"/>
            <a:ext cx="7755890" cy="452119"/>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Data collection – the crucial step of ML pipeline</a:t>
            </a:r>
            <a:endParaRPr/>
          </a:p>
        </p:txBody>
      </p:sp>
      <p:sp>
        <p:nvSpPr>
          <p:cNvPr id="89" name="Google Shape;89;p5"/>
          <p:cNvSpPr txBox="1"/>
          <p:nvPr/>
        </p:nvSpPr>
        <p:spPr>
          <a:xfrm>
            <a:off x="893612" y="1035782"/>
            <a:ext cx="7383145" cy="2110740"/>
          </a:xfrm>
          <a:prstGeom prst="rect">
            <a:avLst/>
          </a:prstGeom>
          <a:noFill/>
          <a:ln>
            <a:noFill/>
          </a:ln>
        </p:spPr>
        <p:txBody>
          <a:bodyPr anchorCtr="0" anchor="t" bIns="0" lIns="0" spcFirstLastPara="1" rIns="0" wrap="square" tIns="39350">
            <a:spAutoFit/>
          </a:bodyPr>
          <a:lstStyle/>
          <a:p>
            <a:pPr indent="0" lvl="0" marL="12700" marR="5715" rtl="0" algn="just">
              <a:lnSpc>
                <a:spcPct val="110000"/>
              </a:lnSpc>
              <a:spcBef>
                <a:spcPts val="0"/>
              </a:spcBef>
              <a:spcAft>
                <a:spcPts val="0"/>
              </a:spcAft>
              <a:buNone/>
            </a:pPr>
            <a:r>
              <a:rPr lang="en-US" sz="1800">
                <a:latin typeface="Calibri"/>
                <a:ea typeface="Calibri"/>
                <a:cs typeface="Calibri"/>
                <a:sym typeface="Calibri"/>
              </a:rPr>
              <a:t>The </a:t>
            </a:r>
            <a:r>
              <a:rPr b="1" lang="en-US" sz="1800">
                <a:latin typeface="Calibri"/>
                <a:ea typeface="Calibri"/>
                <a:cs typeface="Calibri"/>
                <a:sym typeface="Calibri"/>
              </a:rPr>
              <a:t>quality and quantity </a:t>
            </a:r>
            <a:r>
              <a:rPr lang="en-US" sz="1800">
                <a:latin typeface="Calibri"/>
                <a:ea typeface="Calibri"/>
                <a:cs typeface="Calibri"/>
                <a:sym typeface="Calibri"/>
              </a:rPr>
              <a:t>of the data can directly impact model's performance. Data can be collected from various sources: databases, text files, images, audio files, or scraped from the web.</a:t>
            </a:r>
            <a:endParaRPr sz="1800">
              <a:latin typeface="Calibri"/>
              <a:ea typeface="Calibri"/>
              <a:cs typeface="Calibri"/>
              <a:sym typeface="Calibri"/>
            </a:endParaRPr>
          </a:p>
          <a:p>
            <a:pPr indent="0" lvl="0" marL="12700" marR="5080" rtl="0" algn="just">
              <a:lnSpc>
                <a:spcPct val="100000"/>
              </a:lnSpc>
              <a:spcBef>
                <a:spcPts val="434"/>
              </a:spcBef>
              <a:spcAft>
                <a:spcPts val="0"/>
              </a:spcAft>
              <a:buNone/>
            </a:pPr>
            <a:r>
              <a:rPr lang="en-US" sz="1800">
                <a:latin typeface="Calibri"/>
                <a:ea typeface="Calibri"/>
                <a:cs typeface="Calibri"/>
                <a:sym typeface="Calibri"/>
              </a:rPr>
              <a:t>Once collected, the data needs to be prepared for machine learning. This process involves organizing the data in a suitable format, such as a CSV file or a database, and ensuring that the </a:t>
            </a:r>
            <a:r>
              <a:rPr b="1" lang="en-US" sz="1800">
                <a:latin typeface="Calibri"/>
                <a:ea typeface="Calibri"/>
                <a:cs typeface="Calibri"/>
                <a:sym typeface="Calibri"/>
              </a:rPr>
              <a:t>data is relevant to the problem you're trying to solve.</a:t>
            </a:r>
            <a:endParaRPr sz="1800">
              <a:latin typeface="Calibri"/>
              <a:ea typeface="Calibri"/>
              <a:cs typeface="Calibri"/>
              <a:sym typeface="Calibri"/>
            </a:endParaRPr>
          </a:p>
        </p:txBody>
      </p:sp>
      <p:pic>
        <p:nvPicPr>
          <p:cNvPr id="90" name="Google Shape;90;p5"/>
          <p:cNvPicPr preferRelativeResize="0"/>
          <p:nvPr/>
        </p:nvPicPr>
        <p:blipFill rotWithShape="1">
          <a:blip r:embed="rId3">
            <a:alphaModFix/>
          </a:blip>
          <a:srcRect b="0" l="0" r="0" t="0"/>
          <a:stretch/>
        </p:blipFill>
        <p:spPr>
          <a:xfrm>
            <a:off x="563108" y="1172564"/>
            <a:ext cx="152400" cy="160020"/>
          </a:xfrm>
          <a:prstGeom prst="rect">
            <a:avLst/>
          </a:prstGeom>
          <a:noFill/>
          <a:ln>
            <a:noFill/>
          </a:ln>
        </p:spPr>
      </p:pic>
      <p:pic>
        <p:nvPicPr>
          <p:cNvPr id="91" name="Google Shape;91;p5"/>
          <p:cNvPicPr preferRelativeResize="0"/>
          <p:nvPr/>
        </p:nvPicPr>
        <p:blipFill rotWithShape="1">
          <a:blip r:embed="rId3">
            <a:alphaModFix/>
          </a:blip>
          <a:srcRect b="0" l="0" r="0" t="0"/>
          <a:stretch/>
        </p:blipFill>
        <p:spPr>
          <a:xfrm>
            <a:off x="563108" y="1501748"/>
            <a:ext cx="152400" cy="160020"/>
          </a:xfrm>
          <a:prstGeom prst="rect">
            <a:avLst/>
          </a:prstGeom>
          <a:noFill/>
          <a:ln>
            <a:noFill/>
          </a:ln>
        </p:spPr>
      </p:pic>
      <p:pic>
        <p:nvPicPr>
          <p:cNvPr id="92" name="Google Shape;92;p5"/>
          <p:cNvPicPr preferRelativeResize="0"/>
          <p:nvPr/>
        </p:nvPicPr>
        <p:blipFill rotWithShape="1">
          <a:blip r:embed="rId3">
            <a:alphaModFix/>
          </a:blip>
          <a:srcRect b="0" l="0" r="0" t="0"/>
          <a:stretch/>
        </p:blipFill>
        <p:spPr>
          <a:xfrm>
            <a:off x="563108" y="2105253"/>
            <a:ext cx="152400" cy="160019"/>
          </a:xfrm>
          <a:prstGeom prst="rect">
            <a:avLst/>
          </a:prstGeom>
          <a:noFill/>
          <a:ln>
            <a:noFill/>
          </a:ln>
        </p:spPr>
      </p:pic>
      <p:sp>
        <p:nvSpPr>
          <p:cNvPr id="93" name="Google Shape;93;p5"/>
          <p:cNvSpPr txBox="1"/>
          <p:nvPr>
            <p:ph idx="12" type="sldNum"/>
          </p:nvPr>
        </p:nvSpPr>
        <p:spPr>
          <a:xfrm>
            <a:off x="8401811" y="4830876"/>
            <a:ext cx="244475" cy="177800"/>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pic>
        <p:nvPicPr>
          <p:cNvPr id="94" name="Google Shape;94;p5"/>
          <p:cNvPicPr preferRelativeResize="0"/>
          <p:nvPr/>
        </p:nvPicPr>
        <p:blipFill rotWithShape="1">
          <a:blip r:embed="rId4">
            <a:alphaModFix/>
          </a:blip>
          <a:srcRect b="0" l="0" r="0" t="0"/>
          <a:stretch/>
        </p:blipFill>
        <p:spPr>
          <a:xfrm>
            <a:off x="2851785" y="3077581"/>
            <a:ext cx="3124200" cy="181812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6"/>
          <p:cNvSpPr txBox="1"/>
          <p:nvPr>
            <p:ph type="title"/>
          </p:nvPr>
        </p:nvSpPr>
        <p:spPr>
          <a:xfrm>
            <a:off x="535940" y="454913"/>
            <a:ext cx="7755890" cy="452119"/>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Data preprocessing</a:t>
            </a:r>
            <a:endParaRPr/>
          </a:p>
        </p:txBody>
      </p:sp>
      <p:sp>
        <p:nvSpPr>
          <p:cNvPr id="100" name="Google Shape;100;p6"/>
          <p:cNvSpPr txBox="1"/>
          <p:nvPr/>
        </p:nvSpPr>
        <p:spPr>
          <a:xfrm>
            <a:off x="879144" y="1408938"/>
            <a:ext cx="7019925" cy="2165985"/>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US" sz="1800">
                <a:latin typeface="Calibri"/>
                <a:ea typeface="Calibri"/>
                <a:cs typeface="Calibri"/>
                <a:sym typeface="Calibri"/>
              </a:rPr>
              <a:t>Preprocessing </a:t>
            </a:r>
            <a:r>
              <a:rPr b="1" lang="en-US" sz="1800">
                <a:latin typeface="Calibri"/>
                <a:ea typeface="Calibri"/>
                <a:cs typeface="Calibri"/>
                <a:sym typeface="Calibri"/>
              </a:rPr>
              <a:t>improves the quality </a:t>
            </a:r>
            <a:r>
              <a:rPr lang="en-US" sz="1800">
                <a:latin typeface="Calibri"/>
                <a:ea typeface="Calibri"/>
                <a:cs typeface="Calibri"/>
                <a:sym typeface="Calibri"/>
              </a:rPr>
              <a:t>of your data and ensures that your machine learning model can interpret it correctly. This step can significantly improve the accuracy of your model.</a:t>
            </a:r>
            <a:endParaRPr sz="1800">
              <a:latin typeface="Calibri"/>
              <a:ea typeface="Calibri"/>
              <a:cs typeface="Calibri"/>
              <a:sym typeface="Calibri"/>
            </a:endParaRPr>
          </a:p>
          <a:p>
            <a:pPr indent="0" lvl="0" marL="12700" rtl="0" algn="l">
              <a:lnSpc>
                <a:spcPct val="100000"/>
              </a:lnSpc>
              <a:spcBef>
                <a:spcPts val="430"/>
              </a:spcBef>
              <a:spcAft>
                <a:spcPts val="0"/>
              </a:spcAft>
              <a:buNone/>
            </a:pPr>
            <a:r>
              <a:rPr lang="en-US" sz="1800">
                <a:latin typeface="Calibri"/>
                <a:ea typeface="Calibri"/>
                <a:cs typeface="Calibri"/>
                <a:sym typeface="Calibri"/>
              </a:rPr>
              <a:t>Data preprocessing involves:</a:t>
            </a:r>
            <a:endParaRPr sz="1800">
              <a:latin typeface="Calibri"/>
              <a:ea typeface="Calibri"/>
              <a:cs typeface="Calibri"/>
              <a:sym typeface="Calibri"/>
            </a:endParaRPr>
          </a:p>
          <a:p>
            <a:pPr indent="-286385" lvl="0" marL="413384" rtl="0" algn="l">
              <a:lnSpc>
                <a:spcPct val="100000"/>
              </a:lnSpc>
              <a:spcBef>
                <a:spcPts val="434"/>
              </a:spcBef>
              <a:spcAft>
                <a:spcPts val="0"/>
              </a:spcAft>
              <a:buSzPts val="1800"/>
              <a:buFont typeface="Arial"/>
              <a:buChar char="•"/>
            </a:pPr>
            <a:r>
              <a:rPr lang="en-US" sz="1800">
                <a:latin typeface="Calibri"/>
                <a:ea typeface="Calibri"/>
                <a:cs typeface="Calibri"/>
                <a:sym typeface="Calibri"/>
              </a:rPr>
              <a:t>cleaning the data (removing duplicates, correcting errors),</a:t>
            </a:r>
            <a:endParaRPr sz="1800">
              <a:latin typeface="Calibri"/>
              <a:ea typeface="Calibri"/>
              <a:cs typeface="Calibri"/>
              <a:sym typeface="Calibri"/>
            </a:endParaRPr>
          </a:p>
          <a:p>
            <a:pPr indent="-286385" lvl="0" marL="413384" rtl="0" algn="l">
              <a:lnSpc>
                <a:spcPct val="100000"/>
              </a:lnSpc>
              <a:spcBef>
                <a:spcPts val="430"/>
              </a:spcBef>
              <a:spcAft>
                <a:spcPts val="0"/>
              </a:spcAft>
              <a:buSzPts val="1800"/>
              <a:buFont typeface="Arial"/>
              <a:buChar char="•"/>
            </a:pPr>
            <a:r>
              <a:rPr lang="en-US" sz="1800">
                <a:latin typeface="Calibri"/>
                <a:ea typeface="Calibri"/>
                <a:cs typeface="Calibri"/>
                <a:sym typeface="Calibri"/>
              </a:rPr>
              <a:t>handling missing data (either by removing it or filling it in),</a:t>
            </a:r>
            <a:endParaRPr sz="1800">
              <a:latin typeface="Calibri"/>
              <a:ea typeface="Calibri"/>
              <a:cs typeface="Calibri"/>
              <a:sym typeface="Calibri"/>
            </a:endParaRPr>
          </a:p>
          <a:p>
            <a:pPr indent="-286385" lvl="0" marL="413384" rtl="0" algn="l">
              <a:lnSpc>
                <a:spcPct val="100000"/>
              </a:lnSpc>
              <a:spcBef>
                <a:spcPts val="434"/>
              </a:spcBef>
              <a:spcAft>
                <a:spcPts val="0"/>
              </a:spcAft>
              <a:buSzPts val="1800"/>
              <a:buFont typeface="Arial"/>
              <a:buChar char="•"/>
            </a:pPr>
            <a:r>
              <a:rPr lang="en-US" sz="1800">
                <a:latin typeface="Calibri"/>
                <a:ea typeface="Calibri"/>
                <a:cs typeface="Calibri"/>
                <a:sym typeface="Calibri"/>
              </a:rPr>
              <a:t>normalizing the data (scaling the data to a standard format).</a:t>
            </a:r>
            <a:endParaRPr sz="1800">
              <a:latin typeface="Calibri"/>
              <a:ea typeface="Calibri"/>
              <a:cs typeface="Calibri"/>
              <a:sym typeface="Calibri"/>
            </a:endParaRPr>
          </a:p>
        </p:txBody>
      </p:sp>
      <p:pic>
        <p:nvPicPr>
          <p:cNvPr id="101" name="Google Shape;101;p6"/>
          <p:cNvPicPr preferRelativeResize="0"/>
          <p:nvPr/>
        </p:nvPicPr>
        <p:blipFill rotWithShape="1">
          <a:blip r:embed="rId3">
            <a:alphaModFix/>
          </a:blip>
          <a:srcRect b="0" l="0" r="0" t="0"/>
          <a:stretch/>
        </p:blipFill>
        <p:spPr>
          <a:xfrm>
            <a:off x="548640" y="1491233"/>
            <a:ext cx="152400" cy="160020"/>
          </a:xfrm>
          <a:prstGeom prst="rect">
            <a:avLst/>
          </a:prstGeom>
          <a:noFill/>
          <a:ln>
            <a:noFill/>
          </a:ln>
        </p:spPr>
      </p:pic>
      <p:pic>
        <p:nvPicPr>
          <p:cNvPr id="102" name="Google Shape;102;p6"/>
          <p:cNvPicPr preferRelativeResize="0"/>
          <p:nvPr/>
        </p:nvPicPr>
        <p:blipFill rotWithShape="1">
          <a:blip r:embed="rId3">
            <a:alphaModFix/>
          </a:blip>
          <a:srcRect b="0" l="0" r="0" t="0"/>
          <a:stretch/>
        </p:blipFill>
        <p:spPr>
          <a:xfrm>
            <a:off x="548640" y="2369057"/>
            <a:ext cx="152400" cy="160019"/>
          </a:xfrm>
          <a:prstGeom prst="rect">
            <a:avLst/>
          </a:prstGeom>
          <a:noFill/>
          <a:ln>
            <a:noFill/>
          </a:ln>
        </p:spPr>
      </p:pic>
      <p:sp>
        <p:nvSpPr>
          <p:cNvPr id="103" name="Google Shape;103;p6"/>
          <p:cNvSpPr txBox="1"/>
          <p:nvPr>
            <p:ph idx="12" type="sldNum"/>
          </p:nvPr>
        </p:nvSpPr>
        <p:spPr>
          <a:xfrm>
            <a:off x="8401811" y="4830876"/>
            <a:ext cx="244475" cy="177800"/>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7"/>
          <p:cNvSpPr txBox="1"/>
          <p:nvPr>
            <p:ph type="title"/>
          </p:nvPr>
        </p:nvSpPr>
        <p:spPr>
          <a:xfrm>
            <a:off x="535940" y="454913"/>
            <a:ext cx="7755890" cy="452119"/>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Missing data – identify the reason</a:t>
            </a:r>
            <a:endParaRPr/>
          </a:p>
        </p:txBody>
      </p:sp>
      <p:sp>
        <p:nvSpPr>
          <p:cNvPr id="109" name="Google Shape;109;p7"/>
          <p:cNvSpPr txBox="1"/>
          <p:nvPr/>
        </p:nvSpPr>
        <p:spPr>
          <a:xfrm>
            <a:off x="879144" y="1281176"/>
            <a:ext cx="4996815" cy="3312795"/>
          </a:xfrm>
          <a:prstGeom prst="rect">
            <a:avLst/>
          </a:prstGeom>
          <a:noFill/>
          <a:ln>
            <a:noFill/>
          </a:ln>
        </p:spPr>
        <p:txBody>
          <a:bodyPr anchorCtr="0" anchor="t" bIns="0" lIns="0" spcFirstLastPara="1" rIns="0" wrap="square" tIns="13325">
            <a:spAutoFit/>
          </a:bodyPr>
          <a:lstStyle/>
          <a:p>
            <a:pPr indent="0" lvl="0" marL="12700" marR="5715" rtl="0" algn="just">
              <a:lnSpc>
                <a:spcPct val="100000"/>
              </a:lnSpc>
              <a:spcBef>
                <a:spcPts val="0"/>
              </a:spcBef>
              <a:spcAft>
                <a:spcPts val="0"/>
              </a:spcAft>
              <a:buNone/>
            </a:pPr>
            <a:r>
              <a:rPr b="1" lang="en-US" sz="1400">
                <a:latin typeface="Calibri"/>
                <a:ea typeface="Calibri"/>
                <a:cs typeface="Calibri"/>
                <a:sym typeface="Calibri"/>
              </a:rPr>
              <a:t>Missing Completely at Random (MCAR) </a:t>
            </a:r>
            <a:r>
              <a:rPr lang="en-US" sz="1400">
                <a:latin typeface="Calibri"/>
                <a:ea typeface="Calibri"/>
                <a:cs typeface="Calibri"/>
                <a:sym typeface="Calibri"/>
              </a:rPr>
              <a:t>– all the variables and observations  have  the  </a:t>
            </a:r>
            <a:r>
              <a:rPr lang="en-US" sz="1400" u="sng">
                <a:latin typeface="Calibri"/>
                <a:ea typeface="Calibri"/>
                <a:cs typeface="Calibri"/>
                <a:sym typeface="Calibri"/>
              </a:rPr>
              <a:t>equal  probability</a:t>
            </a:r>
            <a:r>
              <a:rPr lang="en-US" sz="1400">
                <a:latin typeface="Calibri"/>
                <a:ea typeface="Calibri"/>
                <a:cs typeface="Calibri"/>
                <a:sym typeface="Calibri"/>
              </a:rPr>
              <a:t>  of  being  missing. Consider LEGO example: we can lose some pieces (missing data: shape, color) but it does not affect the data we still have on the rest of our blocks.</a:t>
            </a:r>
            <a:endParaRPr sz="1400">
              <a:latin typeface="Calibri"/>
              <a:ea typeface="Calibri"/>
              <a:cs typeface="Calibri"/>
              <a:sym typeface="Calibri"/>
            </a:endParaRPr>
          </a:p>
          <a:p>
            <a:pPr indent="0" lvl="0" marL="12700" marR="5715" rtl="0" algn="just">
              <a:lnSpc>
                <a:spcPct val="100000"/>
              </a:lnSpc>
              <a:spcBef>
                <a:spcPts val="335"/>
              </a:spcBef>
              <a:spcAft>
                <a:spcPts val="0"/>
              </a:spcAft>
              <a:buNone/>
            </a:pPr>
            <a:r>
              <a:rPr b="1" lang="en-US" sz="1400">
                <a:latin typeface="Calibri"/>
                <a:ea typeface="Calibri"/>
                <a:cs typeface="Calibri"/>
                <a:sym typeface="Calibri"/>
              </a:rPr>
              <a:t>Missing at Random (MAR) </a:t>
            </a:r>
            <a:r>
              <a:rPr lang="en-US" sz="1400">
                <a:latin typeface="Calibri"/>
                <a:ea typeface="Calibri"/>
                <a:cs typeface="Calibri"/>
                <a:sym typeface="Calibri"/>
              </a:rPr>
              <a:t>– probability of the value being missing is </a:t>
            </a:r>
            <a:r>
              <a:rPr lang="en-US" sz="1400" u="sng">
                <a:latin typeface="Calibri"/>
                <a:ea typeface="Calibri"/>
                <a:cs typeface="Calibri"/>
                <a:sym typeface="Calibri"/>
              </a:rPr>
              <a:t>related to the value of the variable</a:t>
            </a:r>
            <a:r>
              <a:rPr lang="en-US" sz="1400">
                <a:latin typeface="Calibri"/>
                <a:ea typeface="Calibri"/>
                <a:cs typeface="Calibri"/>
                <a:sym typeface="Calibri"/>
              </a:rPr>
              <a:t> or other variables in the dataset. Consider an example of taking a professional survey: people who are not upgrading their skills might leave some fields blank in the questionnaire.</a:t>
            </a:r>
            <a:endParaRPr sz="1400">
              <a:latin typeface="Calibri"/>
              <a:ea typeface="Calibri"/>
              <a:cs typeface="Calibri"/>
              <a:sym typeface="Calibri"/>
            </a:endParaRPr>
          </a:p>
          <a:p>
            <a:pPr indent="0" lvl="0" marL="12700" marR="5080" rtl="0" algn="just">
              <a:lnSpc>
                <a:spcPct val="100000"/>
              </a:lnSpc>
              <a:spcBef>
                <a:spcPts val="340"/>
              </a:spcBef>
              <a:spcAft>
                <a:spcPts val="0"/>
              </a:spcAft>
              <a:buNone/>
            </a:pPr>
            <a:r>
              <a:rPr b="1" lang="en-US" sz="1400">
                <a:latin typeface="Calibri"/>
                <a:ea typeface="Calibri"/>
                <a:cs typeface="Calibri"/>
                <a:sym typeface="Calibri"/>
              </a:rPr>
              <a:t>Missing Not at Random (MNAR) </a:t>
            </a:r>
            <a:r>
              <a:rPr lang="en-US" sz="1400">
                <a:latin typeface="Calibri"/>
                <a:ea typeface="Calibri"/>
                <a:cs typeface="Calibri"/>
                <a:sym typeface="Calibri"/>
              </a:rPr>
              <a:t>– probability of being missing is </a:t>
            </a:r>
            <a:r>
              <a:rPr lang="en-US" sz="1400" u="sng">
                <a:latin typeface="Calibri"/>
                <a:ea typeface="Calibri"/>
                <a:cs typeface="Calibri"/>
                <a:sym typeface="Calibri"/>
              </a:rPr>
              <a:t>completely different</a:t>
            </a:r>
            <a:r>
              <a:rPr lang="en-US" sz="1400">
                <a:latin typeface="Calibri"/>
                <a:ea typeface="Calibri"/>
                <a:cs typeface="Calibri"/>
                <a:sym typeface="Calibri"/>
              </a:rPr>
              <a:t> for different values of the same variable, and these reasons can be unknown. Consider an example of married couples survey: they might not want to answer certain questions as they might feel embarrassed to do so.</a:t>
            </a:r>
            <a:endParaRPr sz="1400">
              <a:latin typeface="Calibri"/>
              <a:ea typeface="Calibri"/>
              <a:cs typeface="Calibri"/>
              <a:sym typeface="Calibri"/>
            </a:endParaRPr>
          </a:p>
        </p:txBody>
      </p:sp>
      <p:pic>
        <p:nvPicPr>
          <p:cNvPr id="110" name="Google Shape;110;p7"/>
          <p:cNvPicPr preferRelativeResize="0"/>
          <p:nvPr/>
        </p:nvPicPr>
        <p:blipFill rotWithShape="1">
          <a:blip r:embed="rId3">
            <a:alphaModFix/>
          </a:blip>
          <a:srcRect b="0" l="0" r="0" t="0"/>
          <a:stretch/>
        </p:blipFill>
        <p:spPr>
          <a:xfrm>
            <a:off x="548640" y="1348358"/>
            <a:ext cx="114300" cy="124967"/>
          </a:xfrm>
          <a:prstGeom prst="rect">
            <a:avLst/>
          </a:prstGeom>
          <a:noFill/>
          <a:ln>
            <a:noFill/>
          </a:ln>
        </p:spPr>
      </p:pic>
      <p:pic>
        <p:nvPicPr>
          <p:cNvPr id="111" name="Google Shape;111;p7"/>
          <p:cNvPicPr preferRelativeResize="0"/>
          <p:nvPr/>
        </p:nvPicPr>
        <p:blipFill rotWithShape="1">
          <a:blip r:embed="rId3">
            <a:alphaModFix/>
          </a:blip>
          <a:srcRect b="0" l="0" r="0" t="0"/>
          <a:stretch/>
        </p:blipFill>
        <p:spPr>
          <a:xfrm>
            <a:off x="548640" y="2457830"/>
            <a:ext cx="114300" cy="124968"/>
          </a:xfrm>
          <a:prstGeom prst="rect">
            <a:avLst/>
          </a:prstGeom>
          <a:noFill/>
          <a:ln>
            <a:noFill/>
          </a:ln>
        </p:spPr>
      </p:pic>
      <p:pic>
        <p:nvPicPr>
          <p:cNvPr id="112" name="Google Shape;112;p7"/>
          <p:cNvPicPr preferRelativeResize="0"/>
          <p:nvPr/>
        </p:nvPicPr>
        <p:blipFill rotWithShape="1">
          <a:blip r:embed="rId3">
            <a:alphaModFix/>
          </a:blip>
          <a:srcRect b="0" l="0" r="0" t="0"/>
          <a:stretch/>
        </p:blipFill>
        <p:spPr>
          <a:xfrm>
            <a:off x="548640" y="3567303"/>
            <a:ext cx="114300" cy="124968"/>
          </a:xfrm>
          <a:prstGeom prst="rect">
            <a:avLst/>
          </a:prstGeom>
          <a:noFill/>
          <a:ln>
            <a:noFill/>
          </a:ln>
        </p:spPr>
      </p:pic>
      <p:pic>
        <p:nvPicPr>
          <p:cNvPr id="113" name="Google Shape;113;p7"/>
          <p:cNvPicPr preferRelativeResize="0"/>
          <p:nvPr/>
        </p:nvPicPr>
        <p:blipFill rotWithShape="1">
          <a:blip r:embed="rId4">
            <a:alphaModFix/>
          </a:blip>
          <a:srcRect b="0" l="0" r="0" t="0"/>
          <a:stretch/>
        </p:blipFill>
        <p:spPr>
          <a:xfrm>
            <a:off x="6455664" y="1339596"/>
            <a:ext cx="1729739" cy="1511808"/>
          </a:xfrm>
          <a:prstGeom prst="rect">
            <a:avLst/>
          </a:prstGeom>
          <a:noFill/>
          <a:ln>
            <a:noFill/>
          </a:ln>
        </p:spPr>
      </p:pic>
      <p:pic>
        <p:nvPicPr>
          <p:cNvPr id="114" name="Google Shape;114;p7"/>
          <p:cNvPicPr preferRelativeResize="0"/>
          <p:nvPr/>
        </p:nvPicPr>
        <p:blipFill rotWithShape="1">
          <a:blip r:embed="rId5">
            <a:alphaModFix/>
          </a:blip>
          <a:srcRect b="0" l="0" r="0" t="0"/>
          <a:stretch/>
        </p:blipFill>
        <p:spPr>
          <a:xfrm>
            <a:off x="6111240" y="3288892"/>
            <a:ext cx="2270693" cy="1077367"/>
          </a:xfrm>
          <a:prstGeom prst="rect">
            <a:avLst/>
          </a:prstGeom>
          <a:noFill/>
          <a:ln>
            <a:noFill/>
          </a:ln>
        </p:spPr>
      </p:pic>
      <p:sp>
        <p:nvSpPr>
          <p:cNvPr id="115" name="Google Shape;115;p7"/>
          <p:cNvSpPr txBox="1"/>
          <p:nvPr>
            <p:ph idx="12" type="sldNum"/>
          </p:nvPr>
        </p:nvSpPr>
        <p:spPr>
          <a:xfrm>
            <a:off x="8401811" y="4830876"/>
            <a:ext cx="244475" cy="177800"/>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8"/>
          <p:cNvSpPr txBox="1"/>
          <p:nvPr>
            <p:ph type="title"/>
          </p:nvPr>
        </p:nvSpPr>
        <p:spPr>
          <a:xfrm>
            <a:off x="535940" y="454913"/>
            <a:ext cx="7536815" cy="87884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lang="en-US"/>
              <a:t>Missing data (MAR, MNAR) requires more complex approach</a:t>
            </a:r>
            <a:endParaRPr/>
          </a:p>
        </p:txBody>
      </p:sp>
      <p:sp>
        <p:nvSpPr>
          <p:cNvPr id="121" name="Google Shape;121;p8"/>
          <p:cNvSpPr txBox="1"/>
          <p:nvPr>
            <p:ph idx="12" type="sldNum"/>
          </p:nvPr>
        </p:nvSpPr>
        <p:spPr>
          <a:xfrm>
            <a:off x="8401811" y="4830876"/>
            <a:ext cx="244475" cy="177800"/>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graphicFrame>
        <p:nvGraphicFramePr>
          <p:cNvPr id="122" name="Google Shape;122;p8"/>
          <p:cNvGraphicFramePr/>
          <p:nvPr/>
        </p:nvGraphicFramePr>
        <p:xfrm>
          <a:off x="594702" y="1528191"/>
          <a:ext cx="3000000" cy="3000000"/>
        </p:xfrm>
        <a:graphic>
          <a:graphicData uri="http://schemas.openxmlformats.org/drawingml/2006/table">
            <a:tbl>
              <a:tblPr bandRow="1" firstRow="1">
                <a:noFill/>
                <a:tableStyleId>{EB8C60D3-4BFF-4D49-A3F0-F6A5A3613A8E}</a:tableStyleId>
              </a:tblPr>
              <a:tblGrid>
                <a:gridCol w="1929125"/>
                <a:gridCol w="3374400"/>
                <a:gridCol w="2724150"/>
              </a:tblGrid>
              <a:tr h="443225">
                <a:tc>
                  <a:txBody>
                    <a:bodyPr/>
                    <a:lstStyle/>
                    <a:p>
                      <a:pPr indent="0" lvl="0" marL="88900" marR="0" rtl="0" algn="l">
                        <a:lnSpc>
                          <a:spcPct val="100000"/>
                        </a:lnSpc>
                        <a:spcBef>
                          <a:spcPts val="0"/>
                        </a:spcBef>
                        <a:spcAft>
                          <a:spcPts val="0"/>
                        </a:spcAft>
                        <a:buNone/>
                      </a:pPr>
                      <a:r>
                        <a:rPr b="1" lang="en-US" sz="1400" u="none" cap="none" strike="noStrike">
                          <a:latin typeface="Calibri"/>
                          <a:ea typeface="Calibri"/>
                          <a:cs typeface="Calibri"/>
                          <a:sym typeface="Calibri"/>
                        </a:rPr>
                        <a:t>Type of missing data</a:t>
                      </a:r>
                      <a:endParaRPr sz="1400" u="none" cap="none" strike="noStrike">
                        <a:latin typeface="Calibri"/>
                        <a:ea typeface="Calibri"/>
                        <a:cs typeface="Calibri"/>
                        <a:sym typeface="Calibri"/>
                      </a:endParaRPr>
                    </a:p>
                  </a:txBody>
                  <a:tcPr marT="103500" marB="0" marR="0" marL="0">
                    <a:lnT cap="flat" cmpd="sng" w="9525">
                      <a:solidFill>
                        <a:srgbClr val="E8E8ED"/>
                      </a:solidFill>
                      <a:prstDash val="solid"/>
                      <a:round/>
                      <a:headEnd len="sm" w="sm" type="none"/>
                      <a:tailEnd len="sm" w="sm" type="none"/>
                    </a:lnT>
                    <a:lnB cap="flat" cmpd="sng" w="9525">
                      <a:solidFill>
                        <a:srgbClr val="E8E8ED"/>
                      </a:solidFill>
                      <a:prstDash val="solid"/>
                      <a:round/>
                      <a:headEnd len="sm" w="sm" type="none"/>
                      <a:tailEnd len="sm" w="sm" type="none"/>
                    </a:lnB>
                    <a:solidFill>
                      <a:srgbClr val="F7F3EB"/>
                    </a:solidFill>
                  </a:tcPr>
                </a:tc>
                <a:tc>
                  <a:txBody>
                    <a:bodyPr/>
                    <a:lstStyle/>
                    <a:p>
                      <a:pPr indent="0" lvl="0" marL="135890" marR="0" rtl="0" algn="l">
                        <a:lnSpc>
                          <a:spcPct val="100000"/>
                        </a:lnSpc>
                        <a:spcBef>
                          <a:spcPts val="0"/>
                        </a:spcBef>
                        <a:spcAft>
                          <a:spcPts val="0"/>
                        </a:spcAft>
                        <a:buNone/>
                      </a:pPr>
                      <a:r>
                        <a:rPr b="1" lang="en-US" sz="1400" u="none" cap="none" strike="noStrike">
                          <a:latin typeface="Calibri"/>
                          <a:ea typeface="Calibri"/>
                          <a:cs typeface="Calibri"/>
                          <a:sym typeface="Calibri"/>
                        </a:rPr>
                        <a:t>The reason</a:t>
                      </a:r>
                      <a:endParaRPr sz="1400" u="none" cap="none" strike="noStrike">
                        <a:latin typeface="Calibri"/>
                        <a:ea typeface="Calibri"/>
                        <a:cs typeface="Calibri"/>
                        <a:sym typeface="Calibri"/>
                      </a:endParaRPr>
                    </a:p>
                  </a:txBody>
                  <a:tcPr marT="103500" marB="0" marR="0" marL="0">
                    <a:lnT cap="flat" cmpd="sng" w="9525">
                      <a:solidFill>
                        <a:srgbClr val="E8E8ED"/>
                      </a:solidFill>
                      <a:prstDash val="solid"/>
                      <a:round/>
                      <a:headEnd len="sm" w="sm" type="none"/>
                      <a:tailEnd len="sm" w="sm" type="none"/>
                    </a:lnT>
                    <a:lnB cap="flat" cmpd="sng" w="9525">
                      <a:solidFill>
                        <a:srgbClr val="E8E8ED"/>
                      </a:solidFill>
                      <a:prstDash val="solid"/>
                      <a:round/>
                      <a:headEnd len="sm" w="sm" type="none"/>
                      <a:tailEnd len="sm" w="sm" type="none"/>
                    </a:lnB>
                    <a:solidFill>
                      <a:srgbClr val="F7F3EB"/>
                    </a:solidFill>
                  </a:tcPr>
                </a:tc>
                <a:tc>
                  <a:txBody>
                    <a:bodyPr/>
                    <a:lstStyle/>
                    <a:p>
                      <a:pPr indent="0" lvl="0" marL="91440" marR="0" rtl="0" algn="l">
                        <a:lnSpc>
                          <a:spcPct val="100000"/>
                        </a:lnSpc>
                        <a:spcBef>
                          <a:spcPts val="0"/>
                        </a:spcBef>
                        <a:spcAft>
                          <a:spcPts val="0"/>
                        </a:spcAft>
                        <a:buNone/>
                      </a:pPr>
                      <a:r>
                        <a:rPr b="1" lang="en-US" sz="1400" u="none" cap="none" strike="noStrike">
                          <a:latin typeface="Calibri"/>
                          <a:ea typeface="Calibri"/>
                          <a:cs typeface="Calibri"/>
                          <a:sym typeface="Calibri"/>
                        </a:rPr>
                        <a:t>Imputation method</a:t>
                      </a:r>
                      <a:endParaRPr sz="1400" u="none" cap="none" strike="noStrike">
                        <a:latin typeface="Calibri"/>
                        <a:ea typeface="Calibri"/>
                        <a:cs typeface="Calibri"/>
                        <a:sym typeface="Calibri"/>
                      </a:endParaRPr>
                    </a:p>
                  </a:txBody>
                  <a:tcPr marT="103500" marB="0" marR="0" marL="0">
                    <a:lnT cap="flat" cmpd="sng" w="9525">
                      <a:solidFill>
                        <a:srgbClr val="E8E8ED"/>
                      </a:solidFill>
                      <a:prstDash val="solid"/>
                      <a:round/>
                      <a:headEnd len="sm" w="sm" type="none"/>
                      <a:tailEnd len="sm" w="sm" type="none"/>
                    </a:lnT>
                    <a:lnB cap="flat" cmpd="sng" w="9525">
                      <a:solidFill>
                        <a:srgbClr val="E8E8ED"/>
                      </a:solidFill>
                      <a:prstDash val="solid"/>
                      <a:round/>
                      <a:headEnd len="sm" w="sm" type="none"/>
                      <a:tailEnd len="sm" w="sm" type="none"/>
                    </a:lnB>
                    <a:solidFill>
                      <a:srgbClr val="F7F3EB"/>
                    </a:solidFill>
                  </a:tcPr>
                </a:tc>
              </a:tr>
              <a:tr h="932175">
                <a:tc>
                  <a:txBody>
                    <a:bodyPr/>
                    <a:lstStyle/>
                    <a:p>
                      <a:pPr indent="0" lvl="0" marL="0" marR="0"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p>
                      <a:pPr indent="0" lvl="0" marL="88900" marR="0" rtl="0" algn="l">
                        <a:lnSpc>
                          <a:spcPct val="100000"/>
                        </a:lnSpc>
                        <a:spcBef>
                          <a:spcPts val="5"/>
                        </a:spcBef>
                        <a:spcAft>
                          <a:spcPts val="0"/>
                        </a:spcAft>
                        <a:buNone/>
                      </a:pPr>
                      <a:r>
                        <a:rPr lang="en-US" sz="1400" u="none" cap="none" strike="noStrike">
                          <a:latin typeface="Calibri"/>
                          <a:ea typeface="Calibri"/>
                          <a:cs typeface="Calibri"/>
                          <a:sym typeface="Calibri"/>
                        </a:rPr>
                        <a:t>Missing Completely At</a:t>
                      </a:r>
                      <a:endParaRPr sz="1400" u="none" cap="none" strike="noStrike">
                        <a:latin typeface="Calibri"/>
                        <a:ea typeface="Calibri"/>
                        <a:cs typeface="Calibri"/>
                        <a:sym typeface="Calibri"/>
                      </a:endParaRPr>
                    </a:p>
                    <a:p>
                      <a:pPr indent="0" lvl="0" marL="88900" marR="0" rtl="0" algn="l">
                        <a:lnSpc>
                          <a:spcPct val="100000"/>
                        </a:lnSpc>
                        <a:spcBef>
                          <a:spcPts val="0"/>
                        </a:spcBef>
                        <a:spcAft>
                          <a:spcPts val="0"/>
                        </a:spcAft>
                        <a:buNone/>
                      </a:pPr>
                      <a:r>
                        <a:rPr lang="en-US" sz="1400" u="none" cap="none" strike="noStrike">
                          <a:latin typeface="Calibri"/>
                          <a:ea typeface="Calibri"/>
                          <a:cs typeface="Calibri"/>
                          <a:sym typeface="Calibri"/>
                        </a:rPr>
                        <a:t>Random</a:t>
                      </a:r>
                      <a:endParaRPr sz="1400" u="none" cap="none" strike="noStrike">
                        <a:latin typeface="Calibri"/>
                        <a:ea typeface="Calibri"/>
                        <a:cs typeface="Calibri"/>
                        <a:sym typeface="Calibri"/>
                      </a:endParaRPr>
                    </a:p>
                  </a:txBody>
                  <a:tcPr marT="36825" marB="0" marR="0" marL="0">
                    <a:lnT cap="flat" cmpd="sng" w="9525">
                      <a:solidFill>
                        <a:srgbClr val="E8E8ED"/>
                      </a:solidFill>
                      <a:prstDash val="solid"/>
                      <a:round/>
                      <a:headEnd len="sm" w="sm" type="none"/>
                      <a:tailEnd len="sm" w="sm" type="none"/>
                    </a:lnT>
                    <a:lnB cap="flat" cmpd="sng" w="9525">
                      <a:solidFill>
                        <a:srgbClr val="E8E8ED"/>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p>
                      <a:pPr indent="0" lvl="0" marL="135890" marR="0" rtl="0" algn="l">
                        <a:lnSpc>
                          <a:spcPct val="100000"/>
                        </a:lnSpc>
                        <a:spcBef>
                          <a:spcPts val="5"/>
                        </a:spcBef>
                        <a:spcAft>
                          <a:spcPts val="0"/>
                        </a:spcAft>
                        <a:buNone/>
                      </a:pPr>
                      <a:r>
                        <a:rPr lang="en-US" sz="1400" u="none" cap="none" strike="noStrike">
                          <a:latin typeface="Calibri"/>
                          <a:ea typeface="Calibri"/>
                          <a:cs typeface="Calibri"/>
                          <a:sym typeface="Calibri"/>
                        </a:rPr>
                        <a:t>Data missing is independent of the</a:t>
                      </a:r>
                      <a:endParaRPr sz="1400" u="none" cap="none" strike="noStrike">
                        <a:latin typeface="Calibri"/>
                        <a:ea typeface="Calibri"/>
                        <a:cs typeface="Calibri"/>
                        <a:sym typeface="Calibri"/>
                      </a:endParaRPr>
                    </a:p>
                    <a:p>
                      <a:pPr indent="0" lvl="0" marL="135890" marR="0" rtl="0" algn="l">
                        <a:lnSpc>
                          <a:spcPct val="100000"/>
                        </a:lnSpc>
                        <a:spcBef>
                          <a:spcPts val="0"/>
                        </a:spcBef>
                        <a:spcAft>
                          <a:spcPts val="0"/>
                        </a:spcAft>
                        <a:buNone/>
                      </a:pPr>
                      <a:r>
                        <a:rPr lang="en-US" sz="1400" u="none" cap="none" strike="noStrike">
                          <a:latin typeface="Calibri"/>
                          <a:ea typeface="Calibri"/>
                          <a:cs typeface="Calibri"/>
                          <a:sym typeface="Calibri"/>
                        </a:rPr>
                        <a:t>observed and unobserved data</a:t>
                      </a:r>
                      <a:endParaRPr sz="1400" u="none" cap="none" strike="noStrike">
                        <a:latin typeface="Calibri"/>
                        <a:ea typeface="Calibri"/>
                        <a:cs typeface="Calibri"/>
                        <a:sym typeface="Calibri"/>
                      </a:endParaRPr>
                    </a:p>
                  </a:txBody>
                  <a:tcPr marT="36825" marB="0" marR="0" marL="0">
                    <a:lnT cap="flat" cmpd="sng" w="9525">
                      <a:solidFill>
                        <a:srgbClr val="E8E8ED"/>
                      </a:solidFill>
                      <a:prstDash val="solid"/>
                      <a:round/>
                      <a:headEnd len="sm" w="sm" type="none"/>
                      <a:tailEnd len="sm" w="sm" type="none"/>
                    </a:lnT>
                    <a:lnB cap="flat" cmpd="sng" w="9525">
                      <a:solidFill>
                        <a:srgbClr val="E8E8ED"/>
                      </a:solidFill>
                      <a:prstDash val="solid"/>
                      <a:round/>
                      <a:headEnd len="sm" w="sm" type="none"/>
                      <a:tailEnd len="sm" w="sm" type="none"/>
                    </a:lnB>
                  </a:tcPr>
                </a:tc>
                <a:tc>
                  <a:txBody>
                    <a:bodyPr/>
                    <a:lstStyle/>
                    <a:p>
                      <a:pPr indent="0" lvl="0" marL="91440" marR="424180" rtl="0" algn="l">
                        <a:lnSpc>
                          <a:spcPct val="100000"/>
                        </a:lnSpc>
                        <a:spcBef>
                          <a:spcPts val="0"/>
                        </a:spcBef>
                        <a:spcAft>
                          <a:spcPts val="0"/>
                        </a:spcAft>
                        <a:buNone/>
                      </a:pPr>
                      <a:r>
                        <a:rPr lang="en-US" sz="1400" u="none" cap="none" strike="noStrike">
                          <a:latin typeface="Calibri"/>
                          <a:ea typeface="Calibri"/>
                          <a:cs typeface="Calibri"/>
                          <a:sym typeface="Calibri"/>
                        </a:rPr>
                        <a:t>Data dropping, Mean/Median, Random Sample or any other imputation method</a:t>
                      </a:r>
                      <a:endParaRPr sz="1400" u="none" cap="none" strike="noStrike">
                        <a:latin typeface="Calibri"/>
                        <a:ea typeface="Calibri"/>
                        <a:cs typeface="Calibri"/>
                        <a:sym typeface="Calibri"/>
                      </a:endParaRPr>
                    </a:p>
                  </a:txBody>
                  <a:tcPr marT="135250" marB="0" marR="0" marL="0">
                    <a:lnT cap="flat" cmpd="sng" w="9525">
                      <a:solidFill>
                        <a:srgbClr val="E8E8ED"/>
                      </a:solidFill>
                      <a:prstDash val="solid"/>
                      <a:round/>
                      <a:headEnd len="sm" w="sm" type="none"/>
                      <a:tailEnd len="sm" w="sm" type="none"/>
                    </a:lnT>
                    <a:lnB cap="flat" cmpd="sng" w="9525">
                      <a:solidFill>
                        <a:srgbClr val="E8E8ED"/>
                      </a:solidFill>
                      <a:prstDash val="solid"/>
                      <a:round/>
                      <a:headEnd len="sm" w="sm" type="none"/>
                      <a:tailEnd len="sm" w="sm" type="none"/>
                    </a:lnB>
                  </a:tcPr>
                </a:tc>
              </a:tr>
              <a:tr h="687700">
                <a:tc>
                  <a:txBody>
                    <a:bodyPr/>
                    <a:lstStyle/>
                    <a:p>
                      <a:pPr indent="0" lvl="0" marL="0" marR="0"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p>
                      <a:pPr indent="0" lvl="0" marL="88900" marR="0" rtl="0" algn="l">
                        <a:lnSpc>
                          <a:spcPct val="100000"/>
                        </a:lnSpc>
                        <a:spcBef>
                          <a:spcPts val="0"/>
                        </a:spcBef>
                        <a:spcAft>
                          <a:spcPts val="0"/>
                        </a:spcAft>
                        <a:buNone/>
                      </a:pPr>
                      <a:r>
                        <a:rPr lang="en-US" sz="1400" u="none" cap="none" strike="noStrike">
                          <a:latin typeface="Calibri"/>
                          <a:ea typeface="Calibri"/>
                          <a:cs typeface="Calibri"/>
                          <a:sym typeface="Calibri"/>
                        </a:rPr>
                        <a:t>Missing At Random</a:t>
                      </a:r>
                      <a:endParaRPr sz="1400" u="none" cap="none" strike="noStrike">
                        <a:latin typeface="Calibri"/>
                        <a:ea typeface="Calibri"/>
                        <a:cs typeface="Calibri"/>
                        <a:sym typeface="Calibri"/>
                      </a:endParaRPr>
                    </a:p>
                  </a:txBody>
                  <a:tcPr marT="22225" marB="0" marR="0" marL="0">
                    <a:lnT cap="flat" cmpd="sng" w="9525">
                      <a:solidFill>
                        <a:srgbClr val="E8E8ED"/>
                      </a:solidFill>
                      <a:prstDash val="solid"/>
                      <a:round/>
                      <a:headEnd len="sm" w="sm" type="none"/>
                      <a:tailEnd len="sm" w="sm" type="none"/>
                    </a:lnT>
                    <a:lnB cap="flat" cmpd="sng" w="9525">
                      <a:solidFill>
                        <a:srgbClr val="E8E8ED"/>
                      </a:solidFill>
                      <a:prstDash val="solid"/>
                      <a:round/>
                      <a:headEnd len="sm" w="sm" type="none"/>
                      <a:tailEnd len="sm" w="sm" type="none"/>
                    </a:lnB>
                  </a:tcPr>
                </a:tc>
                <a:tc>
                  <a:txBody>
                    <a:bodyPr/>
                    <a:lstStyle/>
                    <a:p>
                      <a:pPr indent="0" lvl="0" marL="135890" marR="0" rtl="0" algn="l">
                        <a:lnSpc>
                          <a:spcPct val="100000"/>
                        </a:lnSpc>
                        <a:spcBef>
                          <a:spcPts val="0"/>
                        </a:spcBef>
                        <a:spcAft>
                          <a:spcPts val="0"/>
                        </a:spcAft>
                        <a:buNone/>
                      </a:pPr>
                      <a:r>
                        <a:rPr lang="en-US" sz="1400" u="none" cap="none" strike="noStrike">
                          <a:latin typeface="Calibri"/>
                          <a:ea typeface="Calibri"/>
                          <a:cs typeface="Calibri"/>
                          <a:sym typeface="Calibri"/>
                        </a:rPr>
                        <a:t>Data missing is systematically related to the</a:t>
                      </a:r>
                      <a:endParaRPr sz="1400" u="none" cap="none" strike="noStrike">
                        <a:latin typeface="Calibri"/>
                        <a:ea typeface="Calibri"/>
                        <a:cs typeface="Calibri"/>
                        <a:sym typeface="Calibri"/>
                      </a:endParaRPr>
                    </a:p>
                    <a:p>
                      <a:pPr indent="0" lvl="0" marL="135890" marR="0" rtl="0" algn="l">
                        <a:lnSpc>
                          <a:spcPct val="100000"/>
                        </a:lnSpc>
                        <a:spcBef>
                          <a:spcPts val="5"/>
                        </a:spcBef>
                        <a:spcAft>
                          <a:spcPts val="0"/>
                        </a:spcAft>
                        <a:buNone/>
                      </a:pPr>
                      <a:r>
                        <a:rPr lang="en-US" sz="1400" u="none" cap="none" strike="noStrike">
                          <a:latin typeface="Calibri"/>
                          <a:ea typeface="Calibri"/>
                          <a:cs typeface="Calibri"/>
                          <a:sym typeface="Calibri"/>
                        </a:rPr>
                        <a:t>observed but not the unobserved data</a:t>
                      </a:r>
                      <a:endParaRPr sz="1400" u="none" cap="none" strike="noStrike">
                        <a:latin typeface="Calibri"/>
                        <a:ea typeface="Calibri"/>
                        <a:cs typeface="Calibri"/>
                        <a:sym typeface="Calibri"/>
                      </a:endParaRPr>
                    </a:p>
                  </a:txBody>
                  <a:tcPr marT="119375" marB="0" marR="0" marL="0">
                    <a:lnT cap="flat" cmpd="sng" w="9525">
                      <a:solidFill>
                        <a:srgbClr val="E8E8ED"/>
                      </a:solidFill>
                      <a:prstDash val="solid"/>
                      <a:round/>
                      <a:headEnd len="sm" w="sm" type="none"/>
                      <a:tailEnd len="sm" w="sm" type="none"/>
                    </a:lnT>
                    <a:lnB cap="flat" cmpd="sng" w="9525">
                      <a:solidFill>
                        <a:srgbClr val="E8E8ED"/>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lang="en-US" sz="1400" u="none" cap="none" strike="noStrike">
                          <a:latin typeface="Calibri"/>
                          <a:ea typeface="Calibri"/>
                          <a:cs typeface="Calibri"/>
                          <a:sym typeface="Calibri"/>
                        </a:rPr>
                        <a:t>Multiple imputation, Regression</a:t>
                      </a:r>
                      <a:endParaRPr sz="1400" u="none" cap="none" strike="noStrike">
                        <a:latin typeface="Calibri"/>
                        <a:ea typeface="Calibri"/>
                        <a:cs typeface="Calibri"/>
                        <a:sym typeface="Calibri"/>
                      </a:endParaRPr>
                    </a:p>
                    <a:p>
                      <a:pPr indent="0" lvl="0" marL="91440" marR="0" rtl="0" algn="l">
                        <a:lnSpc>
                          <a:spcPct val="100000"/>
                        </a:lnSpc>
                        <a:spcBef>
                          <a:spcPts val="5"/>
                        </a:spcBef>
                        <a:spcAft>
                          <a:spcPts val="0"/>
                        </a:spcAft>
                        <a:buNone/>
                      </a:pPr>
                      <a:r>
                        <a:rPr lang="en-US" sz="1400" u="none" cap="none" strike="noStrike">
                          <a:latin typeface="Calibri"/>
                          <a:ea typeface="Calibri"/>
                          <a:cs typeface="Calibri"/>
                          <a:sym typeface="Calibri"/>
                        </a:rPr>
                        <a:t>imputation</a:t>
                      </a:r>
                      <a:endParaRPr sz="1400" u="none" cap="none" strike="noStrike">
                        <a:latin typeface="Calibri"/>
                        <a:ea typeface="Calibri"/>
                        <a:cs typeface="Calibri"/>
                        <a:sym typeface="Calibri"/>
                      </a:endParaRPr>
                    </a:p>
                  </a:txBody>
                  <a:tcPr marT="119375" marB="0" marR="0" marL="0">
                    <a:lnT cap="flat" cmpd="sng" w="9525">
                      <a:solidFill>
                        <a:srgbClr val="E8E8ED"/>
                      </a:solidFill>
                      <a:prstDash val="solid"/>
                      <a:round/>
                      <a:headEnd len="sm" w="sm" type="none"/>
                      <a:tailEnd len="sm" w="sm" type="none"/>
                    </a:lnT>
                    <a:lnB cap="flat" cmpd="sng" w="9525">
                      <a:solidFill>
                        <a:srgbClr val="E8E8ED"/>
                      </a:solidFill>
                      <a:prstDash val="solid"/>
                      <a:round/>
                      <a:headEnd len="sm" w="sm" type="none"/>
                      <a:tailEnd len="sm" w="sm" type="none"/>
                    </a:lnB>
                  </a:tcPr>
                </a:tc>
              </a:tr>
              <a:tr h="677550">
                <a:tc>
                  <a:txBody>
                    <a:bodyPr/>
                    <a:lstStyle/>
                    <a:p>
                      <a:pPr indent="0" lvl="0" marL="0" marR="0"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p>
                      <a:pPr indent="0" lvl="0" marL="88900" marR="0" rtl="0" algn="l">
                        <a:lnSpc>
                          <a:spcPct val="100000"/>
                        </a:lnSpc>
                        <a:spcBef>
                          <a:spcPts val="0"/>
                        </a:spcBef>
                        <a:spcAft>
                          <a:spcPts val="0"/>
                        </a:spcAft>
                        <a:buNone/>
                      </a:pPr>
                      <a:r>
                        <a:rPr lang="en-US" sz="1400" u="none" cap="none" strike="noStrike">
                          <a:latin typeface="Calibri"/>
                          <a:ea typeface="Calibri"/>
                          <a:cs typeface="Calibri"/>
                          <a:sym typeface="Calibri"/>
                        </a:rPr>
                        <a:t>Missing Not At Random</a:t>
                      </a:r>
                      <a:endParaRPr sz="1400" u="none" cap="none" strike="noStrike">
                        <a:latin typeface="Calibri"/>
                        <a:ea typeface="Calibri"/>
                        <a:cs typeface="Calibri"/>
                        <a:sym typeface="Calibri"/>
                      </a:endParaRPr>
                    </a:p>
                  </a:txBody>
                  <a:tcPr marT="144150" marB="0" marR="0" marL="0">
                    <a:lnT cap="flat" cmpd="sng" w="9525">
                      <a:solidFill>
                        <a:srgbClr val="E8E8ED"/>
                      </a:solidFill>
                      <a:prstDash val="solid"/>
                      <a:round/>
                      <a:headEnd len="sm" w="sm" type="none"/>
                      <a:tailEnd len="sm" w="sm" type="none"/>
                    </a:lnT>
                  </a:tcPr>
                </a:tc>
                <a:tc>
                  <a:txBody>
                    <a:bodyPr/>
                    <a:lstStyle/>
                    <a:p>
                      <a:pPr indent="0" lvl="0" marL="0" marR="0"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p>
                      <a:pPr indent="0" lvl="0" marL="135890" marR="84455" rtl="0" algn="l">
                        <a:lnSpc>
                          <a:spcPct val="100000"/>
                        </a:lnSpc>
                        <a:spcBef>
                          <a:spcPts val="5"/>
                        </a:spcBef>
                        <a:spcAft>
                          <a:spcPts val="0"/>
                        </a:spcAft>
                        <a:buNone/>
                      </a:pPr>
                      <a:r>
                        <a:rPr lang="en-US" sz="1400" u="none" cap="none" strike="noStrike">
                          <a:latin typeface="Calibri"/>
                          <a:ea typeface="Calibri"/>
                          <a:cs typeface="Calibri"/>
                          <a:sym typeface="Calibri"/>
                        </a:rPr>
                        <a:t>Data missing is systematically related to the unobserved data</a:t>
                      </a:r>
                      <a:endParaRPr sz="1400" u="none" cap="none" strike="noStrike">
                        <a:latin typeface="Calibri"/>
                        <a:ea typeface="Calibri"/>
                        <a:cs typeface="Calibri"/>
                        <a:sym typeface="Calibri"/>
                      </a:endParaRPr>
                    </a:p>
                  </a:txBody>
                  <a:tcPr marT="33650" marB="0" marR="0" marL="0">
                    <a:lnT cap="flat" cmpd="sng" w="9525">
                      <a:solidFill>
                        <a:srgbClr val="E8E8ED"/>
                      </a:solidFill>
                      <a:prstDash val="solid"/>
                      <a:round/>
                      <a:headEnd len="sm" w="sm" type="none"/>
                      <a:tailEnd len="sm" w="sm" type="none"/>
                    </a:lnT>
                  </a:tcPr>
                </a:tc>
                <a:tc>
                  <a:txBody>
                    <a:bodyPr/>
                    <a:lstStyle/>
                    <a:p>
                      <a:pPr indent="0" lvl="0" marL="0" marR="0" rtl="0" algn="l">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p>
                      <a:pPr indent="0" lvl="0" marL="91440" marR="0" rtl="0" algn="l">
                        <a:lnSpc>
                          <a:spcPct val="100000"/>
                        </a:lnSpc>
                        <a:spcBef>
                          <a:spcPts val="0"/>
                        </a:spcBef>
                        <a:spcAft>
                          <a:spcPts val="0"/>
                        </a:spcAft>
                        <a:buNone/>
                      </a:pPr>
                      <a:r>
                        <a:rPr lang="en-US" sz="1400" u="none" cap="none" strike="noStrike">
                          <a:latin typeface="Calibri"/>
                          <a:ea typeface="Calibri"/>
                          <a:cs typeface="Calibri"/>
                          <a:sym typeface="Calibri"/>
                        </a:rPr>
                        <a:t>Pattern Substitution</a:t>
                      </a:r>
                      <a:endParaRPr sz="1400" u="none" cap="none" strike="noStrike">
                        <a:latin typeface="Calibri"/>
                        <a:ea typeface="Calibri"/>
                        <a:cs typeface="Calibri"/>
                        <a:sym typeface="Calibri"/>
                      </a:endParaRPr>
                    </a:p>
                  </a:txBody>
                  <a:tcPr marT="144150" marB="0" marR="0" marL="0">
                    <a:lnT cap="flat" cmpd="sng" w="9525">
                      <a:solidFill>
                        <a:srgbClr val="E8E8ED"/>
                      </a:solidFill>
                      <a:prstDash val="solid"/>
                      <a:round/>
                      <a:headEnd len="sm" w="sm" type="none"/>
                      <a:tailEnd len="sm" w="sm" type="none"/>
                    </a:lnT>
                  </a:tcPr>
                </a:tc>
              </a:tr>
            </a:tbl>
          </a:graphicData>
        </a:graphic>
      </p:graphicFrame>
      <p:sp>
        <p:nvSpPr>
          <p:cNvPr id="123" name="Google Shape;123;p8"/>
          <p:cNvSpPr txBox="1"/>
          <p:nvPr/>
        </p:nvSpPr>
        <p:spPr>
          <a:xfrm>
            <a:off x="673709" y="4706213"/>
            <a:ext cx="4558030" cy="177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000" u="sng">
                <a:solidFill>
                  <a:srgbClr val="5F5F5F"/>
                </a:solidFill>
                <a:latin typeface="Calibri"/>
                <a:ea typeface="Calibri"/>
                <a:cs typeface="Calibri"/>
                <a:sym typeface="Calibri"/>
                <a:hlinkClick r:id="rId3">
                  <a:extLst>
                    <a:ext uri="{A12FA001-AC4F-418D-AE19-62706E023703}">
                      <ahyp:hlinkClr val="tx"/>
                    </a:ext>
                  </a:extLst>
                </a:hlinkClick>
              </a:rPr>
              <a:t>Top Techniques to Handle Missing Values Every Data Scientist Should Know | DataCamp</a:t>
            </a:r>
            <a:endParaRPr sz="1000">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type="title"/>
          </p:nvPr>
        </p:nvSpPr>
        <p:spPr>
          <a:xfrm>
            <a:off x="535940" y="454913"/>
            <a:ext cx="7755890" cy="452119"/>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Outliers – anomalies detection</a:t>
            </a:r>
            <a:endParaRPr/>
          </a:p>
        </p:txBody>
      </p:sp>
      <p:sp>
        <p:nvSpPr>
          <p:cNvPr id="129" name="Google Shape;129;p9"/>
          <p:cNvSpPr txBox="1"/>
          <p:nvPr/>
        </p:nvSpPr>
        <p:spPr>
          <a:xfrm>
            <a:off x="769112" y="1718194"/>
            <a:ext cx="2894330" cy="1141979"/>
          </a:xfrm>
          <a:prstGeom prst="rect">
            <a:avLst/>
          </a:prstGeom>
          <a:noFill/>
          <a:ln>
            <a:noFill/>
          </a:ln>
        </p:spPr>
        <p:txBody>
          <a:bodyPr anchorCtr="0" anchor="t" bIns="0" lIns="0" spcFirstLastPara="1" rIns="0" wrap="square" tIns="13325">
            <a:spAutoFit/>
          </a:bodyPr>
          <a:lstStyle/>
          <a:p>
            <a:pPr indent="0" lvl="0" marL="12700" marR="5080" rtl="0" algn="l">
              <a:lnSpc>
                <a:spcPct val="100000"/>
              </a:lnSpc>
              <a:spcBef>
                <a:spcPts val="0"/>
              </a:spcBef>
              <a:spcAft>
                <a:spcPts val="0"/>
              </a:spcAft>
              <a:buNone/>
            </a:pPr>
            <a:r>
              <a:rPr b="1" lang="en-US" sz="1400">
                <a:latin typeface="Calibri"/>
                <a:ea typeface="Calibri"/>
                <a:cs typeface="Calibri"/>
                <a:sym typeface="Calibri"/>
              </a:rPr>
              <a:t>Global outliers </a:t>
            </a:r>
            <a:r>
              <a:rPr lang="en-US" sz="1400">
                <a:latin typeface="Calibri"/>
                <a:ea typeface="Calibri"/>
                <a:cs typeface="Calibri"/>
                <a:sym typeface="Calibri"/>
              </a:rPr>
              <a:t>– data points that are</a:t>
            </a:r>
            <a:endParaRPr/>
          </a:p>
          <a:p>
            <a:pPr indent="0" lvl="0" marL="12700" marR="5080" rtl="0" algn="l">
              <a:lnSpc>
                <a:spcPct val="100000"/>
              </a:lnSpc>
              <a:spcBef>
                <a:spcPts val="105"/>
              </a:spcBef>
              <a:spcAft>
                <a:spcPts val="0"/>
              </a:spcAft>
              <a:buNone/>
            </a:pPr>
            <a:r>
              <a:rPr lang="en-US" sz="1400">
                <a:latin typeface="Calibri"/>
                <a:ea typeface="Calibri"/>
                <a:cs typeface="Calibri"/>
                <a:sym typeface="Calibri"/>
              </a:rPr>
              <a:t>significantly different from the rest of</a:t>
            </a:r>
            <a:endParaRPr/>
          </a:p>
          <a:p>
            <a:pPr indent="0" lvl="0" marL="12700" marR="5080" rtl="0" algn="l">
              <a:lnSpc>
                <a:spcPct val="100000"/>
              </a:lnSpc>
              <a:spcBef>
                <a:spcPts val="105"/>
              </a:spcBef>
              <a:spcAft>
                <a:spcPts val="0"/>
              </a:spcAft>
              <a:buNone/>
            </a:pPr>
            <a:r>
              <a:rPr lang="en-US" sz="1400">
                <a:latin typeface="Calibri"/>
                <a:ea typeface="Calibri"/>
                <a:cs typeface="Calibri"/>
                <a:sym typeface="Calibri"/>
              </a:rPr>
              <a:t>the dataset. Often caused by measurement errors, incorrect data entry, or rare events.</a:t>
            </a:r>
            <a:endParaRPr sz="1400">
              <a:latin typeface="Calibri"/>
              <a:ea typeface="Calibri"/>
              <a:cs typeface="Calibri"/>
              <a:sym typeface="Calibri"/>
            </a:endParaRPr>
          </a:p>
        </p:txBody>
      </p:sp>
      <p:pic>
        <p:nvPicPr>
          <p:cNvPr id="130" name="Google Shape;130;p9"/>
          <p:cNvPicPr preferRelativeResize="0"/>
          <p:nvPr/>
        </p:nvPicPr>
        <p:blipFill rotWithShape="1">
          <a:blip r:embed="rId3">
            <a:alphaModFix/>
          </a:blip>
          <a:srcRect b="0" l="0" r="0" t="0"/>
          <a:stretch/>
        </p:blipFill>
        <p:spPr>
          <a:xfrm>
            <a:off x="438632" y="1806575"/>
            <a:ext cx="114300" cy="124968"/>
          </a:xfrm>
          <a:prstGeom prst="rect">
            <a:avLst/>
          </a:prstGeom>
          <a:noFill/>
          <a:ln>
            <a:noFill/>
          </a:ln>
        </p:spPr>
      </p:pic>
      <p:sp>
        <p:nvSpPr>
          <p:cNvPr id="131" name="Google Shape;131;p9"/>
          <p:cNvSpPr txBox="1"/>
          <p:nvPr/>
        </p:nvSpPr>
        <p:spPr>
          <a:xfrm>
            <a:off x="769112" y="2849372"/>
            <a:ext cx="2892425" cy="887422"/>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b="1" lang="en-US" sz="1400">
                <a:latin typeface="Calibri"/>
                <a:ea typeface="Calibri"/>
                <a:cs typeface="Calibri"/>
                <a:sym typeface="Calibri"/>
              </a:rPr>
              <a:t>Contextual outliers </a:t>
            </a:r>
            <a:r>
              <a:rPr lang="en-US" sz="1400">
                <a:latin typeface="Calibri"/>
                <a:ea typeface="Calibri"/>
                <a:cs typeface="Calibri"/>
                <a:sym typeface="Calibri"/>
              </a:rPr>
              <a:t>– data points that are considered outliers only in specific </a:t>
            </a:r>
            <a:endParaRPr/>
          </a:p>
          <a:p>
            <a:pPr indent="0" lvl="0" marL="12700" marR="5080" rtl="0" algn="l">
              <a:lnSpc>
                <a:spcPct val="100000"/>
              </a:lnSpc>
              <a:spcBef>
                <a:spcPts val="100"/>
              </a:spcBef>
              <a:spcAft>
                <a:spcPts val="0"/>
              </a:spcAft>
              <a:buNone/>
            </a:pPr>
            <a:r>
              <a:rPr lang="en-US" sz="1400">
                <a:latin typeface="Calibri"/>
                <a:ea typeface="Calibri"/>
                <a:cs typeface="Calibri"/>
                <a:sym typeface="Calibri"/>
              </a:rPr>
              <a:t>contexts. (a high income in a low-income neighborhood).</a:t>
            </a:r>
            <a:endParaRPr/>
          </a:p>
        </p:txBody>
      </p:sp>
      <p:pic>
        <p:nvPicPr>
          <p:cNvPr id="132" name="Google Shape;132;p9"/>
          <p:cNvPicPr preferRelativeResize="0"/>
          <p:nvPr/>
        </p:nvPicPr>
        <p:blipFill rotWithShape="1">
          <a:blip r:embed="rId3">
            <a:alphaModFix/>
          </a:blip>
          <a:srcRect b="0" l="0" r="0" t="0"/>
          <a:stretch/>
        </p:blipFill>
        <p:spPr>
          <a:xfrm>
            <a:off x="438632" y="2916047"/>
            <a:ext cx="114300" cy="124968"/>
          </a:xfrm>
          <a:prstGeom prst="rect">
            <a:avLst/>
          </a:prstGeom>
          <a:noFill/>
          <a:ln>
            <a:noFill/>
          </a:ln>
        </p:spPr>
      </p:pic>
      <p:sp>
        <p:nvSpPr>
          <p:cNvPr id="133" name="Google Shape;133;p9"/>
          <p:cNvSpPr txBox="1"/>
          <p:nvPr/>
        </p:nvSpPr>
        <p:spPr>
          <a:xfrm>
            <a:off x="768858" y="3738014"/>
            <a:ext cx="2892424" cy="1090683"/>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b="1" lang="en-US" sz="1400">
                <a:latin typeface="Calibri"/>
                <a:ea typeface="Calibri"/>
                <a:cs typeface="Calibri"/>
                <a:sym typeface="Calibri"/>
              </a:rPr>
              <a:t>Collective outliers </a:t>
            </a:r>
            <a:r>
              <a:rPr lang="en-US" sz="1400">
                <a:latin typeface="Calibri"/>
                <a:ea typeface="Calibri"/>
                <a:cs typeface="Calibri"/>
                <a:sym typeface="Calibri"/>
              </a:rPr>
              <a:t>– groups of data points that are collectively different from the rest of the dataset. Might indicate a subgroup or a different underlying distribution of data.</a:t>
            </a:r>
            <a:endParaRPr sz="1400">
              <a:latin typeface="Calibri"/>
              <a:ea typeface="Calibri"/>
              <a:cs typeface="Calibri"/>
              <a:sym typeface="Calibri"/>
            </a:endParaRPr>
          </a:p>
        </p:txBody>
      </p:sp>
      <p:pic>
        <p:nvPicPr>
          <p:cNvPr id="134" name="Google Shape;134;p9"/>
          <p:cNvPicPr preferRelativeResize="0"/>
          <p:nvPr/>
        </p:nvPicPr>
        <p:blipFill rotWithShape="1">
          <a:blip r:embed="rId3">
            <a:alphaModFix/>
          </a:blip>
          <a:srcRect b="0" l="0" r="0" t="0"/>
          <a:stretch/>
        </p:blipFill>
        <p:spPr>
          <a:xfrm>
            <a:off x="438632" y="3812197"/>
            <a:ext cx="114300" cy="124968"/>
          </a:xfrm>
          <a:prstGeom prst="rect">
            <a:avLst/>
          </a:prstGeom>
          <a:noFill/>
          <a:ln>
            <a:noFill/>
          </a:ln>
        </p:spPr>
      </p:pic>
      <p:sp>
        <p:nvSpPr>
          <p:cNvPr id="135" name="Google Shape;135;p9"/>
          <p:cNvSpPr txBox="1"/>
          <p:nvPr/>
        </p:nvSpPr>
        <p:spPr>
          <a:xfrm>
            <a:off x="4272534" y="1739646"/>
            <a:ext cx="4335780" cy="3141980"/>
          </a:xfrm>
          <a:prstGeom prst="rect">
            <a:avLst/>
          </a:prstGeom>
          <a:noFill/>
          <a:ln>
            <a:noFill/>
          </a:ln>
        </p:spPr>
        <p:txBody>
          <a:bodyPr anchorCtr="0" anchor="t" bIns="0" lIns="0" spcFirstLastPara="1" rIns="0" wrap="square" tIns="13325">
            <a:spAutoFit/>
          </a:bodyPr>
          <a:lstStyle/>
          <a:p>
            <a:pPr indent="0" lvl="0" marL="12700" marR="5080" rtl="0" algn="just">
              <a:lnSpc>
                <a:spcPct val="100000"/>
              </a:lnSpc>
              <a:spcBef>
                <a:spcPts val="0"/>
              </a:spcBef>
              <a:spcAft>
                <a:spcPts val="0"/>
              </a:spcAft>
              <a:buNone/>
            </a:pPr>
            <a:r>
              <a:rPr b="1" lang="en-US" sz="1400">
                <a:latin typeface="Calibri"/>
                <a:ea typeface="Calibri"/>
                <a:cs typeface="Calibri"/>
                <a:sym typeface="Calibri"/>
              </a:rPr>
              <a:t>Skewed statistical analysis </a:t>
            </a:r>
            <a:r>
              <a:rPr lang="en-US" sz="1400">
                <a:latin typeface="Calibri"/>
                <a:ea typeface="Calibri"/>
                <a:cs typeface="Calibri"/>
                <a:sym typeface="Calibri"/>
              </a:rPr>
              <a:t>– significantly affect the mean, variance, and other statistical measures, leading to skewed analysis and inaccurate conclusions.</a:t>
            </a:r>
            <a:endParaRPr sz="1400">
              <a:latin typeface="Calibri"/>
              <a:ea typeface="Calibri"/>
              <a:cs typeface="Calibri"/>
              <a:sym typeface="Calibri"/>
            </a:endParaRPr>
          </a:p>
          <a:p>
            <a:pPr indent="0" lvl="0" marL="12700" marR="5080" rtl="0" algn="just">
              <a:lnSpc>
                <a:spcPct val="100000"/>
              </a:lnSpc>
              <a:spcBef>
                <a:spcPts val="335"/>
              </a:spcBef>
              <a:spcAft>
                <a:spcPts val="0"/>
              </a:spcAft>
              <a:buNone/>
            </a:pPr>
            <a:r>
              <a:rPr b="1" lang="en-US" sz="1400">
                <a:latin typeface="Calibri"/>
                <a:ea typeface="Calibri"/>
                <a:cs typeface="Calibri"/>
                <a:sym typeface="Calibri"/>
              </a:rPr>
              <a:t>Misleading visualizations </a:t>
            </a:r>
            <a:r>
              <a:rPr lang="en-US" sz="1400">
                <a:latin typeface="Calibri"/>
                <a:ea typeface="Calibri"/>
                <a:cs typeface="Calibri"/>
                <a:sym typeface="Calibri"/>
              </a:rPr>
              <a:t>– distort visualizations (scatter plots/histograms), making it difficult to identify patterns and relationships in the data.</a:t>
            </a:r>
            <a:endParaRPr sz="1400">
              <a:latin typeface="Calibri"/>
              <a:ea typeface="Calibri"/>
              <a:cs typeface="Calibri"/>
              <a:sym typeface="Calibri"/>
            </a:endParaRPr>
          </a:p>
          <a:p>
            <a:pPr indent="0" lvl="0" marL="12700" marR="5080" rtl="0" algn="just">
              <a:lnSpc>
                <a:spcPct val="100000"/>
              </a:lnSpc>
              <a:spcBef>
                <a:spcPts val="335"/>
              </a:spcBef>
              <a:spcAft>
                <a:spcPts val="0"/>
              </a:spcAft>
              <a:buNone/>
            </a:pPr>
            <a:r>
              <a:rPr b="1" lang="en-US" sz="1400">
                <a:latin typeface="Calibri"/>
                <a:ea typeface="Calibri"/>
                <a:cs typeface="Calibri"/>
                <a:sym typeface="Calibri"/>
              </a:rPr>
              <a:t>Biased machine learning models </a:t>
            </a:r>
            <a:r>
              <a:rPr lang="en-US" sz="1400">
                <a:latin typeface="Calibri"/>
                <a:ea typeface="Calibri"/>
                <a:cs typeface="Calibri"/>
                <a:sym typeface="Calibri"/>
              </a:rPr>
              <a:t>– have a disproportionate impact on the training of machine learning models, leading to biased or inaccurate predictions.</a:t>
            </a:r>
            <a:endParaRPr sz="1400">
              <a:latin typeface="Calibri"/>
              <a:ea typeface="Calibri"/>
              <a:cs typeface="Calibri"/>
              <a:sym typeface="Calibri"/>
            </a:endParaRPr>
          </a:p>
          <a:p>
            <a:pPr indent="0" lvl="0" marL="12700" marR="5715" rtl="0" algn="just">
              <a:lnSpc>
                <a:spcPct val="100000"/>
              </a:lnSpc>
              <a:spcBef>
                <a:spcPts val="340"/>
              </a:spcBef>
              <a:spcAft>
                <a:spcPts val="0"/>
              </a:spcAft>
              <a:buNone/>
            </a:pPr>
            <a:r>
              <a:rPr b="1" lang="en-US" sz="1400">
                <a:latin typeface="Calibri"/>
                <a:ea typeface="Calibri"/>
                <a:cs typeface="Calibri"/>
                <a:sym typeface="Calibri"/>
              </a:rPr>
              <a:t>Decreased model accuracy </a:t>
            </a:r>
            <a:r>
              <a:rPr lang="en-US" sz="1400">
                <a:latin typeface="Calibri"/>
                <a:ea typeface="Calibri"/>
                <a:cs typeface="Calibri"/>
                <a:sym typeface="Calibri"/>
              </a:rPr>
              <a:t>– outliers can decrease the accuracy  of  statistical  models  and  machine  learning algorithms, as these models are designed to fit the majority of the data and may not be able to account for the unusual values of outliers.</a:t>
            </a:r>
            <a:endParaRPr sz="1400">
              <a:latin typeface="Calibri"/>
              <a:ea typeface="Calibri"/>
              <a:cs typeface="Calibri"/>
              <a:sym typeface="Calibri"/>
            </a:endParaRPr>
          </a:p>
        </p:txBody>
      </p:sp>
      <p:pic>
        <p:nvPicPr>
          <p:cNvPr id="136" name="Google Shape;136;p9"/>
          <p:cNvPicPr preferRelativeResize="0"/>
          <p:nvPr/>
        </p:nvPicPr>
        <p:blipFill rotWithShape="1">
          <a:blip r:embed="rId3">
            <a:alphaModFix/>
          </a:blip>
          <a:srcRect b="0" l="0" r="0" t="0"/>
          <a:stretch/>
        </p:blipFill>
        <p:spPr>
          <a:xfrm>
            <a:off x="3941571" y="1806575"/>
            <a:ext cx="114300" cy="124968"/>
          </a:xfrm>
          <a:prstGeom prst="rect">
            <a:avLst/>
          </a:prstGeom>
          <a:noFill/>
          <a:ln>
            <a:noFill/>
          </a:ln>
        </p:spPr>
      </p:pic>
      <p:pic>
        <p:nvPicPr>
          <p:cNvPr id="137" name="Google Shape;137;p9"/>
          <p:cNvPicPr preferRelativeResize="0"/>
          <p:nvPr/>
        </p:nvPicPr>
        <p:blipFill rotWithShape="1">
          <a:blip r:embed="rId3">
            <a:alphaModFix/>
          </a:blip>
          <a:srcRect b="0" l="0" r="0" t="0"/>
          <a:stretch/>
        </p:blipFill>
        <p:spPr>
          <a:xfrm>
            <a:off x="3941571" y="2489326"/>
            <a:ext cx="114300" cy="124968"/>
          </a:xfrm>
          <a:prstGeom prst="rect">
            <a:avLst/>
          </a:prstGeom>
          <a:noFill/>
          <a:ln>
            <a:noFill/>
          </a:ln>
        </p:spPr>
      </p:pic>
      <p:pic>
        <p:nvPicPr>
          <p:cNvPr id="138" name="Google Shape;138;p9"/>
          <p:cNvPicPr preferRelativeResize="0"/>
          <p:nvPr/>
        </p:nvPicPr>
        <p:blipFill rotWithShape="1">
          <a:blip r:embed="rId3">
            <a:alphaModFix/>
          </a:blip>
          <a:srcRect b="0" l="0" r="0" t="0"/>
          <a:stretch/>
        </p:blipFill>
        <p:spPr>
          <a:xfrm>
            <a:off x="3941571" y="3162826"/>
            <a:ext cx="114300" cy="124968"/>
          </a:xfrm>
          <a:prstGeom prst="rect">
            <a:avLst/>
          </a:prstGeom>
          <a:noFill/>
          <a:ln>
            <a:noFill/>
          </a:ln>
        </p:spPr>
      </p:pic>
      <p:pic>
        <p:nvPicPr>
          <p:cNvPr id="139" name="Google Shape;139;p9"/>
          <p:cNvPicPr preferRelativeResize="0"/>
          <p:nvPr/>
        </p:nvPicPr>
        <p:blipFill rotWithShape="1">
          <a:blip r:embed="rId3">
            <a:alphaModFix/>
          </a:blip>
          <a:srcRect b="0" l="0" r="0" t="0"/>
          <a:stretch/>
        </p:blipFill>
        <p:spPr>
          <a:xfrm>
            <a:off x="3941571" y="3845577"/>
            <a:ext cx="114300" cy="124968"/>
          </a:xfrm>
          <a:prstGeom prst="rect">
            <a:avLst/>
          </a:prstGeom>
          <a:noFill/>
          <a:ln>
            <a:noFill/>
          </a:ln>
        </p:spPr>
      </p:pic>
      <p:sp>
        <p:nvSpPr>
          <p:cNvPr id="140" name="Google Shape;140;p9"/>
          <p:cNvSpPr txBox="1"/>
          <p:nvPr/>
        </p:nvSpPr>
        <p:spPr>
          <a:xfrm>
            <a:off x="425907" y="1322323"/>
            <a:ext cx="117538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u="sng">
                <a:latin typeface="Calibri"/>
                <a:ea typeface="Calibri"/>
                <a:cs typeface="Calibri"/>
                <a:sym typeface="Calibri"/>
              </a:rPr>
              <a:t>Outlier types:</a:t>
            </a:r>
            <a:endParaRPr sz="1600">
              <a:latin typeface="Calibri"/>
              <a:ea typeface="Calibri"/>
              <a:cs typeface="Calibri"/>
              <a:sym typeface="Calibri"/>
            </a:endParaRPr>
          </a:p>
        </p:txBody>
      </p:sp>
      <p:sp>
        <p:nvSpPr>
          <p:cNvPr id="141" name="Google Shape;141;p9"/>
          <p:cNvSpPr txBox="1"/>
          <p:nvPr/>
        </p:nvSpPr>
        <p:spPr>
          <a:xfrm>
            <a:off x="8427211" y="4830876"/>
            <a:ext cx="180975" cy="177800"/>
          </a:xfrm>
          <a:prstGeom prst="rect">
            <a:avLst/>
          </a:prstGeom>
          <a:noFill/>
          <a:ln>
            <a:noFill/>
          </a:ln>
        </p:spPr>
        <p:txBody>
          <a:bodyPr anchorCtr="0" anchor="t" bIns="0" lIns="0" spcFirstLastPara="1" rIns="0" wrap="square" tIns="0">
            <a:spAutoFit/>
          </a:bodyPr>
          <a:lstStyle/>
          <a:p>
            <a:pPr indent="0" lvl="0" marL="12700" rtl="0" algn="l">
              <a:lnSpc>
                <a:spcPct val="103333"/>
              </a:lnSpc>
              <a:spcBef>
                <a:spcPts val="0"/>
              </a:spcBef>
              <a:spcAft>
                <a:spcPts val="0"/>
              </a:spcAft>
              <a:buNone/>
            </a:pPr>
            <a:r>
              <a:rPr lang="en-US" sz="1200">
                <a:solidFill>
                  <a:srgbClr val="888888"/>
                </a:solidFill>
                <a:latin typeface="Calibri"/>
                <a:ea typeface="Calibri"/>
                <a:cs typeface="Calibri"/>
                <a:sym typeface="Calibri"/>
              </a:rPr>
              <a:t>11</a:t>
            </a:r>
            <a:endParaRPr sz="1200">
              <a:latin typeface="Calibri"/>
              <a:ea typeface="Calibri"/>
              <a:cs typeface="Calibri"/>
              <a:sym typeface="Calibri"/>
            </a:endParaRPr>
          </a:p>
        </p:txBody>
      </p:sp>
      <p:sp>
        <p:nvSpPr>
          <p:cNvPr id="142" name="Google Shape;142;p9"/>
          <p:cNvSpPr txBox="1"/>
          <p:nvPr/>
        </p:nvSpPr>
        <p:spPr>
          <a:xfrm>
            <a:off x="3929634" y="1322323"/>
            <a:ext cx="128206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u="sng">
                <a:latin typeface="Calibri"/>
                <a:ea typeface="Calibri"/>
                <a:cs typeface="Calibri"/>
                <a:sym typeface="Calibri"/>
              </a:rPr>
              <a:t>Outlier effects:</a:t>
            </a:r>
            <a:endParaRPr sz="1600">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0"/>
          <p:cNvSpPr txBox="1"/>
          <p:nvPr>
            <p:ph type="title"/>
          </p:nvPr>
        </p:nvSpPr>
        <p:spPr>
          <a:xfrm>
            <a:off x="535940" y="454913"/>
            <a:ext cx="7755890" cy="452119"/>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Handling outliers</a:t>
            </a:r>
            <a:endParaRPr/>
          </a:p>
        </p:txBody>
      </p:sp>
      <p:grpSp>
        <p:nvGrpSpPr>
          <p:cNvPr id="148" name="Google Shape;148;p10"/>
          <p:cNvGrpSpPr/>
          <p:nvPr/>
        </p:nvGrpSpPr>
        <p:grpSpPr>
          <a:xfrm>
            <a:off x="554735" y="1283208"/>
            <a:ext cx="3630295" cy="1164590"/>
            <a:chOff x="554735" y="1283208"/>
            <a:chExt cx="3630295" cy="1164590"/>
          </a:xfrm>
        </p:grpSpPr>
        <p:pic>
          <p:nvPicPr>
            <p:cNvPr id="149" name="Google Shape;149;p10"/>
            <p:cNvPicPr preferRelativeResize="0"/>
            <p:nvPr/>
          </p:nvPicPr>
          <p:blipFill rotWithShape="1">
            <a:blip r:embed="rId3">
              <a:alphaModFix/>
            </a:blip>
            <a:srcRect b="0" l="0" r="0" t="0"/>
            <a:stretch/>
          </p:blipFill>
          <p:spPr>
            <a:xfrm>
              <a:off x="651446" y="1370622"/>
              <a:ext cx="3427534" cy="994109"/>
            </a:xfrm>
            <a:prstGeom prst="rect">
              <a:avLst/>
            </a:prstGeom>
            <a:noFill/>
            <a:ln>
              <a:noFill/>
            </a:ln>
          </p:spPr>
        </p:pic>
        <p:sp>
          <p:nvSpPr>
            <p:cNvPr id="150" name="Google Shape;150;p10"/>
            <p:cNvSpPr/>
            <p:nvPr/>
          </p:nvSpPr>
          <p:spPr>
            <a:xfrm>
              <a:off x="554735" y="1283208"/>
              <a:ext cx="3630295" cy="1164590"/>
            </a:xfrm>
            <a:custGeom>
              <a:rect b="b" l="l" r="r" t="t"/>
              <a:pathLst>
                <a:path extrusionOk="0" h="1164589" w="3630295">
                  <a:moveTo>
                    <a:pt x="0" y="1164336"/>
                  </a:moveTo>
                  <a:lnTo>
                    <a:pt x="3630167" y="1164336"/>
                  </a:lnTo>
                  <a:lnTo>
                    <a:pt x="3630167" y="0"/>
                  </a:lnTo>
                  <a:lnTo>
                    <a:pt x="0" y="0"/>
                  </a:lnTo>
                  <a:lnTo>
                    <a:pt x="0" y="1164336"/>
                  </a:lnTo>
                  <a:close/>
                </a:path>
              </a:pathLst>
            </a:custGeom>
            <a:noFill/>
            <a:ln cap="flat" cmpd="sng" w="9525">
              <a:solidFill>
                <a:srgbClr val="DDDDD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grpSp>
        <p:nvGrpSpPr>
          <p:cNvPr id="151" name="Google Shape;151;p10"/>
          <p:cNvGrpSpPr/>
          <p:nvPr/>
        </p:nvGrpSpPr>
        <p:grpSpPr>
          <a:xfrm>
            <a:off x="964975" y="2684125"/>
            <a:ext cx="2878564" cy="1717526"/>
            <a:chOff x="964975" y="2684125"/>
            <a:chExt cx="2878564" cy="1717526"/>
          </a:xfrm>
        </p:grpSpPr>
        <p:pic>
          <p:nvPicPr>
            <p:cNvPr id="152" name="Google Shape;152;p10"/>
            <p:cNvPicPr preferRelativeResize="0"/>
            <p:nvPr/>
          </p:nvPicPr>
          <p:blipFill rotWithShape="1">
            <a:blip r:embed="rId4">
              <a:alphaModFix/>
            </a:blip>
            <a:srcRect b="0" l="0" r="0" t="0"/>
            <a:stretch/>
          </p:blipFill>
          <p:spPr>
            <a:xfrm>
              <a:off x="964975" y="2684125"/>
              <a:ext cx="2878564" cy="1717526"/>
            </a:xfrm>
            <a:prstGeom prst="rect">
              <a:avLst/>
            </a:prstGeom>
            <a:noFill/>
            <a:ln>
              <a:noFill/>
            </a:ln>
          </p:spPr>
        </p:pic>
        <p:sp>
          <p:nvSpPr>
            <p:cNvPr id="153" name="Google Shape;153;p10"/>
            <p:cNvSpPr/>
            <p:nvPr/>
          </p:nvSpPr>
          <p:spPr>
            <a:xfrm>
              <a:off x="1231633" y="2875152"/>
              <a:ext cx="291465" cy="6350"/>
            </a:xfrm>
            <a:custGeom>
              <a:rect b="b" l="l" r="r" t="t"/>
              <a:pathLst>
                <a:path extrusionOk="0" h="6350" w="291465">
                  <a:moveTo>
                    <a:pt x="291096" y="0"/>
                  </a:moveTo>
                  <a:lnTo>
                    <a:pt x="0" y="0"/>
                  </a:lnTo>
                  <a:lnTo>
                    <a:pt x="0" y="6096"/>
                  </a:lnTo>
                  <a:lnTo>
                    <a:pt x="291096" y="6096"/>
                  </a:lnTo>
                  <a:lnTo>
                    <a:pt x="291096"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54" name="Google Shape;154;p10"/>
          <p:cNvSpPr txBox="1"/>
          <p:nvPr/>
        </p:nvSpPr>
        <p:spPr>
          <a:xfrm>
            <a:off x="559714" y="4690973"/>
            <a:ext cx="3721100" cy="177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000" u="sng">
                <a:solidFill>
                  <a:srgbClr val="5F5F5F"/>
                </a:solidFill>
                <a:latin typeface="Calibri"/>
                <a:ea typeface="Calibri"/>
                <a:cs typeface="Calibri"/>
                <a:sym typeface="Calibri"/>
                <a:hlinkClick r:id="rId5">
                  <a:extLst>
                    <a:ext uri="{A12FA001-AC4F-418D-AE19-62706E023703}">
                      <ahyp:hlinkClr val="tx"/>
                    </a:ext>
                  </a:extLst>
                </a:hlinkClick>
              </a:rPr>
              <a:t>What are the Outlier Detection Methods in Data Mining? - Scaler Topics</a:t>
            </a:r>
            <a:endParaRPr sz="1000">
              <a:latin typeface="Calibri"/>
              <a:ea typeface="Calibri"/>
              <a:cs typeface="Calibri"/>
              <a:sym typeface="Calibri"/>
            </a:endParaRPr>
          </a:p>
        </p:txBody>
      </p:sp>
      <p:sp>
        <p:nvSpPr>
          <p:cNvPr id="155" name="Google Shape;155;p10"/>
          <p:cNvSpPr txBox="1"/>
          <p:nvPr/>
        </p:nvSpPr>
        <p:spPr>
          <a:xfrm>
            <a:off x="4760721" y="1227200"/>
            <a:ext cx="3688715" cy="1000760"/>
          </a:xfrm>
          <a:prstGeom prst="rect">
            <a:avLst/>
          </a:prstGeom>
          <a:noFill/>
          <a:ln>
            <a:noFill/>
          </a:ln>
        </p:spPr>
        <p:txBody>
          <a:bodyPr anchorCtr="0" anchor="t" bIns="0" lIns="0" spcFirstLastPara="1" rIns="0" wrap="square" tIns="12050">
            <a:spAutoFit/>
          </a:bodyPr>
          <a:lstStyle/>
          <a:p>
            <a:pPr indent="0" lvl="0" marL="12700" marR="5080" rtl="0" algn="just">
              <a:lnSpc>
                <a:spcPct val="100000"/>
              </a:lnSpc>
              <a:spcBef>
                <a:spcPts val="0"/>
              </a:spcBef>
              <a:spcAft>
                <a:spcPts val="0"/>
              </a:spcAft>
              <a:buNone/>
            </a:pPr>
            <a:r>
              <a:rPr lang="en-US" sz="1600">
                <a:latin typeface="Calibri"/>
                <a:ea typeface="Calibri"/>
                <a:cs typeface="Calibri"/>
                <a:sym typeface="Calibri"/>
              </a:rPr>
              <a:t>Box-plot: using Inter-Quartile Range (IQR) method.  A data point is usually considered an outlier if it falls </a:t>
            </a:r>
            <a:r>
              <a:rPr b="1" lang="en-US" sz="1600">
                <a:latin typeface="Calibri"/>
                <a:ea typeface="Calibri"/>
                <a:cs typeface="Calibri"/>
                <a:sym typeface="Calibri"/>
              </a:rPr>
              <a:t>over 1.5 times the IQR outside the box</a:t>
            </a:r>
            <a:r>
              <a:rPr lang="en-US" sz="1600">
                <a:latin typeface="Calibri"/>
                <a:ea typeface="Calibri"/>
                <a:cs typeface="Calibri"/>
                <a:sym typeface="Calibri"/>
              </a:rPr>
              <a:t>.</a:t>
            </a:r>
            <a:endParaRPr sz="1600">
              <a:latin typeface="Calibri"/>
              <a:ea typeface="Calibri"/>
              <a:cs typeface="Calibri"/>
              <a:sym typeface="Calibri"/>
            </a:endParaRPr>
          </a:p>
        </p:txBody>
      </p:sp>
      <p:pic>
        <p:nvPicPr>
          <p:cNvPr id="156" name="Google Shape;156;p10"/>
          <p:cNvPicPr preferRelativeResize="0"/>
          <p:nvPr/>
        </p:nvPicPr>
        <p:blipFill rotWithShape="1">
          <a:blip r:embed="rId6">
            <a:alphaModFix/>
          </a:blip>
          <a:srcRect b="0" l="0" r="0" t="0"/>
          <a:stretch/>
        </p:blipFill>
        <p:spPr>
          <a:xfrm>
            <a:off x="4429633" y="1301877"/>
            <a:ext cx="140208" cy="141732"/>
          </a:xfrm>
          <a:prstGeom prst="rect">
            <a:avLst/>
          </a:prstGeom>
          <a:noFill/>
          <a:ln>
            <a:noFill/>
          </a:ln>
        </p:spPr>
      </p:pic>
      <p:pic>
        <p:nvPicPr>
          <p:cNvPr id="157" name="Google Shape;157;p10"/>
          <p:cNvPicPr preferRelativeResize="0"/>
          <p:nvPr/>
        </p:nvPicPr>
        <p:blipFill rotWithShape="1">
          <a:blip r:embed="rId6">
            <a:alphaModFix/>
          </a:blip>
          <a:srcRect b="0" l="0" r="0" t="0"/>
          <a:stretch/>
        </p:blipFill>
        <p:spPr>
          <a:xfrm>
            <a:off x="4399915" y="2607817"/>
            <a:ext cx="140208" cy="141731"/>
          </a:xfrm>
          <a:prstGeom prst="rect">
            <a:avLst/>
          </a:prstGeom>
          <a:noFill/>
          <a:ln>
            <a:noFill/>
          </a:ln>
        </p:spPr>
      </p:pic>
      <p:sp>
        <p:nvSpPr>
          <p:cNvPr id="158" name="Google Shape;158;p10"/>
          <p:cNvSpPr txBox="1"/>
          <p:nvPr/>
        </p:nvSpPr>
        <p:spPr>
          <a:xfrm>
            <a:off x="4730877" y="2532964"/>
            <a:ext cx="3691254" cy="1732914"/>
          </a:xfrm>
          <a:prstGeom prst="rect">
            <a:avLst/>
          </a:prstGeom>
          <a:noFill/>
          <a:ln>
            <a:noFill/>
          </a:ln>
        </p:spPr>
        <p:txBody>
          <a:bodyPr anchorCtr="0" anchor="t" bIns="0" lIns="0" spcFirstLastPara="1" rIns="0" wrap="square" tIns="12050">
            <a:spAutoFit/>
          </a:bodyPr>
          <a:lstStyle/>
          <a:p>
            <a:pPr indent="0" lvl="0" marL="12700" marR="5080" rtl="0" algn="just">
              <a:lnSpc>
                <a:spcPct val="100000"/>
              </a:lnSpc>
              <a:spcBef>
                <a:spcPts val="0"/>
              </a:spcBef>
              <a:spcAft>
                <a:spcPts val="0"/>
              </a:spcAft>
              <a:buNone/>
            </a:pPr>
            <a:r>
              <a:rPr lang="en-US" sz="1600">
                <a:latin typeface="Calibri"/>
                <a:ea typeface="Calibri"/>
                <a:cs typeface="Calibri"/>
                <a:sym typeface="Calibri"/>
              </a:rPr>
              <a:t>Z-score: a data point’s distance from the mean in terms of the standard deviation (number of standard deviations a data point falls away from the mean of the dataset). A data point with a </a:t>
            </a:r>
            <a:r>
              <a:rPr b="1" lang="en-US" sz="1600">
                <a:latin typeface="Calibri"/>
                <a:ea typeface="Calibri"/>
                <a:cs typeface="Calibri"/>
                <a:sym typeface="Calibri"/>
              </a:rPr>
              <a:t>Z-score greater than a certain  threshold  </a:t>
            </a:r>
            <a:r>
              <a:rPr lang="en-US" sz="1600">
                <a:latin typeface="Calibri"/>
                <a:ea typeface="Calibri"/>
                <a:cs typeface="Calibri"/>
                <a:sym typeface="Calibri"/>
              </a:rPr>
              <a:t>(usually  2.5  or  3)  is considered an outlier.</a:t>
            </a:r>
            <a:endParaRPr sz="1600">
              <a:latin typeface="Calibri"/>
              <a:ea typeface="Calibri"/>
              <a:cs typeface="Calibri"/>
              <a:sym typeface="Calibri"/>
            </a:endParaRPr>
          </a:p>
        </p:txBody>
      </p:sp>
      <p:sp>
        <p:nvSpPr>
          <p:cNvPr id="159" name="Google Shape;159;p10"/>
          <p:cNvSpPr txBox="1"/>
          <p:nvPr>
            <p:ph idx="12" type="sldNum"/>
          </p:nvPr>
        </p:nvSpPr>
        <p:spPr>
          <a:xfrm>
            <a:off x="8401811" y="4830876"/>
            <a:ext cx="244475" cy="177800"/>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
        <p:nvSpPr>
          <p:cNvPr id="160" name="Google Shape;160;p10"/>
          <p:cNvSpPr txBox="1"/>
          <p:nvPr/>
        </p:nvSpPr>
        <p:spPr>
          <a:xfrm>
            <a:off x="554736" y="2581655"/>
            <a:ext cx="3639820" cy="1920239"/>
          </a:xfrm>
          <a:prstGeom prst="rect">
            <a:avLst/>
          </a:prstGeom>
          <a:noFill/>
          <a:ln cap="flat" cmpd="sng" w="9525">
            <a:solidFill>
              <a:srgbClr val="DDDDDD"/>
            </a:solidFill>
            <a:prstDash val="solid"/>
            <a:round/>
            <a:headEnd len="sm" w="sm" type="none"/>
            <a:tailEnd len="sm" w="sm" type="none"/>
          </a:ln>
        </p:spPr>
        <p:txBody>
          <a:bodyPr anchorCtr="0" anchor="t" bIns="0" lIns="0" spcFirstLastPara="1" rIns="0" wrap="square" tIns="29825">
            <a:spAutoFit/>
          </a:bodyPr>
          <a:lstStyle/>
          <a:p>
            <a:pPr indent="0" lvl="0" marL="0" rtl="0" algn="l">
              <a:lnSpc>
                <a:spcPct val="100000"/>
              </a:lnSpc>
              <a:spcBef>
                <a:spcPts val="0"/>
              </a:spcBef>
              <a:spcAft>
                <a:spcPts val="0"/>
              </a:spcAft>
              <a:buNone/>
            </a:pPr>
            <a:r>
              <a:t/>
            </a:r>
            <a:endParaRPr sz="800">
              <a:latin typeface="Times New Roman"/>
              <a:ea typeface="Times New Roman"/>
              <a:cs typeface="Times New Roman"/>
              <a:sym typeface="Times New Roman"/>
            </a:endParaRPr>
          </a:p>
          <a:p>
            <a:pPr indent="0" lvl="0" marL="676910" rtl="0" algn="l">
              <a:lnSpc>
                <a:spcPct val="98125"/>
              </a:lnSpc>
              <a:spcBef>
                <a:spcPts val="0"/>
              </a:spcBef>
              <a:spcAft>
                <a:spcPts val="0"/>
              </a:spcAft>
              <a:buNone/>
            </a:pPr>
            <a:r>
              <a:rPr lang="en-US" sz="800">
                <a:latin typeface="Cambria Math"/>
                <a:ea typeface="Cambria Math"/>
                <a:cs typeface="Cambria Math"/>
                <a:sym typeface="Cambria Math"/>
              </a:rPr>
              <a:t>𝑋 − 𝜇</a:t>
            </a:r>
            <a:endParaRPr sz="800">
              <a:latin typeface="Cambria Math"/>
              <a:ea typeface="Cambria Math"/>
              <a:cs typeface="Cambria Math"/>
              <a:sym typeface="Cambria Math"/>
            </a:endParaRPr>
          </a:p>
          <a:p>
            <a:pPr indent="0" lvl="0" marL="113029" rtl="0" algn="l">
              <a:lnSpc>
                <a:spcPct val="71875"/>
              </a:lnSpc>
              <a:spcBef>
                <a:spcPts val="0"/>
              </a:spcBef>
              <a:spcAft>
                <a:spcPts val="0"/>
              </a:spcAft>
              <a:buNone/>
            </a:pPr>
            <a:r>
              <a:rPr lang="en-US" sz="800">
                <a:latin typeface="Cambria Math"/>
                <a:ea typeface="Cambria Math"/>
                <a:cs typeface="Cambria Math"/>
                <a:sym typeface="Cambria Math"/>
              </a:rPr>
              <a:t>𝑍 − 𝑠𝑐𝑜𝑟𝑒 =</a:t>
            </a:r>
            <a:endParaRPr sz="800">
              <a:latin typeface="Cambria Math"/>
              <a:ea typeface="Cambria Math"/>
              <a:cs typeface="Cambria Math"/>
              <a:sym typeface="Cambria Math"/>
            </a:endParaRPr>
          </a:p>
          <a:p>
            <a:pPr indent="0" lvl="0" marL="791210" rtl="0" algn="l">
              <a:lnSpc>
                <a:spcPct val="93750"/>
              </a:lnSpc>
              <a:spcBef>
                <a:spcPts val="0"/>
              </a:spcBef>
              <a:spcAft>
                <a:spcPts val="0"/>
              </a:spcAft>
              <a:buNone/>
            </a:pPr>
            <a:r>
              <a:rPr lang="en-US" sz="800">
                <a:latin typeface="Cambria Math"/>
                <a:ea typeface="Cambria Math"/>
                <a:cs typeface="Cambria Math"/>
                <a:sym typeface="Cambria Math"/>
              </a:rPr>
              <a:t>𝜎</a:t>
            </a:r>
            <a:endParaRPr sz="800">
              <a:latin typeface="Cambria Math"/>
              <a:ea typeface="Cambria Math"/>
              <a:cs typeface="Cambria Math"/>
              <a:sym typeface="Cambria Math"/>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grpSp>
        <p:nvGrpSpPr>
          <p:cNvPr id="165" name="Google Shape;165;p11"/>
          <p:cNvGrpSpPr/>
          <p:nvPr/>
        </p:nvGrpSpPr>
        <p:grpSpPr>
          <a:xfrm>
            <a:off x="5937503" y="1399032"/>
            <a:ext cx="2343912" cy="1461643"/>
            <a:chOff x="5937503" y="1399032"/>
            <a:chExt cx="2343912" cy="1461643"/>
          </a:xfrm>
        </p:grpSpPr>
        <p:pic>
          <p:nvPicPr>
            <p:cNvPr id="166" name="Google Shape;166;p11"/>
            <p:cNvPicPr preferRelativeResize="0"/>
            <p:nvPr/>
          </p:nvPicPr>
          <p:blipFill rotWithShape="1">
            <a:blip r:embed="rId3">
              <a:alphaModFix/>
            </a:blip>
            <a:srcRect b="0" l="0" r="0" t="0"/>
            <a:stretch/>
          </p:blipFill>
          <p:spPr>
            <a:xfrm>
              <a:off x="6970775" y="1399032"/>
              <a:ext cx="1310640" cy="1050036"/>
            </a:xfrm>
            <a:prstGeom prst="rect">
              <a:avLst/>
            </a:prstGeom>
            <a:noFill/>
            <a:ln>
              <a:noFill/>
            </a:ln>
          </p:spPr>
        </p:pic>
        <p:sp>
          <p:nvSpPr>
            <p:cNvPr id="167" name="Google Shape;167;p11"/>
            <p:cNvSpPr/>
            <p:nvPr/>
          </p:nvSpPr>
          <p:spPr>
            <a:xfrm>
              <a:off x="5937503" y="2255520"/>
              <a:ext cx="1576070" cy="605155"/>
            </a:xfrm>
            <a:custGeom>
              <a:rect b="b" l="l" r="r" t="t"/>
              <a:pathLst>
                <a:path extrusionOk="0" h="605155" w="1576070">
                  <a:moveTo>
                    <a:pt x="1575816" y="0"/>
                  </a:moveTo>
                  <a:lnTo>
                    <a:pt x="0" y="0"/>
                  </a:lnTo>
                  <a:lnTo>
                    <a:pt x="0" y="605027"/>
                  </a:lnTo>
                  <a:lnTo>
                    <a:pt x="1575816" y="605027"/>
                  </a:lnTo>
                  <a:lnTo>
                    <a:pt x="1575816"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68" name="Google Shape;168;p11"/>
          <p:cNvSpPr txBox="1"/>
          <p:nvPr>
            <p:ph type="title"/>
          </p:nvPr>
        </p:nvSpPr>
        <p:spPr>
          <a:xfrm>
            <a:off x="535940" y="454913"/>
            <a:ext cx="7755890" cy="452119"/>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Data scaling – normalization vs standardization</a:t>
            </a:r>
            <a:endParaRPr/>
          </a:p>
        </p:txBody>
      </p:sp>
      <p:grpSp>
        <p:nvGrpSpPr>
          <p:cNvPr id="169" name="Google Shape;169;p11"/>
          <p:cNvGrpSpPr/>
          <p:nvPr/>
        </p:nvGrpSpPr>
        <p:grpSpPr>
          <a:xfrm>
            <a:off x="5940551" y="3163823"/>
            <a:ext cx="2340864" cy="1510284"/>
            <a:chOff x="5940551" y="3163823"/>
            <a:chExt cx="2340864" cy="1510284"/>
          </a:xfrm>
        </p:grpSpPr>
        <p:pic>
          <p:nvPicPr>
            <p:cNvPr id="170" name="Google Shape;170;p11"/>
            <p:cNvPicPr preferRelativeResize="0"/>
            <p:nvPr/>
          </p:nvPicPr>
          <p:blipFill rotWithShape="1">
            <a:blip r:embed="rId4">
              <a:alphaModFix/>
            </a:blip>
            <a:srcRect b="0" l="0" r="0" t="0"/>
            <a:stretch/>
          </p:blipFill>
          <p:spPr>
            <a:xfrm>
              <a:off x="6944867" y="3163823"/>
              <a:ext cx="1336548" cy="1057656"/>
            </a:xfrm>
            <a:prstGeom prst="rect">
              <a:avLst/>
            </a:prstGeom>
            <a:noFill/>
            <a:ln>
              <a:noFill/>
            </a:ln>
          </p:spPr>
        </p:pic>
        <p:sp>
          <p:nvSpPr>
            <p:cNvPr id="171" name="Google Shape;171;p11"/>
            <p:cNvSpPr/>
            <p:nvPr/>
          </p:nvSpPr>
          <p:spPr>
            <a:xfrm>
              <a:off x="5940551" y="4079747"/>
              <a:ext cx="1225550" cy="594360"/>
            </a:xfrm>
            <a:custGeom>
              <a:rect b="b" l="l" r="r" t="t"/>
              <a:pathLst>
                <a:path extrusionOk="0" h="594360" w="1225550">
                  <a:moveTo>
                    <a:pt x="1225296" y="0"/>
                  </a:moveTo>
                  <a:lnTo>
                    <a:pt x="0" y="0"/>
                  </a:lnTo>
                  <a:lnTo>
                    <a:pt x="0" y="594359"/>
                  </a:lnTo>
                  <a:lnTo>
                    <a:pt x="1225296" y="594359"/>
                  </a:lnTo>
                  <a:lnTo>
                    <a:pt x="1225296"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2" name="Google Shape;172;p11"/>
            <p:cNvSpPr/>
            <p:nvPr/>
          </p:nvSpPr>
          <p:spPr>
            <a:xfrm>
              <a:off x="5940551" y="4079747"/>
              <a:ext cx="1225550" cy="594360"/>
            </a:xfrm>
            <a:custGeom>
              <a:rect b="b" l="l" r="r" t="t"/>
              <a:pathLst>
                <a:path extrusionOk="0" h="594360" w="1225550">
                  <a:moveTo>
                    <a:pt x="0" y="594359"/>
                  </a:moveTo>
                  <a:lnTo>
                    <a:pt x="1225296" y="594359"/>
                  </a:lnTo>
                  <a:lnTo>
                    <a:pt x="1225296" y="0"/>
                  </a:lnTo>
                  <a:lnTo>
                    <a:pt x="0" y="0"/>
                  </a:lnTo>
                  <a:lnTo>
                    <a:pt x="0" y="594359"/>
                  </a:lnTo>
                  <a:close/>
                </a:path>
              </a:pathLst>
            </a:custGeom>
            <a:noFill/>
            <a:ln cap="flat" cmpd="sng" w="9525">
              <a:solidFill>
                <a:srgbClr val="D7D7D7"/>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3" name="Google Shape;173;p11"/>
            <p:cNvSpPr/>
            <p:nvPr/>
          </p:nvSpPr>
          <p:spPr>
            <a:xfrm>
              <a:off x="6516242" y="4404918"/>
              <a:ext cx="439420" cy="10795"/>
            </a:xfrm>
            <a:custGeom>
              <a:rect b="b" l="l" r="r" t="t"/>
              <a:pathLst>
                <a:path extrusionOk="0" h="10795" w="439420">
                  <a:moveTo>
                    <a:pt x="438911" y="0"/>
                  </a:moveTo>
                  <a:lnTo>
                    <a:pt x="0" y="0"/>
                  </a:lnTo>
                  <a:lnTo>
                    <a:pt x="0" y="10668"/>
                  </a:lnTo>
                  <a:lnTo>
                    <a:pt x="438911" y="10668"/>
                  </a:lnTo>
                  <a:lnTo>
                    <a:pt x="438911"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74" name="Google Shape;174;p11"/>
          <p:cNvSpPr txBox="1"/>
          <p:nvPr/>
        </p:nvSpPr>
        <p:spPr>
          <a:xfrm>
            <a:off x="897432" y="1358646"/>
            <a:ext cx="4625975" cy="1244600"/>
          </a:xfrm>
          <a:prstGeom prst="rect">
            <a:avLst/>
          </a:prstGeom>
          <a:noFill/>
          <a:ln>
            <a:noFill/>
          </a:ln>
        </p:spPr>
        <p:txBody>
          <a:bodyPr anchorCtr="0" anchor="t" bIns="0" lIns="0" spcFirstLastPara="1" rIns="0" wrap="square" tIns="12050">
            <a:spAutoFit/>
          </a:bodyPr>
          <a:lstStyle/>
          <a:p>
            <a:pPr indent="0" lvl="0" marL="12700" marR="5080" rtl="0" algn="just">
              <a:lnSpc>
                <a:spcPct val="100000"/>
              </a:lnSpc>
              <a:spcBef>
                <a:spcPts val="0"/>
              </a:spcBef>
              <a:spcAft>
                <a:spcPts val="0"/>
              </a:spcAft>
              <a:buNone/>
            </a:pPr>
            <a:r>
              <a:rPr lang="en-US" sz="1600">
                <a:latin typeface="Calibri"/>
                <a:ea typeface="Calibri"/>
                <a:cs typeface="Calibri"/>
                <a:sym typeface="Calibri"/>
              </a:rPr>
              <a:t>Normalization – a scaling method that transforms the range of features to a standard scale </a:t>
            </a:r>
            <a:r>
              <a:rPr b="1" lang="en-US" sz="1600">
                <a:latin typeface="Calibri"/>
                <a:ea typeface="Calibri"/>
                <a:cs typeface="Calibri"/>
                <a:sym typeface="Calibri"/>
              </a:rPr>
              <a:t>between 0 and 1</a:t>
            </a:r>
            <a:r>
              <a:rPr lang="en-US" sz="1600">
                <a:latin typeface="Calibri"/>
                <a:ea typeface="Calibri"/>
                <a:cs typeface="Calibri"/>
                <a:sym typeface="Calibri"/>
              </a:rPr>
              <a:t>. Normalization is useful when there are no outliers as it cannot cope up with them and when we do not have an information about distribution.</a:t>
            </a:r>
            <a:endParaRPr sz="1600">
              <a:latin typeface="Calibri"/>
              <a:ea typeface="Calibri"/>
              <a:cs typeface="Calibri"/>
              <a:sym typeface="Calibri"/>
            </a:endParaRPr>
          </a:p>
        </p:txBody>
      </p:sp>
      <p:pic>
        <p:nvPicPr>
          <p:cNvPr id="175" name="Google Shape;175;p11"/>
          <p:cNvPicPr preferRelativeResize="0"/>
          <p:nvPr/>
        </p:nvPicPr>
        <p:blipFill rotWithShape="1">
          <a:blip r:embed="rId5">
            <a:alphaModFix/>
          </a:blip>
          <a:srcRect b="0" l="0" r="0" t="0"/>
          <a:stretch/>
        </p:blipFill>
        <p:spPr>
          <a:xfrm>
            <a:off x="567207" y="1433322"/>
            <a:ext cx="140208" cy="141732"/>
          </a:xfrm>
          <a:prstGeom prst="rect">
            <a:avLst/>
          </a:prstGeom>
          <a:noFill/>
          <a:ln>
            <a:noFill/>
          </a:ln>
        </p:spPr>
      </p:pic>
      <p:sp>
        <p:nvSpPr>
          <p:cNvPr id="176" name="Google Shape;176;p11"/>
          <p:cNvSpPr txBox="1"/>
          <p:nvPr/>
        </p:nvSpPr>
        <p:spPr>
          <a:xfrm>
            <a:off x="879144" y="3015233"/>
            <a:ext cx="4652010" cy="1732280"/>
          </a:xfrm>
          <a:prstGeom prst="rect">
            <a:avLst/>
          </a:prstGeom>
          <a:noFill/>
          <a:ln>
            <a:noFill/>
          </a:ln>
        </p:spPr>
        <p:txBody>
          <a:bodyPr anchorCtr="0" anchor="t" bIns="0" lIns="0" spcFirstLastPara="1" rIns="0" wrap="square" tIns="12050">
            <a:spAutoFit/>
          </a:bodyPr>
          <a:lstStyle/>
          <a:p>
            <a:pPr indent="0" lvl="0" marL="12700" marR="5080" rtl="0" algn="just">
              <a:lnSpc>
                <a:spcPct val="100000"/>
              </a:lnSpc>
              <a:spcBef>
                <a:spcPts val="0"/>
              </a:spcBef>
              <a:spcAft>
                <a:spcPts val="0"/>
              </a:spcAft>
              <a:buNone/>
            </a:pPr>
            <a:r>
              <a:rPr lang="en-US" sz="1600">
                <a:latin typeface="Calibri"/>
                <a:ea typeface="Calibri"/>
                <a:cs typeface="Calibri"/>
                <a:sym typeface="Calibri"/>
              </a:rPr>
              <a:t>Standardization (z-score normalization) – the values are </a:t>
            </a:r>
            <a:r>
              <a:rPr b="1" lang="en-US" sz="1600">
                <a:latin typeface="Calibri"/>
                <a:ea typeface="Calibri"/>
                <a:cs typeface="Calibri"/>
                <a:sym typeface="Calibri"/>
              </a:rPr>
              <a:t>centered  around  the  mean  with  a  unit  standard deviation </a:t>
            </a:r>
            <a:r>
              <a:rPr lang="en-US" sz="1600">
                <a:latin typeface="Calibri"/>
                <a:ea typeface="Calibri"/>
                <a:cs typeface="Calibri"/>
                <a:sym typeface="Calibri"/>
              </a:rPr>
              <a:t>(the mean of the attribute becomes zero, and the resultant distribution has a unit standard deviation). Standardization is not affected by outliers as there is no predefined range of transformed features. Useful when the distribution is normal/Gaussian.</a:t>
            </a:r>
            <a:endParaRPr sz="1600">
              <a:latin typeface="Calibri"/>
              <a:ea typeface="Calibri"/>
              <a:cs typeface="Calibri"/>
              <a:sym typeface="Calibri"/>
            </a:endParaRPr>
          </a:p>
        </p:txBody>
      </p:sp>
      <p:pic>
        <p:nvPicPr>
          <p:cNvPr id="177" name="Google Shape;177;p11"/>
          <p:cNvPicPr preferRelativeResize="0"/>
          <p:nvPr/>
        </p:nvPicPr>
        <p:blipFill rotWithShape="1">
          <a:blip r:embed="rId5">
            <a:alphaModFix/>
          </a:blip>
          <a:srcRect b="0" l="0" r="0" t="0"/>
          <a:stretch/>
        </p:blipFill>
        <p:spPr>
          <a:xfrm>
            <a:off x="548640" y="3089529"/>
            <a:ext cx="140208" cy="141731"/>
          </a:xfrm>
          <a:prstGeom prst="rect">
            <a:avLst/>
          </a:prstGeom>
          <a:noFill/>
          <a:ln>
            <a:noFill/>
          </a:ln>
        </p:spPr>
      </p:pic>
      <p:sp>
        <p:nvSpPr>
          <p:cNvPr id="178" name="Google Shape;178;p11"/>
          <p:cNvSpPr txBox="1"/>
          <p:nvPr/>
        </p:nvSpPr>
        <p:spPr>
          <a:xfrm>
            <a:off x="5937503" y="2255520"/>
            <a:ext cx="1576070" cy="605155"/>
          </a:xfrm>
          <a:prstGeom prst="rect">
            <a:avLst/>
          </a:prstGeom>
          <a:noFill/>
          <a:ln cap="flat" cmpd="sng" w="9525">
            <a:solidFill>
              <a:srgbClr val="D7D7D7"/>
            </a:solidFill>
            <a:prstDash val="solid"/>
            <a:round/>
            <a:headEnd len="sm" w="sm" type="none"/>
            <a:tailEnd len="sm" w="sm" type="none"/>
          </a:ln>
        </p:spPr>
        <p:txBody>
          <a:bodyPr anchorCtr="0" anchor="t" bIns="0" lIns="0" spcFirstLastPara="1" rIns="0" wrap="square" tIns="120000">
            <a:spAutoFit/>
          </a:bodyPr>
          <a:lstStyle/>
          <a:p>
            <a:pPr indent="0" lvl="0" marL="135890" rtl="0" algn="l">
              <a:lnSpc>
                <a:spcPct val="100000"/>
              </a:lnSpc>
              <a:spcBef>
                <a:spcPts val="0"/>
              </a:spcBef>
              <a:spcAft>
                <a:spcPts val="0"/>
              </a:spcAft>
              <a:buNone/>
            </a:pPr>
            <a:r>
              <a:rPr baseline="-25000" lang="en-US" sz="1800">
                <a:latin typeface="Cambria Math"/>
                <a:ea typeface="Cambria Math"/>
                <a:cs typeface="Cambria Math"/>
                <a:sym typeface="Cambria Math"/>
              </a:rPr>
              <a:t>𝑋</a:t>
            </a:r>
            <a:r>
              <a:rPr baseline="-25000" lang="en-US" sz="1275">
                <a:latin typeface="Cambria Math"/>
                <a:ea typeface="Cambria Math"/>
                <a:cs typeface="Cambria Math"/>
                <a:sym typeface="Cambria Math"/>
              </a:rPr>
              <a:t>′ </a:t>
            </a:r>
            <a:r>
              <a:rPr baseline="-25000" lang="en-US" sz="1800">
                <a:latin typeface="Cambria Math"/>
                <a:ea typeface="Cambria Math"/>
                <a:cs typeface="Cambria Math"/>
                <a:sym typeface="Cambria Math"/>
              </a:rPr>
              <a:t>= </a:t>
            </a:r>
            <a:r>
              <a:rPr lang="en-US" sz="1200" u="sng">
                <a:latin typeface="Cambria Math"/>
                <a:ea typeface="Cambria Math"/>
                <a:cs typeface="Cambria Math"/>
                <a:sym typeface="Cambria Math"/>
              </a:rPr>
              <a:t> 𝑋 − 𝑋</a:t>
            </a:r>
            <a:r>
              <a:rPr baseline="-25000" lang="en-US" sz="1275" u="sng">
                <a:latin typeface="Cambria Math"/>
                <a:ea typeface="Cambria Math"/>
                <a:cs typeface="Cambria Math"/>
                <a:sym typeface="Cambria Math"/>
              </a:rPr>
              <a:t>𝑚𝑖𝑛 </a:t>
            </a:r>
            <a:endParaRPr baseline="-25000" sz="1275">
              <a:latin typeface="Cambria Math"/>
              <a:ea typeface="Cambria Math"/>
              <a:cs typeface="Cambria Math"/>
              <a:sym typeface="Cambria Math"/>
            </a:endParaRPr>
          </a:p>
          <a:p>
            <a:pPr indent="0" lvl="0" marL="520065" rtl="0" algn="l">
              <a:lnSpc>
                <a:spcPct val="100000"/>
              </a:lnSpc>
              <a:spcBef>
                <a:spcPts val="515"/>
              </a:spcBef>
              <a:spcAft>
                <a:spcPts val="0"/>
              </a:spcAft>
              <a:buNone/>
            </a:pPr>
            <a:r>
              <a:rPr baseline="30000" lang="en-US" sz="1800">
                <a:latin typeface="Cambria Math"/>
                <a:ea typeface="Cambria Math"/>
                <a:cs typeface="Cambria Math"/>
                <a:sym typeface="Cambria Math"/>
              </a:rPr>
              <a:t>𝑋</a:t>
            </a:r>
            <a:r>
              <a:rPr lang="en-US" sz="850">
                <a:latin typeface="Cambria Math"/>
                <a:ea typeface="Cambria Math"/>
                <a:cs typeface="Cambria Math"/>
                <a:sym typeface="Cambria Math"/>
              </a:rPr>
              <a:t>𝑚𝑎𝑥 </a:t>
            </a:r>
            <a:r>
              <a:rPr baseline="30000" lang="en-US" sz="1800">
                <a:latin typeface="Cambria Math"/>
                <a:ea typeface="Cambria Math"/>
                <a:cs typeface="Cambria Math"/>
                <a:sym typeface="Cambria Math"/>
              </a:rPr>
              <a:t>− 𝑋</a:t>
            </a:r>
            <a:r>
              <a:rPr lang="en-US" sz="850">
                <a:latin typeface="Cambria Math"/>
                <a:ea typeface="Cambria Math"/>
                <a:cs typeface="Cambria Math"/>
                <a:sym typeface="Cambria Math"/>
              </a:rPr>
              <a:t>𝑚𝑖𝑛</a:t>
            </a:r>
            <a:endParaRPr sz="850">
              <a:latin typeface="Cambria Math"/>
              <a:ea typeface="Cambria Math"/>
              <a:cs typeface="Cambria Math"/>
              <a:sym typeface="Cambria Math"/>
            </a:endParaRPr>
          </a:p>
        </p:txBody>
      </p:sp>
      <p:sp>
        <p:nvSpPr>
          <p:cNvPr id="179" name="Google Shape;179;p11"/>
          <p:cNvSpPr txBox="1"/>
          <p:nvPr>
            <p:ph idx="12" type="sldNum"/>
          </p:nvPr>
        </p:nvSpPr>
        <p:spPr>
          <a:xfrm>
            <a:off x="8401811" y="4830876"/>
            <a:ext cx="244475" cy="177800"/>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
        <p:nvSpPr>
          <p:cNvPr id="180" name="Google Shape;180;p11"/>
          <p:cNvSpPr txBox="1"/>
          <p:nvPr/>
        </p:nvSpPr>
        <p:spPr>
          <a:xfrm>
            <a:off x="6107810" y="4174032"/>
            <a:ext cx="882015" cy="208279"/>
          </a:xfrm>
          <a:prstGeom prst="rect">
            <a:avLst/>
          </a:prstGeom>
          <a:noFill/>
          <a:ln>
            <a:noFill/>
          </a:ln>
        </p:spPr>
        <p:txBody>
          <a:bodyPr anchorCtr="0" anchor="t" bIns="0" lIns="0" spcFirstLastPara="1" rIns="0" wrap="square" tIns="12700">
            <a:spAutoFit/>
          </a:bodyPr>
          <a:lstStyle/>
          <a:p>
            <a:pPr indent="0" lvl="0" marL="25400" rtl="0" algn="l">
              <a:lnSpc>
                <a:spcPct val="100000"/>
              </a:lnSpc>
              <a:spcBef>
                <a:spcPts val="0"/>
              </a:spcBef>
              <a:spcAft>
                <a:spcPts val="0"/>
              </a:spcAft>
              <a:buNone/>
            </a:pPr>
            <a:r>
              <a:rPr baseline="-25000" lang="en-US" sz="1800">
                <a:latin typeface="Cambria Math"/>
                <a:ea typeface="Cambria Math"/>
                <a:cs typeface="Cambria Math"/>
                <a:sym typeface="Cambria Math"/>
              </a:rPr>
              <a:t>𝑋</a:t>
            </a:r>
            <a:r>
              <a:rPr baseline="-25000" lang="en-US" sz="1275">
                <a:latin typeface="Cambria Math"/>
                <a:ea typeface="Cambria Math"/>
                <a:cs typeface="Cambria Math"/>
                <a:sym typeface="Cambria Math"/>
              </a:rPr>
              <a:t>′ </a:t>
            </a:r>
            <a:r>
              <a:rPr baseline="-25000" lang="en-US" sz="1800">
                <a:latin typeface="Cambria Math"/>
                <a:ea typeface="Cambria Math"/>
                <a:cs typeface="Cambria Math"/>
                <a:sym typeface="Cambria Math"/>
              </a:rPr>
              <a:t>= </a:t>
            </a:r>
            <a:r>
              <a:rPr lang="en-US" sz="1200">
                <a:latin typeface="Cambria Math"/>
                <a:ea typeface="Cambria Math"/>
                <a:cs typeface="Cambria Math"/>
                <a:sym typeface="Cambria Math"/>
              </a:rPr>
              <a:t>𝑋 − 𝜇</a:t>
            </a:r>
            <a:endParaRPr sz="1200">
              <a:latin typeface="Cambria Math"/>
              <a:ea typeface="Cambria Math"/>
              <a:cs typeface="Cambria Math"/>
              <a:sym typeface="Cambria Math"/>
            </a:endParaRPr>
          </a:p>
        </p:txBody>
      </p:sp>
      <p:sp>
        <p:nvSpPr>
          <p:cNvPr id="181" name="Google Shape;181;p11"/>
          <p:cNvSpPr txBox="1"/>
          <p:nvPr/>
        </p:nvSpPr>
        <p:spPr>
          <a:xfrm>
            <a:off x="6689470" y="4391964"/>
            <a:ext cx="102235" cy="208279"/>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lang="en-US" sz="1200">
                <a:latin typeface="Cambria Math"/>
                <a:ea typeface="Cambria Math"/>
                <a:cs typeface="Cambria Math"/>
                <a:sym typeface="Cambria Math"/>
              </a:rPr>
              <a:t>𝜎</a:t>
            </a:r>
            <a:endParaRPr sz="1200">
              <a:latin typeface="Cambria Math"/>
              <a:ea typeface="Cambria Math"/>
              <a:cs typeface="Cambria Math"/>
              <a:sym typeface="Cambria Math"/>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2"/>
          <p:cNvSpPr txBox="1"/>
          <p:nvPr>
            <p:ph type="title"/>
          </p:nvPr>
        </p:nvSpPr>
        <p:spPr>
          <a:xfrm>
            <a:off x="535940" y="454913"/>
            <a:ext cx="7755890" cy="452119"/>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Data scaling using various scalers</a:t>
            </a:r>
            <a:endParaRPr/>
          </a:p>
        </p:txBody>
      </p:sp>
      <p:sp>
        <p:nvSpPr>
          <p:cNvPr id="187" name="Google Shape;187;p12"/>
          <p:cNvSpPr txBox="1"/>
          <p:nvPr/>
        </p:nvSpPr>
        <p:spPr>
          <a:xfrm>
            <a:off x="1096467" y="4479747"/>
            <a:ext cx="4149725" cy="177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000" u="sng">
                <a:solidFill>
                  <a:srgbClr val="919191"/>
                </a:solidFill>
                <a:latin typeface="Calibri"/>
                <a:ea typeface="Calibri"/>
                <a:cs typeface="Calibri"/>
                <a:sym typeface="Calibri"/>
                <a:hlinkClick r:id="rId3">
                  <a:extLst>
                    <a:ext uri="{A12FA001-AC4F-418D-AE19-62706E023703}">
                      <ahyp:hlinkClr val="tx"/>
                    </a:ext>
                  </a:extLst>
                </a:hlinkClick>
              </a:rPr>
              <a:t>Preprocessing Data: Feature Scaling | by Kamal Chouhbi | Towards Data Science</a:t>
            </a:r>
            <a:endParaRPr sz="1000">
              <a:latin typeface="Calibri"/>
              <a:ea typeface="Calibri"/>
              <a:cs typeface="Calibri"/>
              <a:sym typeface="Calibri"/>
            </a:endParaRPr>
          </a:p>
        </p:txBody>
      </p:sp>
      <p:pic>
        <p:nvPicPr>
          <p:cNvPr id="188" name="Google Shape;188;p12"/>
          <p:cNvPicPr preferRelativeResize="0"/>
          <p:nvPr/>
        </p:nvPicPr>
        <p:blipFill rotWithShape="1">
          <a:blip r:embed="rId4">
            <a:alphaModFix/>
          </a:blip>
          <a:srcRect b="0" l="0" r="0" t="0"/>
          <a:stretch/>
        </p:blipFill>
        <p:spPr>
          <a:xfrm>
            <a:off x="812509" y="1892369"/>
            <a:ext cx="7172814" cy="2390727"/>
          </a:xfrm>
          <a:prstGeom prst="rect">
            <a:avLst/>
          </a:prstGeom>
          <a:noFill/>
          <a:ln>
            <a:noFill/>
          </a:ln>
        </p:spPr>
      </p:pic>
      <p:sp>
        <p:nvSpPr>
          <p:cNvPr id="189" name="Google Shape;189;p12"/>
          <p:cNvSpPr txBox="1"/>
          <p:nvPr/>
        </p:nvSpPr>
        <p:spPr>
          <a:xfrm>
            <a:off x="6848982" y="1466468"/>
            <a:ext cx="271145" cy="177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000">
                <a:latin typeface="Cambria Math"/>
                <a:ea typeface="Cambria Math"/>
                <a:cs typeface="Cambria Math"/>
                <a:sym typeface="Cambria Math"/>
              </a:rPr>
              <a:t>𝑋′ =</a:t>
            </a:r>
            <a:endParaRPr sz="1000">
              <a:latin typeface="Cambria Math"/>
              <a:ea typeface="Cambria Math"/>
              <a:cs typeface="Cambria Math"/>
              <a:sym typeface="Cambria Math"/>
            </a:endParaRPr>
          </a:p>
        </p:txBody>
      </p:sp>
      <p:sp>
        <p:nvSpPr>
          <p:cNvPr id="190" name="Google Shape;190;p12"/>
          <p:cNvSpPr/>
          <p:nvPr/>
        </p:nvSpPr>
        <p:spPr>
          <a:xfrm>
            <a:off x="7142353" y="1565528"/>
            <a:ext cx="367665" cy="7620"/>
          </a:xfrm>
          <a:custGeom>
            <a:rect b="b" l="l" r="r" t="t"/>
            <a:pathLst>
              <a:path extrusionOk="0" h="7619" w="367665">
                <a:moveTo>
                  <a:pt x="367283" y="0"/>
                </a:moveTo>
                <a:lnTo>
                  <a:pt x="0" y="0"/>
                </a:lnTo>
                <a:lnTo>
                  <a:pt x="0" y="7620"/>
                </a:lnTo>
                <a:lnTo>
                  <a:pt x="367283" y="7620"/>
                </a:lnTo>
                <a:lnTo>
                  <a:pt x="367283"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91" name="Google Shape;191;p12"/>
          <p:cNvSpPr txBox="1"/>
          <p:nvPr/>
        </p:nvSpPr>
        <p:spPr>
          <a:xfrm>
            <a:off x="7130922" y="1370456"/>
            <a:ext cx="389255" cy="177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000">
                <a:latin typeface="Cambria Math"/>
                <a:ea typeface="Cambria Math"/>
                <a:cs typeface="Cambria Math"/>
                <a:sym typeface="Cambria Math"/>
              </a:rPr>
              <a:t>𝑋 − 𝜇</a:t>
            </a:r>
            <a:endParaRPr sz="1000">
              <a:latin typeface="Cambria Math"/>
              <a:ea typeface="Cambria Math"/>
              <a:cs typeface="Cambria Math"/>
              <a:sym typeface="Cambria Math"/>
            </a:endParaRPr>
          </a:p>
        </p:txBody>
      </p:sp>
      <p:sp>
        <p:nvSpPr>
          <p:cNvPr id="192" name="Google Shape;192;p12"/>
          <p:cNvSpPr txBox="1"/>
          <p:nvPr>
            <p:ph idx="12" type="sldNum"/>
          </p:nvPr>
        </p:nvSpPr>
        <p:spPr>
          <a:xfrm>
            <a:off x="8401811" y="4830876"/>
            <a:ext cx="244475" cy="177800"/>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
        <p:nvSpPr>
          <p:cNvPr id="193" name="Google Shape;193;p12"/>
          <p:cNvSpPr txBox="1"/>
          <p:nvPr/>
        </p:nvSpPr>
        <p:spPr>
          <a:xfrm>
            <a:off x="7275703" y="1551812"/>
            <a:ext cx="99695" cy="177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000">
                <a:latin typeface="Cambria Math"/>
                <a:ea typeface="Cambria Math"/>
                <a:cs typeface="Cambria Math"/>
                <a:sym typeface="Cambria Math"/>
              </a:rPr>
              <a:t>𝜎</a:t>
            </a:r>
            <a:endParaRPr sz="1000">
              <a:latin typeface="Cambria Math"/>
              <a:ea typeface="Cambria Math"/>
              <a:cs typeface="Cambria Math"/>
              <a:sym typeface="Cambria Math"/>
            </a:endParaRPr>
          </a:p>
        </p:txBody>
      </p:sp>
      <p:sp>
        <p:nvSpPr>
          <p:cNvPr id="194" name="Google Shape;194;p12"/>
          <p:cNvSpPr txBox="1"/>
          <p:nvPr/>
        </p:nvSpPr>
        <p:spPr>
          <a:xfrm>
            <a:off x="4805807" y="1282725"/>
            <a:ext cx="1096645" cy="440055"/>
          </a:xfrm>
          <a:prstGeom prst="rect">
            <a:avLst/>
          </a:prstGeom>
          <a:noFill/>
          <a:ln>
            <a:noFill/>
          </a:ln>
        </p:spPr>
        <p:txBody>
          <a:bodyPr anchorCtr="0" anchor="t" bIns="0" lIns="0" spcFirstLastPara="1" rIns="0" wrap="square" tIns="67300">
            <a:spAutoFit/>
          </a:bodyPr>
          <a:lstStyle/>
          <a:p>
            <a:pPr indent="0" lvl="0" marL="38100" rtl="0" algn="l">
              <a:lnSpc>
                <a:spcPct val="100000"/>
              </a:lnSpc>
              <a:spcBef>
                <a:spcPts val="0"/>
              </a:spcBef>
              <a:spcAft>
                <a:spcPts val="0"/>
              </a:spcAft>
              <a:buNone/>
            </a:pPr>
            <a:r>
              <a:rPr baseline="-25000" lang="en-US" sz="1500">
                <a:latin typeface="Cambria Math"/>
                <a:ea typeface="Cambria Math"/>
                <a:cs typeface="Cambria Math"/>
                <a:sym typeface="Cambria Math"/>
              </a:rPr>
              <a:t>𝑋</a:t>
            </a:r>
            <a:r>
              <a:rPr baseline="-25000" lang="en-US" sz="1050">
                <a:latin typeface="Cambria Math"/>
                <a:ea typeface="Cambria Math"/>
                <a:cs typeface="Cambria Math"/>
                <a:sym typeface="Cambria Math"/>
              </a:rPr>
              <a:t>′ </a:t>
            </a:r>
            <a:r>
              <a:rPr baseline="-25000" lang="en-US" sz="1500">
                <a:latin typeface="Cambria Math"/>
                <a:ea typeface="Cambria Math"/>
                <a:cs typeface="Cambria Math"/>
                <a:sym typeface="Cambria Math"/>
              </a:rPr>
              <a:t>= </a:t>
            </a:r>
            <a:r>
              <a:rPr lang="en-US" sz="1000" u="sng">
                <a:latin typeface="Cambria Math"/>
                <a:ea typeface="Cambria Math"/>
                <a:cs typeface="Cambria Math"/>
                <a:sym typeface="Cambria Math"/>
              </a:rPr>
              <a:t> 𝑋 − 𝑋</a:t>
            </a:r>
            <a:r>
              <a:rPr baseline="-25000" lang="en-US" sz="1050" u="sng">
                <a:latin typeface="Cambria Math"/>
                <a:ea typeface="Cambria Math"/>
                <a:cs typeface="Cambria Math"/>
                <a:sym typeface="Cambria Math"/>
              </a:rPr>
              <a:t>𝑚𝑖𝑛 </a:t>
            </a:r>
            <a:endParaRPr baseline="-25000" sz="1050">
              <a:latin typeface="Cambria Math"/>
              <a:ea typeface="Cambria Math"/>
              <a:cs typeface="Cambria Math"/>
              <a:sym typeface="Cambria Math"/>
            </a:endParaRPr>
          </a:p>
          <a:p>
            <a:pPr indent="0" lvl="0" marL="359410" rtl="0" algn="l">
              <a:lnSpc>
                <a:spcPct val="100000"/>
              </a:lnSpc>
              <a:spcBef>
                <a:spcPts val="434"/>
              </a:spcBef>
              <a:spcAft>
                <a:spcPts val="0"/>
              </a:spcAft>
              <a:buNone/>
            </a:pPr>
            <a:r>
              <a:rPr baseline="30000" lang="en-US" sz="1500">
                <a:latin typeface="Cambria Math"/>
                <a:ea typeface="Cambria Math"/>
                <a:cs typeface="Cambria Math"/>
                <a:sym typeface="Cambria Math"/>
              </a:rPr>
              <a:t>𝑋</a:t>
            </a:r>
            <a:r>
              <a:rPr lang="en-US" sz="700">
                <a:latin typeface="Cambria Math"/>
                <a:ea typeface="Cambria Math"/>
                <a:cs typeface="Cambria Math"/>
                <a:sym typeface="Cambria Math"/>
              </a:rPr>
              <a:t>𝑚𝑎𝑥 </a:t>
            </a:r>
            <a:r>
              <a:rPr baseline="30000" lang="en-US" sz="1500">
                <a:latin typeface="Cambria Math"/>
                <a:ea typeface="Cambria Math"/>
                <a:cs typeface="Cambria Math"/>
                <a:sym typeface="Cambria Math"/>
              </a:rPr>
              <a:t>− 𝑋</a:t>
            </a:r>
            <a:r>
              <a:rPr lang="en-US" sz="700">
                <a:latin typeface="Cambria Math"/>
                <a:ea typeface="Cambria Math"/>
                <a:cs typeface="Cambria Math"/>
                <a:sym typeface="Cambria Math"/>
              </a:rPr>
              <a:t>𝑚𝑖𝑛</a:t>
            </a:r>
            <a:endParaRPr sz="700">
              <a:latin typeface="Cambria Math"/>
              <a:ea typeface="Cambria Math"/>
              <a:cs typeface="Cambria Math"/>
              <a:sym typeface="Cambria Math"/>
            </a:endParaRPr>
          </a:p>
        </p:txBody>
      </p:sp>
      <p:sp>
        <p:nvSpPr>
          <p:cNvPr id="195" name="Google Shape;195;p12"/>
          <p:cNvSpPr txBox="1"/>
          <p:nvPr/>
        </p:nvSpPr>
        <p:spPr>
          <a:xfrm>
            <a:off x="3030601" y="1285392"/>
            <a:ext cx="1182370" cy="388620"/>
          </a:xfrm>
          <a:prstGeom prst="rect">
            <a:avLst/>
          </a:prstGeom>
          <a:noFill/>
          <a:ln>
            <a:noFill/>
          </a:ln>
        </p:spPr>
        <p:txBody>
          <a:bodyPr anchorCtr="0" anchor="t" bIns="0" lIns="0" spcFirstLastPara="1" rIns="0" wrap="square" tIns="41275">
            <a:spAutoFit/>
          </a:bodyPr>
          <a:lstStyle/>
          <a:p>
            <a:pPr indent="0" lvl="0" marL="38100" rtl="0" algn="l">
              <a:lnSpc>
                <a:spcPct val="100000"/>
              </a:lnSpc>
              <a:spcBef>
                <a:spcPts val="0"/>
              </a:spcBef>
              <a:spcAft>
                <a:spcPts val="0"/>
              </a:spcAft>
              <a:buNone/>
            </a:pPr>
            <a:r>
              <a:rPr baseline="-25000" lang="en-US" sz="1500">
                <a:latin typeface="Cambria Math"/>
                <a:ea typeface="Cambria Math"/>
                <a:cs typeface="Cambria Math"/>
                <a:sym typeface="Cambria Math"/>
              </a:rPr>
              <a:t>𝑋</a:t>
            </a:r>
            <a:r>
              <a:rPr baseline="-25000" lang="en-US" sz="1050">
                <a:latin typeface="Cambria Math"/>
                <a:ea typeface="Cambria Math"/>
                <a:cs typeface="Cambria Math"/>
                <a:sym typeface="Cambria Math"/>
              </a:rPr>
              <a:t>′ </a:t>
            </a:r>
            <a:r>
              <a:rPr baseline="-25000" lang="en-US" sz="1500">
                <a:latin typeface="Cambria Math"/>
                <a:ea typeface="Cambria Math"/>
                <a:cs typeface="Cambria Math"/>
                <a:sym typeface="Cambria Math"/>
              </a:rPr>
              <a:t>= </a:t>
            </a:r>
            <a:r>
              <a:rPr lang="en-US" sz="1000" u="sng">
                <a:latin typeface="Cambria Math"/>
                <a:ea typeface="Cambria Math"/>
                <a:cs typeface="Cambria Math"/>
                <a:sym typeface="Cambria Math"/>
              </a:rPr>
              <a:t> 𝑥</a:t>
            </a:r>
            <a:r>
              <a:rPr baseline="-25000" lang="en-US" sz="1050" u="sng">
                <a:latin typeface="Cambria Math"/>
                <a:ea typeface="Cambria Math"/>
                <a:cs typeface="Cambria Math"/>
                <a:sym typeface="Cambria Math"/>
              </a:rPr>
              <a:t>𝑖 </a:t>
            </a:r>
            <a:r>
              <a:rPr lang="en-US" sz="1000" u="sng">
                <a:latin typeface="Cambria Math"/>
                <a:ea typeface="Cambria Math"/>
                <a:cs typeface="Cambria Math"/>
                <a:sym typeface="Cambria Math"/>
              </a:rPr>
              <a:t>− 𝑄</a:t>
            </a:r>
            <a:r>
              <a:rPr baseline="-25000" lang="en-US" sz="1050" u="sng">
                <a:latin typeface="Cambria Math"/>
                <a:ea typeface="Cambria Math"/>
                <a:cs typeface="Cambria Math"/>
                <a:sym typeface="Cambria Math"/>
              </a:rPr>
              <a:t>1</a:t>
            </a:r>
            <a:r>
              <a:rPr lang="en-US" sz="1000" u="sng">
                <a:latin typeface="Cambria Math"/>
                <a:ea typeface="Cambria Math"/>
                <a:cs typeface="Cambria Math"/>
                <a:sym typeface="Cambria Math"/>
              </a:rPr>
              <a:t>(𝑥) </a:t>
            </a:r>
            <a:endParaRPr sz="1000">
              <a:latin typeface="Cambria Math"/>
              <a:ea typeface="Cambria Math"/>
              <a:cs typeface="Cambria Math"/>
              <a:sym typeface="Cambria Math"/>
            </a:endParaRPr>
          </a:p>
          <a:p>
            <a:pPr indent="0" lvl="0" marL="359410" rtl="0" algn="l">
              <a:lnSpc>
                <a:spcPct val="100000"/>
              </a:lnSpc>
              <a:spcBef>
                <a:spcPts val="229"/>
              </a:spcBef>
              <a:spcAft>
                <a:spcPts val="0"/>
              </a:spcAft>
              <a:buNone/>
            </a:pPr>
            <a:r>
              <a:rPr lang="en-US" sz="1000">
                <a:latin typeface="Cambria Math"/>
                <a:ea typeface="Cambria Math"/>
                <a:cs typeface="Cambria Math"/>
                <a:sym typeface="Cambria Math"/>
              </a:rPr>
              <a:t>𝑄</a:t>
            </a:r>
            <a:r>
              <a:rPr baseline="-25000" lang="en-US" sz="1050">
                <a:latin typeface="Cambria Math"/>
                <a:ea typeface="Cambria Math"/>
                <a:cs typeface="Cambria Math"/>
                <a:sym typeface="Cambria Math"/>
              </a:rPr>
              <a:t>3</a:t>
            </a:r>
            <a:r>
              <a:rPr lang="en-US" sz="1000">
                <a:latin typeface="Cambria Math"/>
                <a:ea typeface="Cambria Math"/>
                <a:cs typeface="Cambria Math"/>
                <a:sym typeface="Cambria Math"/>
              </a:rPr>
              <a:t>(𝑥) − 𝑄</a:t>
            </a:r>
            <a:r>
              <a:rPr baseline="-25000" lang="en-US" sz="1050">
                <a:latin typeface="Cambria Math"/>
                <a:ea typeface="Cambria Math"/>
                <a:cs typeface="Cambria Math"/>
                <a:sym typeface="Cambria Math"/>
              </a:rPr>
              <a:t>1</a:t>
            </a:r>
            <a:r>
              <a:rPr lang="en-US" sz="1000">
                <a:latin typeface="Cambria Math"/>
                <a:ea typeface="Cambria Math"/>
                <a:cs typeface="Cambria Math"/>
                <a:sym typeface="Cambria Math"/>
              </a:rPr>
              <a:t>(𝑥)</a:t>
            </a:r>
            <a:endParaRPr sz="1000">
              <a:latin typeface="Cambria Math"/>
              <a:ea typeface="Cambria Math"/>
              <a:cs typeface="Cambria Math"/>
              <a:sym typeface="Cambria Math"/>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grpSp>
        <p:nvGrpSpPr>
          <p:cNvPr id="200" name="Google Shape;200;p13"/>
          <p:cNvGrpSpPr/>
          <p:nvPr/>
        </p:nvGrpSpPr>
        <p:grpSpPr>
          <a:xfrm>
            <a:off x="609600" y="3607429"/>
            <a:ext cx="4105655" cy="1296802"/>
            <a:chOff x="609600" y="3607429"/>
            <a:chExt cx="4105655" cy="1296802"/>
          </a:xfrm>
        </p:grpSpPr>
        <p:pic>
          <p:nvPicPr>
            <p:cNvPr id="201" name="Google Shape;201;p13"/>
            <p:cNvPicPr preferRelativeResize="0"/>
            <p:nvPr/>
          </p:nvPicPr>
          <p:blipFill rotWithShape="1">
            <a:blip r:embed="rId3">
              <a:alphaModFix/>
            </a:blip>
            <a:srcRect b="0" l="0" r="0" t="0"/>
            <a:stretch/>
          </p:blipFill>
          <p:spPr>
            <a:xfrm>
              <a:off x="2667000" y="3607429"/>
              <a:ext cx="2048255" cy="880750"/>
            </a:xfrm>
            <a:prstGeom prst="rect">
              <a:avLst/>
            </a:prstGeom>
            <a:noFill/>
            <a:ln>
              <a:noFill/>
            </a:ln>
          </p:spPr>
        </p:pic>
        <p:pic>
          <p:nvPicPr>
            <p:cNvPr id="202" name="Google Shape;202;p13"/>
            <p:cNvPicPr preferRelativeResize="0"/>
            <p:nvPr/>
          </p:nvPicPr>
          <p:blipFill rotWithShape="1">
            <a:blip r:embed="rId4">
              <a:alphaModFix/>
            </a:blip>
            <a:srcRect b="0" l="0" r="0" t="0"/>
            <a:stretch/>
          </p:blipFill>
          <p:spPr>
            <a:xfrm>
              <a:off x="609600" y="4006595"/>
              <a:ext cx="2193036" cy="897636"/>
            </a:xfrm>
            <a:prstGeom prst="rect">
              <a:avLst/>
            </a:prstGeom>
            <a:noFill/>
            <a:ln>
              <a:noFill/>
            </a:ln>
          </p:spPr>
        </p:pic>
      </p:grpSp>
      <p:sp>
        <p:nvSpPr>
          <p:cNvPr id="203" name="Google Shape;203;p13"/>
          <p:cNvSpPr txBox="1"/>
          <p:nvPr>
            <p:ph type="title"/>
          </p:nvPr>
        </p:nvSpPr>
        <p:spPr>
          <a:xfrm>
            <a:off x="535940" y="454913"/>
            <a:ext cx="7755890" cy="452119"/>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Feature types</a:t>
            </a:r>
            <a:endParaRPr/>
          </a:p>
        </p:txBody>
      </p:sp>
      <p:sp>
        <p:nvSpPr>
          <p:cNvPr id="204" name="Google Shape;204;p13"/>
          <p:cNvSpPr txBox="1"/>
          <p:nvPr/>
        </p:nvSpPr>
        <p:spPr>
          <a:xfrm>
            <a:off x="917244" y="1634108"/>
            <a:ext cx="3293745" cy="2144818"/>
          </a:xfrm>
          <a:prstGeom prst="rect">
            <a:avLst/>
          </a:prstGeom>
          <a:noFill/>
          <a:ln>
            <a:noFill/>
          </a:ln>
        </p:spPr>
        <p:txBody>
          <a:bodyPr anchorCtr="0" anchor="t" bIns="0" lIns="0" spcFirstLastPara="1" rIns="0" wrap="square" tIns="13325">
            <a:spAutoFit/>
          </a:bodyPr>
          <a:lstStyle/>
          <a:p>
            <a:pPr indent="0" lvl="0" marL="12700" marR="5080" rtl="0" algn="l">
              <a:lnSpc>
                <a:spcPct val="100000"/>
              </a:lnSpc>
              <a:spcBef>
                <a:spcPts val="0"/>
              </a:spcBef>
              <a:spcAft>
                <a:spcPts val="0"/>
              </a:spcAft>
              <a:buNone/>
            </a:pPr>
            <a:r>
              <a:rPr lang="en-US" sz="1400">
                <a:latin typeface="Calibri"/>
                <a:ea typeface="Calibri"/>
                <a:cs typeface="Calibri"/>
                <a:sym typeface="Calibri"/>
              </a:rPr>
              <a:t>Categorical data can be stored and identified by names or labels, i.e. </a:t>
            </a:r>
            <a:r>
              <a:rPr b="1" lang="en-US" sz="1400">
                <a:latin typeface="Calibri"/>
                <a:ea typeface="Calibri"/>
                <a:cs typeface="Calibri"/>
                <a:sym typeface="Calibri"/>
              </a:rPr>
              <a:t>qualitative data.</a:t>
            </a:r>
            <a:endParaRPr sz="1400">
              <a:latin typeface="Calibri"/>
              <a:ea typeface="Calibri"/>
              <a:cs typeface="Calibri"/>
              <a:sym typeface="Calibri"/>
            </a:endParaRPr>
          </a:p>
          <a:p>
            <a:pPr indent="0" lvl="0" marL="12700" rtl="0" algn="l">
              <a:lnSpc>
                <a:spcPct val="100000"/>
              </a:lnSpc>
              <a:spcBef>
                <a:spcPts val="335"/>
              </a:spcBef>
              <a:spcAft>
                <a:spcPts val="0"/>
              </a:spcAft>
              <a:buNone/>
            </a:pPr>
            <a:r>
              <a:rPr lang="en-US" sz="1400">
                <a:latin typeface="Calibri"/>
                <a:ea typeface="Calibri"/>
                <a:cs typeface="Calibri"/>
                <a:sym typeface="Calibri"/>
              </a:rPr>
              <a:t>Subtypes:</a:t>
            </a:r>
            <a:endParaRPr sz="1400">
              <a:latin typeface="Calibri"/>
              <a:ea typeface="Calibri"/>
              <a:cs typeface="Calibri"/>
              <a:sym typeface="Calibri"/>
            </a:endParaRPr>
          </a:p>
          <a:p>
            <a:pPr indent="-285750" lvl="1" marL="298450" rtl="0" algn="l">
              <a:spcBef>
                <a:spcPts val="335"/>
              </a:spcBef>
              <a:spcAft>
                <a:spcPts val="0"/>
              </a:spcAft>
              <a:buSzPts val="1400"/>
              <a:buFont typeface="Arial"/>
              <a:buChar char="•"/>
            </a:pPr>
            <a:r>
              <a:rPr b="1" lang="en-US" sz="1400">
                <a:latin typeface="Calibri"/>
                <a:ea typeface="Calibri"/>
                <a:cs typeface="Calibri"/>
                <a:sym typeface="Calibri"/>
              </a:rPr>
              <a:t>Nominal data:</a:t>
            </a:r>
            <a:r>
              <a:rPr lang="en-US" sz="1400">
                <a:latin typeface="Calibri"/>
                <a:ea typeface="Calibri"/>
                <a:cs typeface="Calibri"/>
                <a:sym typeface="Calibri"/>
              </a:rPr>
              <a:t> naming data (e.g. name, gender, address).</a:t>
            </a:r>
            <a:endParaRPr/>
          </a:p>
          <a:p>
            <a:pPr indent="-285750" lvl="1" marL="298450" rtl="0" algn="l">
              <a:spcBef>
                <a:spcPts val="335"/>
              </a:spcBef>
              <a:spcAft>
                <a:spcPts val="0"/>
              </a:spcAft>
              <a:buSzPts val="1400"/>
              <a:buFont typeface="Arial"/>
              <a:buChar char="•"/>
            </a:pPr>
            <a:r>
              <a:rPr b="1" lang="en-US" sz="1400">
                <a:latin typeface="Calibri"/>
                <a:ea typeface="Calibri"/>
                <a:cs typeface="Calibri"/>
                <a:sym typeface="Calibri"/>
              </a:rPr>
              <a:t>Ordinal data: </a:t>
            </a:r>
            <a:r>
              <a:rPr lang="en-US" sz="1400">
                <a:latin typeface="Calibri"/>
                <a:ea typeface="Calibri"/>
                <a:cs typeface="Calibri"/>
                <a:sym typeface="Calibri"/>
              </a:rPr>
              <a:t>ranked data (e.g. education level, course satisfaction level).</a:t>
            </a:r>
            <a:endParaRPr/>
          </a:p>
          <a:p>
            <a:pPr indent="-196850" lvl="1" marL="298450" rtl="0" algn="l">
              <a:spcBef>
                <a:spcPts val="335"/>
              </a:spcBef>
              <a:spcAft>
                <a:spcPts val="0"/>
              </a:spcAft>
              <a:buSzPts val="1400"/>
              <a:buFont typeface="Arial"/>
              <a:buNone/>
            </a:pPr>
            <a:r>
              <a:t/>
            </a:r>
            <a:endParaRPr sz="1400">
              <a:latin typeface="Calibri"/>
              <a:ea typeface="Calibri"/>
              <a:cs typeface="Calibri"/>
              <a:sym typeface="Calibri"/>
            </a:endParaRPr>
          </a:p>
          <a:p>
            <a:pPr indent="0" lvl="0" marL="12700" rtl="0" algn="l">
              <a:lnSpc>
                <a:spcPct val="100000"/>
              </a:lnSpc>
              <a:spcBef>
                <a:spcPts val="335"/>
              </a:spcBef>
              <a:spcAft>
                <a:spcPts val="0"/>
              </a:spcAft>
              <a:buNone/>
            </a:pPr>
            <a:r>
              <a:t/>
            </a:r>
            <a:endParaRPr sz="1400">
              <a:latin typeface="Calibri"/>
              <a:ea typeface="Calibri"/>
              <a:cs typeface="Calibri"/>
              <a:sym typeface="Calibri"/>
            </a:endParaRPr>
          </a:p>
        </p:txBody>
      </p:sp>
      <p:pic>
        <p:nvPicPr>
          <p:cNvPr id="205" name="Google Shape;205;p13"/>
          <p:cNvPicPr preferRelativeResize="0"/>
          <p:nvPr/>
        </p:nvPicPr>
        <p:blipFill rotWithShape="1">
          <a:blip r:embed="rId5">
            <a:alphaModFix/>
          </a:blip>
          <a:srcRect b="0" l="0" r="0" t="0"/>
          <a:stretch/>
        </p:blipFill>
        <p:spPr>
          <a:xfrm>
            <a:off x="586905" y="1701164"/>
            <a:ext cx="114300" cy="124967"/>
          </a:xfrm>
          <a:prstGeom prst="rect">
            <a:avLst/>
          </a:prstGeom>
          <a:noFill/>
          <a:ln>
            <a:noFill/>
          </a:ln>
        </p:spPr>
      </p:pic>
      <p:pic>
        <p:nvPicPr>
          <p:cNvPr id="206" name="Google Shape;206;p13"/>
          <p:cNvPicPr preferRelativeResize="0"/>
          <p:nvPr/>
        </p:nvPicPr>
        <p:blipFill rotWithShape="1">
          <a:blip r:embed="rId5">
            <a:alphaModFix/>
          </a:blip>
          <a:srcRect b="0" l="0" r="0" t="0"/>
          <a:stretch/>
        </p:blipFill>
        <p:spPr>
          <a:xfrm>
            <a:off x="586905" y="2170557"/>
            <a:ext cx="114300" cy="124968"/>
          </a:xfrm>
          <a:prstGeom prst="rect">
            <a:avLst/>
          </a:prstGeom>
          <a:noFill/>
          <a:ln>
            <a:noFill/>
          </a:ln>
        </p:spPr>
      </p:pic>
      <p:sp>
        <p:nvSpPr>
          <p:cNvPr id="207" name="Google Shape;207;p13"/>
          <p:cNvSpPr txBox="1"/>
          <p:nvPr/>
        </p:nvSpPr>
        <p:spPr>
          <a:xfrm>
            <a:off x="5048758" y="1635963"/>
            <a:ext cx="3180080" cy="257570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1400">
                <a:latin typeface="Calibri"/>
                <a:ea typeface="Calibri"/>
                <a:cs typeface="Calibri"/>
                <a:sym typeface="Calibri"/>
              </a:rPr>
              <a:t>Numerical data are numbers, not words or</a:t>
            </a:r>
            <a:endParaRPr sz="1400">
              <a:latin typeface="Calibri"/>
              <a:ea typeface="Calibri"/>
              <a:cs typeface="Calibri"/>
              <a:sym typeface="Calibri"/>
            </a:endParaRPr>
          </a:p>
          <a:p>
            <a:pPr indent="0" lvl="0" marL="12700" rtl="0" algn="l">
              <a:lnSpc>
                <a:spcPct val="100000"/>
              </a:lnSpc>
              <a:spcBef>
                <a:spcPts val="0"/>
              </a:spcBef>
              <a:spcAft>
                <a:spcPts val="0"/>
              </a:spcAft>
              <a:buNone/>
            </a:pPr>
            <a:r>
              <a:rPr lang="en-US" sz="1400">
                <a:latin typeface="Calibri"/>
                <a:ea typeface="Calibri"/>
                <a:cs typeface="Calibri"/>
                <a:sym typeface="Calibri"/>
              </a:rPr>
              <a:t>descriptions, i.e. </a:t>
            </a:r>
            <a:r>
              <a:rPr b="1" lang="en-US" sz="1400">
                <a:latin typeface="Calibri"/>
                <a:ea typeface="Calibri"/>
                <a:cs typeface="Calibri"/>
                <a:sym typeface="Calibri"/>
              </a:rPr>
              <a:t>quantitative data</a:t>
            </a:r>
            <a:r>
              <a:rPr lang="en-US" sz="1400">
                <a:latin typeface="Calibri"/>
                <a:ea typeface="Calibri"/>
                <a:cs typeface="Calibri"/>
                <a:sym typeface="Calibri"/>
              </a:rPr>
              <a:t>.</a:t>
            </a:r>
            <a:endParaRPr sz="1400">
              <a:latin typeface="Calibri"/>
              <a:ea typeface="Calibri"/>
              <a:cs typeface="Calibri"/>
              <a:sym typeface="Calibri"/>
            </a:endParaRPr>
          </a:p>
          <a:p>
            <a:pPr indent="0" lvl="0" marL="12700" rtl="0" algn="l">
              <a:lnSpc>
                <a:spcPct val="100000"/>
              </a:lnSpc>
              <a:spcBef>
                <a:spcPts val="340"/>
              </a:spcBef>
              <a:spcAft>
                <a:spcPts val="0"/>
              </a:spcAft>
              <a:buNone/>
            </a:pPr>
            <a:r>
              <a:rPr lang="en-US" sz="1400">
                <a:latin typeface="Calibri"/>
                <a:ea typeface="Calibri"/>
                <a:cs typeface="Calibri"/>
                <a:sym typeface="Calibri"/>
              </a:rPr>
              <a:t>Subtypes:</a:t>
            </a:r>
            <a:endParaRPr sz="1400">
              <a:latin typeface="Calibri"/>
              <a:ea typeface="Calibri"/>
              <a:cs typeface="Calibri"/>
              <a:sym typeface="Calibri"/>
            </a:endParaRPr>
          </a:p>
          <a:p>
            <a:pPr indent="-285750" lvl="0" marL="298450" rtl="0" algn="l">
              <a:spcBef>
                <a:spcPts val="340"/>
              </a:spcBef>
              <a:spcAft>
                <a:spcPts val="0"/>
              </a:spcAft>
              <a:buSzPts val="1400"/>
              <a:buFont typeface="Arial"/>
              <a:buChar char="•"/>
            </a:pPr>
            <a:r>
              <a:rPr b="1" lang="en-US" sz="1400">
                <a:latin typeface="Calibri"/>
                <a:ea typeface="Calibri"/>
                <a:cs typeface="Calibri"/>
                <a:sym typeface="Calibri"/>
              </a:rPr>
              <a:t>Discrete data</a:t>
            </a:r>
            <a:r>
              <a:rPr lang="en-US" sz="1400">
                <a:latin typeface="Calibri"/>
                <a:ea typeface="Calibri"/>
                <a:cs typeface="Calibri"/>
                <a:sym typeface="Calibri"/>
              </a:rPr>
              <a:t>: countable items, finite number (e.g. sugar cubes in a jar).</a:t>
            </a:r>
            <a:endParaRPr/>
          </a:p>
          <a:p>
            <a:pPr indent="-285750" lvl="0" marL="298450" rtl="0" algn="l">
              <a:spcBef>
                <a:spcPts val="340"/>
              </a:spcBef>
              <a:spcAft>
                <a:spcPts val="0"/>
              </a:spcAft>
              <a:buSzPts val="1400"/>
              <a:buFont typeface="Arial"/>
              <a:buChar char="•"/>
            </a:pPr>
            <a:r>
              <a:rPr b="1" lang="en-US" sz="1400">
                <a:latin typeface="Calibri"/>
                <a:ea typeface="Calibri"/>
                <a:cs typeface="Calibri"/>
                <a:sym typeface="Calibri"/>
              </a:rPr>
              <a:t>Continuous data: </a:t>
            </a:r>
            <a:r>
              <a:rPr lang="en-US" sz="1400">
                <a:latin typeface="Calibri"/>
                <a:ea typeface="Calibri"/>
                <a:cs typeface="Calibri"/>
                <a:sym typeface="Calibri"/>
              </a:rPr>
              <a:t>data that can be measured and have an infinite number of possible values within a given range (e.g. temperature, speed).</a:t>
            </a:r>
            <a:endParaRPr/>
          </a:p>
          <a:p>
            <a:pPr indent="0" lvl="0" marL="12700" rtl="0" algn="l">
              <a:lnSpc>
                <a:spcPct val="100000"/>
              </a:lnSpc>
              <a:spcBef>
                <a:spcPts val="340"/>
              </a:spcBef>
              <a:spcAft>
                <a:spcPts val="0"/>
              </a:spcAft>
              <a:buNone/>
            </a:pPr>
            <a:r>
              <a:t/>
            </a:r>
            <a:endParaRPr sz="1400">
              <a:latin typeface="Calibri"/>
              <a:ea typeface="Calibri"/>
              <a:cs typeface="Calibri"/>
              <a:sym typeface="Calibri"/>
            </a:endParaRPr>
          </a:p>
          <a:p>
            <a:pPr indent="0" lvl="0" marL="12700" rtl="0" algn="l">
              <a:lnSpc>
                <a:spcPct val="100000"/>
              </a:lnSpc>
              <a:spcBef>
                <a:spcPts val="340"/>
              </a:spcBef>
              <a:spcAft>
                <a:spcPts val="0"/>
              </a:spcAft>
              <a:buNone/>
            </a:pPr>
            <a:r>
              <a:t/>
            </a:r>
            <a:endParaRPr sz="1400">
              <a:latin typeface="Calibri"/>
              <a:ea typeface="Calibri"/>
              <a:cs typeface="Calibri"/>
              <a:sym typeface="Calibri"/>
            </a:endParaRPr>
          </a:p>
        </p:txBody>
      </p:sp>
      <p:pic>
        <p:nvPicPr>
          <p:cNvPr id="208" name="Google Shape;208;p13"/>
          <p:cNvPicPr preferRelativeResize="0"/>
          <p:nvPr/>
        </p:nvPicPr>
        <p:blipFill rotWithShape="1">
          <a:blip r:embed="rId5">
            <a:alphaModFix/>
          </a:blip>
          <a:srcRect b="0" l="0" r="0" t="0"/>
          <a:stretch/>
        </p:blipFill>
        <p:spPr>
          <a:xfrm>
            <a:off x="4717796" y="1703451"/>
            <a:ext cx="114300" cy="124967"/>
          </a:xfrm>
          <a:prstGeom prst="rect">
            <a:avLst/>
          </a:prstGeom>
          <a:noFill/>
          <a:ln>
            <a:noFill/>
          </a:ln>
        </p:spPr>
      </p:pic>
      <p:pic>
        <p:nvPicPr>
          <p:cNvPr id="209" name="Google Shape;209;p13"/>
          <p:cNvPicPr preferRelativeResize="0"/>
          <p:nvPr/>
        </p:nvPicPr>
        <p:blipFill rotWithShape="1">
          <a:blip r:embed="rId5">
            <a:alphaModFix/>
          </a:blip>
          <a:srcRect b="0" l="0" r="0" t="0"/>
          <a:stretch/>
        </p:blipFill>
        <p:spPr>
          <a:xfrm>
            <a:off x="4717796" y="2172842"/>
            <a:ext cx="114300" cy="124968"/>
          </a:xfrm>
          <a:prstGeom prst="rect">
            <a:avLst/>
          </a:prstGeom>
          <a:noFill/>
          <a:ln>
            <a:noFill/>
          </a:ln>
        </p:spPr>
      </p:pic>
      <p:sp>
        <p:nvSpPr>
          <p:cNvPr id="210" name="Google Shape;210;p13"/>
          <p:cNvSpPr txBox="1"/>
          <p:nvPr/>
        </p:nvSpPr>
        <p:spPr>
          <a:xfrm>
            <a:off x="574344" y="1216913"/>
            <a:ext cx="143827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u="sng">
                <a:latin typeface="Calibri"/>
                <a:ea typeface="Calibri"/>
                <a:cs typeface="Calibri"/>
                <a:sym typeface="Calibri"/>
              </a:rPr>
              <a:t>Categorical data:</a:t>
            </a:r>
            <a:endParaRPr sz="1600">
              <a:latin typeface="Calibri"/>
              <a:ea typeface="Calibri"/>
              <a:cs typeface="Calibri"/>
              <a:sym typeface="Calibri"/>
            </a:endParaRPr>
          </a:p>
        </p:txBody>
      </p:sp>
      <p:sp>
        <p:nvSpPr>
          <p:cNvPr id="211" name="Google Shape;211;p13"/>
          <p:cNvSpPr txBox="1"/>
          <p:nvPr/>
        </p:nvSpPr>
        <p:spPr>
          <a:xfrm>
            <a:off x="4651628" y="1213485"/>
            <a:ext cx="1367790"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u="sng">
                <a:latin typeface="Calibri"/>
                <a:ea typeface="Calibri"/>
                <a:cs typeface="Calibri"/>
                <a:sym typeface="Calibri"/>
              </a:rPr>
              <a:t>Numerical data:</a:t>
            </a:r>
            <a:endParaRPr sz="1600">
              <a:latin typeface="Calibri"/>
              <a:ea typeface="Calibri"/>
              <a:cs typeface="Calibri"/>
              <a:sym typeface="Calibri"/>
            </a:endParaRPr>
          </a:p>
        </p:txBody>
      </p:sp>
      <p:pic>
        <p:nvPicPr>
          <p:cNvPr id="212" name="Google Shape;212;p13"/>
          <p:cNvPicPr preferRelativeResize="0"/>
          <p:nvPr/>
        </p:nvPicPr>
        <p:blipFill rotWithShape="1">
          <a:blip r:embed="rId6">
            <a:alphaModFix/>
          </a:blip>
          <a:srcRect b="0" l="0" r="0" t="0"/>
          <a:stretch/>
        </p:blipFill>
        <p:spPr>
          <a:xfrm>
            <a:off x="5736335" y="3857244"/>
            <a:ext cx="1965960" cy="1100328"/>
          </a:xfrm>
          <a:prstGeom prst="rect">
            <a:avLst/>
          </a:prstGeom>
          <a:noFill/>
          <a:ln>
            <a:noFill/>
          </a:ln>
        </p:spPr>
      </p:pic>
      <p:sp>
        <p:nvSpPr>
          <p:cNvPr id="213" name="Google Shape;213;p13"/>
          <p:cNvSpPr txBox="1"/>
          <p:nvPr>
            <p:ph idx="12" type="sldNum"/>
          </p:nvPr>
        </p:nvSpPr>
        <p:spPr>
          <a:xfrm>
            <a:off x="8401811" y="4830876"/>
            <a:ext cx="244475" cy="177800"/>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4"/>
          <p:cNvSpPr txBox="1"/>
          <p:nvPr/>
        </p:nvSpPr>
        <p:spPr>
          <a:xfrm>
            <a:off x="535940" y="454913"/>
            <a:ext cx="3758565"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2800">
                <a:latin typeface="Calibri"/>
                <a:ea typeface="Calibri"/>
                <a:cs typeface="Calibri"/>
                <a:sym typeface="Calibri"/>
              </a:rPr>
              <a:t>Handling categorical data</a:t>
            </a:r>
            <a:endParaRPr sz="2800">
              <a:latin typeface="Calibri"/>
              <a:ea typeface="Calibri"/>
              <a:cs typeface="Calibri"/>
              <a:sym typeface="Calibri"/>
            </a:endParaRPr>
          </a:p>
        </p:txBody>
      </p:sp>
      <p:pic>
        <p:nvPicPr>
          <p:cNvPr id="219" name="Google Shape;219;p14"/>
          <p:cNvPicPr preferRelativeResize="0"/>
          <p:nvPr/>
        </p:nvPicPr>
        <p:blipFill rotWithShape="1">
          <a:blip r:embed="rId3">
            <a:alphaModFix/>
          </a:blip>
          <a:srcRect b="0" l="0" r="0" t="0"/>
          <a:stretch/>
        </p:blipFill>
        <p:spPr>
          <a:xfrm>
            <a:off x="842772" y="1290827"/>
            <a:ext cx="3276600" cy="1668780"/>
          </a:xfrm>
          <a:prstGeom prst="rect">
            <a:avLst/>
          </a:prstGeom>
          <a:noFill/>
          <a:ln>
            <a:noFill/>
          </a:ln>
        </p:spPr>
      </p:pic>
      <p:pic>
        <p:nvPicPr>
          <p:cNvPr id="220" name="Google Shape;220;p14"/>
          <p:cNvPicPr preferRelativeResize="0"/>
          <p:nvPr/>
        </p:nvPicPr>
        <p:blipFill rotWithShape="1">
          <a:blip r:embed="rId4">
            <a:alphaModFix/>
          </a:blip>
          <a:srcRect b="0" l="0" r="0" t="0"/>
          <a:stretch/>
        </p:blipFill>
        <p:spPr>
          <a:xfrm>
            <a:off x="842772" y="3063239"/>
            <a:ext cx="3276600" cy="1563624"/>
          </a:xfrm>
          <a:prstGeom prst="rect">
            <a:avLst/>
          </a:prstGeom>
          <a:noFill/>
          <a:ln>
            <a:noFill/>
          </a:ln>
        </p:spPr>
      </p:pic>
      <p:pic>
        <p:nvPicPr>
          <p:cNvPr id="221" name="Google Shape;221;p14"/>
          <p:cNvPicPr preferRelativeResize="0"/>
          <p:nvPr/>
        </p:nvPicPr>
        <p:blipFill rotWithShape="1">
          <a:blip r:embed="rId5">
            <a:alphaModFix/>
          </a:blip>
          <a:srcRect b="0" l="0" r="0" t="0"/>
          <a:stretch/>
        </p:blipFill>
        <p:spPr>
          <a:xfrm>
            <a:off x="4928615" y="1274063"/>
            <a:ext cx="2787395" cy="2074164"/>
          </a:xfrm>
          <a:prstGeom prst="rect">
            <a:avLst/>
          </a:prstGeom>
          <a:noFill/>
          <a:ln>
            <a:noFill/>
          </a:ln>
        </p:spPr>
      </p:pic>
      <p:sp>
        <p:nvSpPr>
          <p:cNvPr id="222" name="Google Shape;222;p14"/>
          <p:cNvSpPr txBox="1"/>
          <p:nvPr/>
        </p:nvSpPr>
        <p:spPr>
          <a:xfrm>
            <a:off x="467055" y="1090371"/>
            <a:ext cx="232410" cy="51435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b="1" lang="en-US" sz="3200">
                <a:latin typeface="Calibri"/>
                <a:ea typeface="Calibri"/>
                <a:cs typeface="Calibri"/>
                <a:sym typeface="Calibri"/>
              </a:rPr>
              <a:t>1</a:t>
            </a:r>
            <a:endParaRPr sz="3200">
              <a:latin typeface="Calibri"/>
              <a:ea typeface="Calibri"/>
              <a:cs typeface="Calibri"/>
              <a:sym typeface="Calibri"/>
            </a:endParaRPr>
          </a:p>
        </p:txBody>
      </p:sp>
      <p:sp>
        <p:nvSpPr>
          <p:cNvPr id="223" name="Google Shape;223;p14"/>
          <p:cNvSpPr txBox="1"/>
          <p:nvPr/>
        </p:nvSpPr>
        <p:spPr>
          <a:xfrm>
            <a:off x="805992" y="4825619"/>
            <a:ext cx="4453255" cy="152400"/>
          </a:xfrm>
          <a:prstGeom prst="rect">
            <a:avLst/>
          </a:prstGeom>
          <a:noFill/>
          <a:ln>
            <a:noFill/>
          </a:ln>
        </p:spPr>
        <p:txBody>
          <a:bodyPr anchorCtr="0" anchor="t" bIns="0" lIns="0" spcFirstLastPara="1" rIns="0" wrap="square" tIns="0">
            <a:spAutoFit/>
          </a:bodyPr>
          <a:lstStyle/>
          <a:p>
            <a:pPr indent="0" lvl="0" marL="12700" rtl="0" algn="l">
              <a:lnSpc>
                <a:spcPct val="104499"/>
              </a:lnSpc>
              <a:spcBef>
                <a:spcPts val="0"/>
              </a:spcBef>
              <a:spcAft>
                <a:spcPts val="0"/>
              </a:spcAft>
              <a:buNone/>
            </a:pPr>
            <a:r>
              <a:rPr lang="en-US" sz="1000" u="sng">
                <a:solidFill>
                  <a:srgbClr val="5F5F5F"/>
                </a:solidFill>
                <a:latin typeface="Calibri"/>
                <a:ea typeface="Calibri"/>
                <a:cs typeface="Calibri"/>
                <a:sym typeface="Calibri"/>
                <a:hlinkClick r:id="rId6">
                  <a:extLst>
                    <a:ext uri="{A12FA001-AC4F-418D-AE19-62706E023703}">
                      <ahyp:hlinkClr val="tx"/>
                    </a:ext>
                  </a:extLst>
                </a:hlinkClick>
              </a:rPr>
              <a:t>Feature Handling: Categorical and Numerical | by Deepak Jain | Towards Data Science</a:t>
            </a:r>
            <a:endParaRPr sz="1000">
              <a:latin typeface="Calibri"/>
              <a:ea typeface="Calibri"/>
              <a:cs typeface="Calibri"/>
              <a:sym typeface="Calibri"/>
            </a:endParaRPr>
          </a:p>
        </p:txBody>
      </p:sp>
      <p:sp>
        <p:nvSpPr>
          <p:cNvPr id="224" name="Google Shape;224;p14"/>
          <p:cNvSpPr txBox="1"/>
          <p:nvPr>
            <p:ph idx="12" type="sldNum"/>
          </p:nvPr>
        </p:nvSpPr>
        <p:spPr>
          <a:xfrm>
            <a:off x="8401811" y="4830876"/>
            <a:ext cx="244475" cy="177800"/>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
        <p:nvSpPr>
          <p:cNvPr id="225" name="Google Shape;225;p14"/>
          <p:cNvSpPr txBox="1"/>
          <p:nvPr/>
        </p:nvSpPr>
        <p:spPr>
          <a:xfrm>
            <a:off x="476808" y="2904236"/>
            <a:ext cx="231775" cy="51371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3200">
                <a:latin typeface="Calibri"/>
                <a:ea typeface="Calibri"/>
                <a:cs typeface="Calibri"/>
                <a:sym typeface="Calibri"/>
              </a:rPr>
              <a:t>2</a:t>
            </a:r>
            <a:endParaRPr sz="3200">
              <a:latin typeface="Calibri"/>
              <a:ea typeface="Calibri"/>
              <a:cs typeface="Calibri"/>
              <a:sym typeface="Calibri"/>
            </a:endParaRPr>
          </a:p>
        </p:txBody>
      </p:sp>
      <p:sp>
        <p:nvSpPr>
          <p:cNvPr id="226" name="Google Shape;226;p14"/>
          <p:cNvSpPr txBox="1"/>
          <p:nvPr/>
        </p:nvSpPr>
        <p:spPr>
          <a:xfrm>
            <a:off x="4905883" y="3562806"/>
            <a:ext cx="3444875" cy="903605"/>
          </a:xfrm>
          <a:prstGeom prst="rect">
            <a:avLst/>
          </a:prstGeom>
          <a:noFill/>
          <a:ln>
            <a:noFill/>
          </a:ln>
        </p:spPr>
        <p:txBody>
          <a:bodyPr anchorCtr="0" anchor="t" bIns="0" lIns="0" spcFirstLastPara="1" rIns="0" wrap="square" tIns="48875">
            <a:spAutoFit/>
          </a:bodyPr>
          <a:lstStyle/>
          <a:p>
            <a:pPr indent="-153035" lvl="0" marL="165735" rtl="0" algn="l">
              <a:lnSpc>
                <a:spcPct val="100000"/>
              </a:lnSpc>
              <a:spcBef>
                <a:spcPts val="0"/>
              </a:spcBef>
              <a:spcAft>
                <a:spcPts val="0"/>
              </a:spcAft>
              <a:buSzPts val="1200"/>
              <a:buFont typeface="Calibri"/>
              <a:buAutoNum type="arabicPeriod"/>
            </a:pPr>
            <a:r>
              <a:rPr lang="en-US" sz="1200">
                <a:latin typeface="Calibri"/>
                <a:ea typeface="Calibri"/>
                <a:cs typeface="Calibri"/>
                <a:sym typeface="Calibri"/>
              </a:rPr>
              <a:t>Assigning some values</a:t>
            </a:r>
            <a:endParaRPr sz="1200">
              <a:latin typeface="Calibri"/>
              <a:ea typeface="Calibri"/>
              <a:cs typeface="Calibri"/>
              <a:sym typeface="Calibri"/>
            </a:endParaRPr>
          </a:p>
          <a:p>
            <a:pPr indent="-153035" lvl="0" marL="165735" rtl="0" algn="l">
              <a:lnSpc>
                <a:spcPct val="100000"/>
              </a:lnSpc>
              <a:spcBef>
                <a:spcPts val="290"/>
              </a:spcBef>
              <a:spcAft>
                <a:spcPts val="0"/>
              </a:spcAft>
              <a:buSzPts val="1200"/>
              <a:buFont typeface="Calibri"/>
              <a:buAutoNum type="arabicPeriod"/>
            </a:pPr>
            <a:r>
              <a:rPr lang="en-US" sz="1200">
                <a:latin typeface="Calibri"/>
                <a:ea typeface="Calibri"/>
                <a:cs typeface="Calibri"/>
                <a:sym typeface="Calibri"/>
              </a:rPr>
              <a:t>One-hot encoding</a:t>
            </a:r>
            <a:endParaRPr sz="1200">
              <a:latin typeface="Calibri"/>
              <a:ea typeface="Calibri"/>
              <a:cs typeface="Calibri"/>
              <a:sym typeface="Calibri"/>
            </a:endParaRPr>
          </a:p>
          <a:p>
            <a:pPr indent="-165100" lvl="0" marL="177800" marR="5080" rtl="0" algn="l">
              <a:lnSpc>
                <a:spcPct val="120000"/>
              </a:lnSpc>
              <a:spcBef>
                <a:spcPts val="0"/>
              </a:spcBef>
              <a:spcAft>
                <a:spcPts val="0"/>
              </a:spcAft>
              <a:buSzPts val="1200"/>
              <a:buFont typeface="Calibri"/>
              <a:buAutoNum type="arabicPeriod"/>
            </a:pPr>
            <a:r>
              <a:rPr lang="en-US" sz="1200">
                <a:latin typeface="Calibri"/>
                <a:ea typeface="Calibri"/>
                <a:cs typeface="Calibri"/>
                <a:sym typeface="Calibri"/>
              </a:rPr>
              <a:t>Replacing with average or other domain knowledge engineering (e.g. replacing with distance from India)</a:t>
            </a:r>
            <a:endParaRPr sz="1200">
              <a:latin typeface="Calibri"/>
              <a:ea typeface="Calibri"/>
              <a:cs typeface="Calibri"/>
              <a:sym typeface="Calibri"/>
            </a:endParaRPr>
          </a:p>
        </p:txBody>
      </p:sp>
      <p:sp>
        <p:nvSpPr>
          <p:cNvPr id="227" name="Google Shape;227;p14"/>
          <p:cNvSpPr txBox="1"/>
          <p:nvPr/>
        </p:nvSpPr>
        <p:spPr>
          <a:xfrm>
            <a:off x="4554982" y="1107135"/>
            <a:ext cx="232410" cy="51435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b="1" lang="en-US" sz="3200">
                <a:latin typeface="Calibri"/>
                <a:ea typeface="Calibri"/>
                <a:cs typeface="Calibri"/>
                <a:sym typeface="Calibri"/>
              </a:rPr>
              <a:t>3</a:t>
            </a:r>
            <a:endParaRPr sz="3200">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5"/>
          <p:cNvSpPr txBox="1"/>
          <p:nvPr>
            <p:ph type="title"/>
          </p:nvPr>
        </p:nvSpPr>
        <p:spPr>
          <a:xfrm>
            <a:off x="535940" y="454913"/>
            <a:ext cx="7488555" cy="87884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lang="en-US"/>
              <a:t>Univariate analysis – visualize a single variable at a time</a:t>
            </a:r>
            <a:endParaRPr/>
          </a:p>
        </p:txBody>
      </p:sp>
      <p:sp>
        <p:nvSpPr>
          <p:cNvPr id="233" name="Google Shape;233;p15"/>
          <p:cNvSpPr txBox="1"/>
          <p:nvPr/>
        </p:nvSpPr>
        <p:spPr>
          <a:xfrm>
            <a:off x="879144" y="1607566"/>
            <a:ext cx="7712709" cy="51308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lang="en-US" sz="1600">
                <a:latin typeface="Calibri"/>
                <a:ea typeface="Calibri"/>
                <a:cs typeface="Calibri"/>
                <a:sym typeface="Calibri"/>
              </a:rPr>
              <a:t>Univariate analysis helps to analyze the distribution of the variable present in the data so that we can perform further analysis.</a:t>
            </a:r>
            <a:endParaRPr sz="1600">
              <a:latin typeface="Calibri"/>
              <a:ea typeface="Calibri"/>
              <a:cs typeface="Calibri"/>
              <a:sym typeface="Calibri"/>
            </a:endParaRPr>
          </a:p>
        </p:txBody>
      </p:sp>
      <p:pic>
        <p:nvPicPr>
          <p:cNvPr id="234" name="Google Shape;234;p15"/>
          <p:cNvPicPr preferRelativeResize="0"/>
          <p:nvPr/>
        </p:nvPicPr>
        <p:blipFill rotWithShape="1">
          <a:blip r:embed="rId3">
            <a:alphaModFix/>
          </a:blip>
          <a:srcRect b="0" l="0" r="0" t="0"/>
          <a:stretch/>
        </p:blipFill>
        <p:spPr>
          <a:xfrm>
            <a:off x="548640" y="1682242"/>
            <a:ext cx="140208" cy="141732"/>
          </a:xfrm>
          <a:prstGeom prst="rect">
            <a:avLst/>
          </a:prstGeom>
          <a:noFill/>
          <a:ln>
            <a:noFill/>
          </a:ln>
        </p:spPr>
      </p:pic>
      <p:pic>
        <p:nvPicPr>
          <p:cNvPr id="235" name="Google Shape;235;p15"/>
          <p:cNvPicPr preferRelativeResize="0"/>
          <p:nvPr/>
        </p:nvPicPr>
        <p:blipFill rotWithShape="1">
          <a:blip r:embed="rId4">
            <a:alphaModFix/>
          </a:blip>
          <a:srcRect b="0" l="0" r="0" t="0"/>
          <a:stretch/>
        </p:blipFill>
        <p:spPr>
          <a:xfrm>
            <a:off x="6791805" y="2674679"/>
            <a:ext cx="1540564" cy="1883074"/>
          </a:xfrm>
          <a:prstGeom prst="rect">
            <a:avLst/>
          </a:prstGeom>
          <a:noFill/>
          <a:ln>
            <a:noFill/>
          </a:ln>
        </p:spPr>
      </p:pic>
      <p:pic>
        <p:nvPicPr>
          <p:cNvPr id="236" name="Google Shape;236;p15"/>
          <p:cNvPicPr preferRelativeResize="0"/>
          <p:nvPr/>
        </p:nvPicPr>
        <p:blipFill rotWithShape="1">
          <a:blip r:embed="rId5">
            <a:alphaModFix/>
          </a:blip>
          <a:srcRect b="0" l="0" r="0" t="0"/>
          <a:stretch/>
        </p:blipFill>
        <p:spPr>
          <a:xfrm>
            <a:off x="1083886" y="2688603"/>
            <a:ext cx="2544551" cy="2000476"/>
          </a:xfrm>
          <a:prstGeom prst="rect">
            <a:avLst/>
          </a:prstGeom>
          <a:noFill/>
          <a:ln>
            <a:noFill/>
          </a:ln>
        </p:spPr>
      </p:pic>
      <p:pic>
        <p:nvPicPr>
          <p:cNvPr id="237" name="Google Shape;237;p15"/>
          <p:cNvPicPr preferRelativeResize="0"/>
          <p:nvPr/>
        </p:nvPicPr>
        <p:blipFill rotWithShape="1">
          <a:blip r:embed="rId6">
            <a:alphaModFix/>
          </a:blip>
          <a:srcRect b="0" l="0" r="0" t="0"/>
          <a:stretch/>
        </p:blipFill>
        <p:spPr>
          <a:xfrm>
            <a:off x="3862109" y="2716035"/>
            <a:ext cx="2543075" cy="1986679"/>
          </a:xfrm>
          <a:prstGeom prst="rect">
            <a:avLst/>
          </a:prstGeom>
          <a:noFill/>
          <a:ln>
            <a:noFill/>
          </a:ln>
        </p:spPr>
      </p:pic>
      <p:sp>
        <p:nvSpPr>
          <p:cNvPr id="238" name="Google Shape;238;p15"/>
          <p:cNvSpPr txBox="1"/>
          <p:nvPr/>
        </p:nvSpPr>
        <p:spPr>
          <a:xfrm>
            <a:off x="882396" y="2261616"/>
            <a:ext cx="7804784" cy="2496820"/>
          </a:xfrm>
          <a:prstGeom prst="rect">
            <a:avLst/>
          </a:prstGeom>
          <a:noFill/>
          <a:ln cap="flat" cmpd="sng" w="9525">
            <a:solidFill>
              <a:srgbClr val="D7D7D7"/>
            </a:solidFill>
            <a:prstDash val="solid"/>
            <a:round/>
            <a:headEnd len="sm" w="sm" type="none"/>
            <a:tailEnd len="sm" w="sm" type="none"/>
          </a:ln>
        </p:spPr>
        <p:txBody>
          <a:bodyPr anchorCtr="0" anchor="t" bIns="0" lIns="0" spcFirstLastPara="1" rIns="0" wrap="square" tIns="23475">
            <a:spAutoFit/>
          </a:bodyPr>
          <a:lstStyle/>
          <a:p>
            <a:pPr indent="0" lvl="0" marL="0" marR="21590" rtl="0" algn="ctr">
              <a:lnSpc>
                <a:spcPct val="100000"/>
              </a:lnSpc>
              <a:spcBef>
                <a:spcPts val="0"/>
              </a:spcBef>
              <a:spcAft>
                <a:spcPts val="0"/>
              </a:spcAft>
              <a:buNone/>
            </a:pPr>
            <a:r>
              <a:rPr lang="en-US" sz="1800">
                <a:latin typeface="Calibri"/>
                <a:ea typeface="Calibri"/>
                <a:cs typeface="Calibri"/>
                <a:sym typeface="Calibri"/>
              </a:rPr>
              <a:t>Titanic dataset</a:t>
            </a:r>
            <a:endParaRPr sz="1800">
              <a:latin typeface="Calibri"/>
              <a:ea typeface="Calibri"/>
              <a:cs typeface="Calibri"/>
              <a:sym typeface="Calibri"/>
            </a:endParaRPr>
          </a:p>
        </p:txBody>
      </p:sp>
      <p:sp>
        <p:nvSpPr>
          <p:cNvPr id="239" name="Google Shape;239;p15"/>
          <p:cNvSpPr txBox="1"/>
          <p:nvPr>
            <p:ph idx="12" type="sldNum"/>
          </p:nvPr>
        </p:nvSpPr>
        <p:spPr>
          <a:xfrm>
            <a:off x="8401811" y="4830876"/>
            <a:ext cx="244475" cy="177800"/>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6"/>
          <p:cNvSpPr txBox="1"/>
          <p:nvPr>
            <p:ph type="title"/>
          </p:nvPr>
        </p:nvSpPr>
        <p:spPr>
          <a:xfrm>
            <a:off x="535940" y="454913"/>
            <a:ext cx="7197725" cy="87884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lang="en-US"/>
              <a:t>Bivariate analysis – simultaneous analysis of two variables</a:t>
            </a:r>
            <a:endParaRPr/>
          </a:p>
        </p:txBody>
      </p:sp>
      <p:sp>
        <p:nvSpPr>
          <p:cNvPr id="245" name="Google Shape;245;p16"/>
          <p:cNvSpPr txBox="1"/>
          <p:nvPr/>
        </p:nvSpPr>
        <p:spPr>
          <a:xfrm>
            <a:off x="1184554" y="4425797"/>
            <a:ext cx="1616075"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i="1" lang="en-US" sz="1200">
                <a:latin typeface="Calibri"/>
                <a:ea typeface="Calibri"/>
                <a:cs typeface="Calibri"/>
                <a:sym typeface="Calibri"/>
              </a:rPr>
              <a:t>Categorical vs Categorical</a:t>
            </a:r>
            <a:endParaRPr sz="1200">
              <a:latin typeface="Calibri"/>
              <a:ea typeface="Calibri"/>
              <a:cs typeface="Calibri"/>
              <a:sym typeface="Calibri"/>
            </a:endParaRPr>
          </a:p>
        </p:txBody>
      </p:sp>
      <p:sp>
        <p:nvSpPr>
          <p:cNvPr id="246" name="Google Shape;246;p16"/>
          <p:cNvSpPr txBox="1"/>
          <p:nvPr/>
        </p:nvSpPr>
        <p:spPr>
          <a:xfrm>
            <a:off x="3731767" y="4447438"/>
            <a:ext cx="1484630"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i="1" lang="en-US" sz="1200">
                <a:latin typeface="Calibri"/>
                <a:ea typeface="Calibri"/>
                <a:cs typeface="Calibri"/>
                <a:sym typeface="Calibri"/>
              </a:rPr>
              <a:t>Numerical vs Numerical</a:t>
            </a:r>
            <a:endParaRPr sz="1200">
              <a:latin typeface="Calibri"/>
              <a:ea typeface="Calibri"/>
              <a:cs typeface="Calibri"/>
              <a:sym typeface="Calibri"/>
            </a:endParaRPr>
          </a:p>
        </p:txBody>
      </p:sp>
      <p:sp>
        <p:nvSpPr>
          <p:cNvPr id="247" name="Google Shape;247;p16"/>
          <p:cNvSpPr txBox="1"/>
          <p:nvPr/>
        </p:nvSpPr>
        <p:spPr>
          <a:xfrm>
            <a:off x="6279007" y="4428235"/>
            <a:ext cx="1549400"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i="1" lang="en-US" sz="1200">
                <a:latin typeface="Calibri"/>
                <a:ea typeface="Calibri"/>
                <a:cs typeface="Calibri"/>
                <a:sym typeface="Calibri"/>
              </a:rPr>
              <a:t>Categorical vs Numerical</a:t>
            </a:r>
            <a:endParaRPr sz="1200">
              <a:latin typeface="Calibri"/>
              <a:ea typeface="Calibri"/>
              <a:cs typeface="Calibri"/>
              <a:sym typeface="Calibri"/>
            </a:endParaRPr>
          </a:p>
        </p:txBody>
      </p:sp>
      <p:sp>
        <p:nvSpPr>
          <p:cNvPr id="248" name="Google Shape;248;p16"/>
          <p:cNvSpPr txBox="1"/>
          <p:nvPr/>
        </p:nvSpPr>
        <p:spPr>
          <a:xfrm>
            <a:off x="879144" y="1607566"/>
            <a:ext cx="7487284" cy="75692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lang="en-US" sz="1600">
                <a:latin typeface="Calibri"/>
                <a:ea typeface="Calibri"/>
                <a:cs typeface="Calibri"/>
                <a:sym typeface="Calibri"/>
              </a:rPr>
              <a:t>Bivariate analysis explores the relationship between two variables: whether there exists an association and the strength of this association or whether there are differences between two variables and the significance of these differences.</a:t>
            </a:r>
            <a:endParaRPr sz="1600">
              <a:latin typeface="Calibri"/>
              <a:ea typeface="Calibri"/>
              <a:cs typeface="Calibri"/>
              <a:sym typeface="Calibri"/>
            </a:endParaRPr>
          </a:p>
        </p:txBody>
      </p:sp>
      <p:pic>
        <p:nvPicPr>
          <p:cNvPr id="249" name="Google Shape;249;p16"/>
          <p:cNvPicPr preferRelativeResize="0"/>
          <p:nvPr/>
        </p:nvPicPr>
        <p:blipFill rotWithShape="1">
          <a:blip r:embed="rId3">
            <a:alphaModFix/>
          </a:blip>
          <a:srcRect b="0" l="0" r="0" t="0"/>
          <a:stretch/>
        </p:blipFill>
        <p:spPr>
          <a:xfrm>
            <a:off x="548640" y="1682242"/>
            <a:ext cx="140208" cy="141732"/>
          </a:xfrm>
          <a:prstGeom prst="rect">
            <a:avLst/>
          </a:prstGeom>
          <a:noFill/>
          <a:ln>
            <a:noFill/>
          </a:ln>
        </p:spPr>
      </p:pic>
      <p:pic>
        <p:nvPicPr>
          <p:cNvPr id="250" name="Google Shape;250;p16"/>
          <p:cNvPicPr preferRelativeResize="0"/>
          <p:nvPr/>
        </p:nvPicPr>
        <p:blipFill rotWithShape="1">
          <a:blip r:embed="rId4">
            <a:alphaModFix/>
          </a:blip>
          <a:srcRect b="0" l="0" r="0" t="0"/>
          <a:stretch/>
        </p:blipFill>
        <p:spPr>
          <a:xfrm>
            <a:off x="3181989" y="2500763"/>
            <a:ext cx="2368912" cy="1859233"/>
          </a:xfrm>
          <a:prstGeom prst="rect">
            <a:avLst/>
          </a:prstGeom>
          <a:noFill/>
          <a:ln>
            <a:noFill/>
          </a:ln>
        </p:spPr>
      </p:pic>
      <p:pic>
        <p:nvPicPr>
          <p:cNvPr id="251" name="Google Shape;251;p16"/>
          <p:cNvPicPr preferRelativeResize="0"/>
          <p:nvPr/>
        </p:nvPicPr>
        <p:blipFill rotWithShape="1">
          <a:blip r:embed="rId5">
            <a:alphaModFix/>
          </a:blip>
          <a:srcRect b="0" l="0" r="0" t="0"/>
          <a:stretch/>
        </p:blipFill>
        <p:spPr>
          <a:xfrm>
            <a:off x="632838" y="2576237"/>
            <a:ext cx="2470753" cy="1840060"/>
          </a:xfrm>
          <a:prstGeom prst="rect">
            <a:avLst/>
          </a:prstGeom>
          <a:noFill/>
          <a:ln>
            <a:noFill/>
          </a:ln>
        </p:spPr>
      </p:pic>
      <p:pic>
        <p:nvPicPr>
          <p:cNvPr id="252" name="Google Shape;252;p16"/>
          <p:cNvPicPr preferRelativeResize="0"/>
          <p:nvPr/>
        </p:nvPicPr>
        <p:blipFill rotWithShape="1">
          <a:blip r:embed="rId6">
            <a:alphaModFix/>
          </a:blip>
          <a:srcRect b="0" l="0" r="0" t="0"/>
          <a:stretch/>
        </p:blipFill>
        <p:spPr>
          <a:xfrm>
            <a:off x="5693577" y="2497886"/>
            <a:ext cx="2407507" cy="1911437"/>
          </a:xfrm>
          <a:prstGeom prst="rect">
            <a:avLst/>
          </a:prstGeom>
          <a:noFill/>
          <a:ln>
            <a:noFill/>
          </a:ln>
        </p:spPr>
      </p:pic>
      <p:sp>
        <p:nvSpPr>
          <p:cNvPr id="253" name="Google Shape;253;p16"/>
          <p:cNvSpPr txBox="1"/>
          <p:nvPr>
            <p:ph idx="12" type="sldNum"/>
          </p:nvPr>
        </p:nvSpPr>
        <p:spPr>
          <a:xfrm>
            <a:off x="8401811" y="4830876"/>
            <a:ext cx="244475" cy="177800"/>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7"/>
          <p:cNvSpPr txBox="1"/>
          <p:nvPr>
            <p:ph type="title"/>
          </p:nvPr>
        </p:nvSpPr>
        <p:spPr>
          <a:xfrm>
            <a:off x="535940" y="454913"/>
            <a:ext cx="7737475" cy="87884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lang="en-US"/>
              <a:t>Multivariate analysis – involves multiple variables at the same time</a:t>
            </a:r>
            <a:endParaRPr/>
          </a:p>
        </p:txBody>
      </p:sp>
      <p:sp>
        <p:nvSpPr>
          <p:cNvPr id="259" name="Google Shape;259;p17"/>
          <p:cNvSpPr txBox="1"/>
          <p:nvPr/>
        </p:nvSpPr>
        <p:spPr>
          <a:xfrm>
            <a:off x="879144" y="1549146"/>
            <a:ext cx="7729220" cy="51308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lang="en-US" sz="1600">
                <a:latin typeface="Calibri"/>
                <a:ea typeface="Calibri"/>
                <a:cs typeface="Calibri"/>
                <a:sym typeface="Calibri"/>
              </a:rPr>
              <a:t>Multivariate Analysis is a set of statistical model that examine patterns in multidimensional data by considering at once, several data variable.</a:t>
            </a:r>
            <a:endParaRPr sz="1600">
              <a:latin typeface="Calibri"/>
              <a:ea typeface="Calibri"/>
              <a:cs typeface="Calibri"/>
              <a:sym typeface="Calibri"/>
            </a:endParaRPr>
          </a:p>
        </p:txBody>
      </p:sp>
      <p:pic>
        <p:nvPicPr>
          <p:cNvPr id="260" name="Google Shape;260;p17"/>
          <p:cNvPicPr preferRelativeResize="0"/>
          <p:nvPr/>
        </p:nvPicPr>
        <p:blipFill rotWithShape="1">
          <a:blip r:embed="rId3">
            <a:alphaModFix/>
          </a:blip>
          <a:srcRect b="0" l="0" r="0" t="0"/>
          <a:stretch/>
        </p:blipFill>
        <p:spPr>
          <a:xfrm>
            <a:off x="548640" y="1623694"/>
            <a:ext cx="140208" cy="141732"/>
          </a:xfrm>
          <a:prstGeom prst="rect">
            <a:avLst/>
          </a:prstGeom>
          <a:noFill/>
          <a:ln>
            <a:noFill/>
          </a:ln>
        </p:spPr>
      </p:pic>
      <p:sp>
        <p:nvSpPr>
          <p:cNvPr id="261" name="Google Shape;261;p17"/>
          <p:cNvSpPr txBox="1"/>
          <p:nvPr/>
        </p:nvSpPr>
        <p:spPr>
          <a:xfrm>
            <a:off x="891844" y="2148967"/>
            <a:ext cx="961390" cy="203200"/>
          </a:xfrm>
          <a:prstGeom prst="rect">
            <a:avLst/>
          </a:prstGeom>
          <a:noFill/>
          <a:ln>
            <a:noFill/>
          </a:ln>
        </p:spPr>
        <p:txBody>
          <a:bodyPr anchorCtr="0" anchor="t" bIns="0" lIns="0" spcFirstLastPara="1" rIns="0" wrap="square" tIns="0">
            <a:spAutoFit/>
          </a:bodyPr>
          <a:lstStyle/>
          <a:p>
            <a:pPr indent="0" lvl="0" marL="0" rtl="0" algn="l">
              <a:lnSpc>
                <a:spcPct val="94687"/>
              </a:lnSpc>
              <a:spcBef>
                <a:spcPts val="0"/>
              </a:spcBef>
              <a:spcAft>
                <a:spcPts val="0"/>
              </a:spcAft>
              <a:buNone/>
            </a:pPr>
            <a:r>
              <a:rPr lang="en-US" sz="1600">
                <a:latin typeface="Calibri"/>
                <a:ea typeface="Calibri"/>
                <a:cs typeface="Calibri"/>
                <a:sym typeface="Calibri"/>
              </a:rPr>
              <a:t>Iris dataset:</a:t>
            </a:r>
            <a:endParaRPr sz="1600">
              <a:latin typeface="Calibri"/>
              <a:ea typeface="Calibri"/>
              <a:cs typeface="Calibri"/>
              <a:sym typeface="Calibri"/>
            </a:endParaRPr>
          </a:p>
        </p:txBody>
      </p:sp>
      <p:pic>
        <p:nvPicPr>
          <p:cNvPr id="262" name="Google Shape;262;p17"/>
          <p:cNvPicPr preferRelativeResize="0"/>
          <p:nvPr/>
        </p:nvPicPr>
        <p:blipFill rotWithShape="1">
          <a:blip r:embed="rId3">
            <a:alphaModFix/>
          </a:blip>
          <a:srcRect b="0" l="0" r="0" t="0"/>
          <a:stretch/>
        </p:blipFill>
        <p:spPr>
          <a:xfrm>
            <a:off x="548640" y="2160142"/>
            <a:ext cx="140208" cy="141731"/>
          </a:xfrm>
          <a:prstGeom prst="rect">
            <a:avLst/>
          </a:prstGeom>
          <a:noFill/>
          <a:ln>
            <a:noFill/>
          </a:ln>
        </p:spPr>
      </p:pic>
      <p:pic>
        <p:nvPicPr>
          <p:cNvPr id="263" name="Google Shape;263;p17"/>
          <p:cNvPicPr preferRelativeResize="0"/>
          <p:nvPr/>
        </p:nvPicPr>
        <p:blipFill rotWithShape="1">
          <a:blip r:embed="rId4">
            <a:alphaModFix/>
          </a:blip>
          <a:srcRect b="0" l="0" r="0" t="0"/>
          <a:stretch/>
        </p:blipFill>
        <p:spPr>
          <a:xfrm>
            <a:off x="4975859" y="2016251"/>
            <a:ext cx="3377184" cy="2887980"/>
          </a:xfrm>
          <a:prstGeom prst="rect">
            <a:avLst/>
          </a:prstGeom>
          <a:noFill/>
          <a:ln>
            <a:noFill/>
          </a:ln>
        </p:spPr>
      </p:pic>
      <p:pic>
        <p:nvPicPr>
          <p:cNvPr id="264" name="Google Shape;264;p17"/>
          <p:cNvPicPr preferRelativeResize="0"/>
          <p:nvPr/>
        </p:nvPicPr>
        <p:blipFill rotWithShape="1">
          <a:blip r:embed="rId5">
            <a:alphaModFix/>
          </a:blip>
          <a:srcRect b="0" l="0" r="0" t="0"/>
          <a:stretch/>
        </p:blipFill>
        <p:spPr>
          <a:xfrm>
            <a:off x="858099" y="2103916"/>
            <a:ext cx="3804774" cy="1165063"/>
          </a:xfrm>
          <a:prstGeom prst="rect">
            <a:avLst/>
          </a:prstGeom>
          <a:noFill/>
          <a:ln>
            <a:noFill/>
          </a:ln>
        </p:spPr>
      </p:pic>
      <p:sp>
        <p:nvSpPr>
          <p:cNvPr id="265" name="Google Shape;265;p17"/>
          <p:cNvSpPr txBox="1"/>
          <p:nvPr/>
        </p:nvSpPr>
        <p:spPr>
          <a:xfrm>
            <a:off x="962355" y="3862222"/>
            <a:ext cx="1047750" cy="30035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latin typeface="Calibri"/>
                <a:ea typeface="Calibri"/>
                <a:cs typeface="Calibri"/>
                <a:sym typeface="Calibri"/>
              </a:rPr>
              <a:t>Iris dataset</a:t>
            </a:r>
            <a:endParaRPr sz="1800">
              <a:latin typeface="Calibri"/>
              <a:ea typeface="Calibri"/>
              <a:cs typeface="Calibri"/>
              <a:sym typeface="Calibri"/>
            </a:endParaRPr>
          </a:p>
        </p:txBody>
      </p:sp>
      <p:pic>
        <p:nvPicPr>
          <p:cNvPr id="266" name="Google Shape;266;p17"/>
          <p:cNvPicPr preferRelativeResize="0"/>
          <p:nvPr/>
        </p:nvPicPr>
        <p:blipFill rotWithShape="1">
          <a:blip r:embed="rId6">
            <a:alphaModFix/>
          </a:blip>
          <a:srcRect b="0" l="0" r="0" t="0"/>
          <a:stretch/>
        </p:blipFill>
        <p:spPr>
          <a:xfrm>
            <a:off x="2479004" y="3409556"/>
            <a:ext cx="2067155" cy="1595999"/>
          </a:xfrm>
          <a:prstGeom prst="rect">
            <a:avLst/>
          </a:prstGeom>
          <a:noFill/>
          <a:ln>
            <a:noFill/>
          </a:ln>
        </p:spPr>
      </p:pic>
      <p:sp>
        <p:nvSpPr>
          <p:cNvPr id="267" name="Google Shape;267;p17"/>
          <p:cNvSpPr txBox="1"/>
          <p:nvPr>
            <p:ph idx="12" type="sldNum"/>
          </p:nvPr>
        </p:nvSpPr>
        <p:spPr>
          <a:xfrm>
            <a:off x="8401811" y="4830876"/>
            <a:ext cx="244475" cy="177800"/>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8"/>
          <p:cNvSpPr txBox="1"/>
          <p:nvPr>
            <p:ph type="title"/>
          </p:nvPr>
        </p:nvSpPr>
        <p:spPr>
          <a:xfrm>
            <a:off x="535940" y="454913"/>
            <a:ext cx="6722745" cy="87884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lang="en-US"/>
              <a:t>Principal component analysis – a multivariate dimensionality reduction technique</a:t>
            </a:r>
            <a:endParaRPr/>
          </a:p>
        </p:txBody>
      </p:sp>
      <p:pic>
        <p:nvPicPr>
          <p:cNvPr id="273" name="Google Shape;273;p18"/>
          <p:cNvPicPr preferRelativeResize="0"/>
          <p:nvPr/>
        </p:nvPicPr>
        <p:blipFill rotWithShape="1">
          <a:blip r:embed="rId3">
            <a:alphaModFix/>
          </a:blip>
          <a:srcRect b="0" l="0" r="0" t="0"/>
          <a:stretch/>
        </p:blipFill>
        <p:spPr>
          <a:xfrm>
            <a:off x="607009" y="1745614"/>
            <a:ext cx="114300" cy="124967"/>
          </a:xfrm>
          <a:prstGeom prst="rect">
            <a:avLst/>
          </a:prstGeom>
          <a:noFill/>
          <a:ln>
            <a:noFill/>
          </a:ln>
        </p:spPr>
      </p:pic>
      <p:pic>
        <p:nvPicPr>
          <p:cNvPr id="274" name="Google Shape;274;p18"/>
          <p:cNvPicPr preferRelativeResize="0"/>
          <p:nvPr/>
        </p:nvPicPr>
        <p:blipFill rotWithShape="1">
          <a:blip r:embed="rId3">
            <a:alphaModFix/>
          </a:blip>
          <a:srcRect b="0" l="0" r="0" t="0"/>
          <a:stretch/>
        </p:blipFill>
        <p:spPr>
          <a:xfrm>
            <a:off x="607009" y="2215007"/>
            <a:ext cx="114300" cy="124968"/>
          </a:xfrm>
          <a:prstGeom prst="rect">
            <a:avLst/>
          </a:prstGeom>
          <a:noFill/>
          <a:ln>
            <a:noFill/>
          </a:ln>
        </p:spPr>
      </p:pic>
      <p:pic>
        <p:nvPicPr>
          <p:cNvPr id="275" name="Google Shape;275;p18"/>
          <p:cNvPicPr preferRelativeResize="0"/>
          <p:nvPr/>
        </p:nvPicPr>
        <p:blipFill rotWithShape="1">
          <a:blip r:embed="rId3">
            <a:alphaModFix/>
          </a:blip>
          <a:srcRect b="0" l="0" r="0" t="0"/>
          <a:stretch/>
        </p:blipFill>
        <p:spPr>
          <a:xfrm>
            <a:off x="607009" y="3111119"/>
            <a:ext cx="114300" cy="124968"/>
          </a:xfrm>
          <a:prstGeom prst="rect">
            <a:avLst/>
          </a:prstGeom>
          <a:noFill/>
          <a:ln>
            <a:noFill/>
          </a:ln>
        </p:spPr>
      </p:pic>
      <p:pic>
        <p:nvPicPr>
          <p:cNvPr id="276" name="Google Shape;276;p18"/>
          <p:cNvPicPr preferRelativeResize="0"/>
          <p:nvPr/>
        </p:nvPicPr>
        <p:blipFill rotWithShape="1">
          <a:blip r:embed="rId3">
            <a:alphaModFix/>
          </a:blip>
          <a:srcRect b="0" l="0" r="0" t="0"/>
          <a:stretch/>
        </p:blipFill>
        <p:spPr>
          <a:xfrm>
            <a:off x="607009" y="3793858"/>
            <a:ext cx="114300" cy="124968"/>
          </a:xfrm>
          <a:prstGeom prst="rect">
            <a:avLst/>
          </a:prstGeom>
          <a:noFill/>
          <a:ln>
            <a:noFill/>
          </a:ln>
        </p:spPr>
      </p:pic>
      <p:pic>
        <p:nvPicPr>
          <p:cNvPr id="277" name="Google Shape;277;p18"/>
          <p:cNvPicPr preferRelativeResize="0"/>
          <p:nvPr/>
        </p:nvPicPr>
        <p:blipFill rotWithShape="1">
          <a:blip r:embed="rId4">
            <a:alphaModFix/>
          </a:blip>
          <a:srcRect b="0" l="0" r="0" t="0"/>
          <a:stretch/>
        </p:blipFill>
        <p:spPr>
          <a:xfrm>
            <a:off x="5851465" y="1778200"/>
            <a:ext cx="2426188" cy="2414784"/>
          </a:xfrm>
          <a:prstGeom prst="rect">
            <a:avLst/>
          </a:prstGeom>
          <a:noFill/>
          <a:ln>
            <a:noFill/>
          </a:ln>
        </p:spPr>
      </p:pic>
      <p:sp>
        <p:nvSpPr>
          <p:cNvPr id="278" name="Google Shape;278;p18"/>
          <p:cNvSpPr txBox="1"/>
          <p:nvPr/>
        </p:nvSpPr>
        <p:spPr>
          <a:xfrm>
            <a:off x="937361" y="1678686"/>
            <a:ext cx="7601584" cy="3004185"/>
          </a:xfrm>
          <a:prstGeom prst="rect">
            <a:avLst/>
          </a:prstGeom>
          <a:noFill/>
          <a:ln>
            <a:noFill/>
          </a:ln>
        </p:spPr>
        <p:txBody>
          <a:bodyPr anchorCtr="0" anchor="t" bIns="0" lIns="0" spcFirstLastPara="1" rIns="0" wrap="square" tIns="13325">
            <a:spAutoFit/>
          </a:bodyPr>
          <a:lstStyle/>
          <a:p>
            <a:pPr indent="0" lvl="0" marL="12700" rtl="0" algn="just">
              <a:lnSpc>
                <a:spcPct val="100000"/>
              </a:lnSpc>
              <a:spcBef>
                <a:spcPts val="0"/>
              </a:spcBef>
              <a:spcAft>
                <a:spcPts val="0"/>
              </a:spcAft>
              <a:buNone/>
            </a:pPr>
            <a:r>
              <a:rPr b="1" lang="en-US" sz="1400">
                <a:latin typeface="Calibri"/>
                <a:ea typeface="Calibri"/>
                <a:cs typeface="Calibri"/>
                <a:sym typeface="Calibri"/>
              </a:rPr>
              <a:t>Principal components </a:t>
            </a:r>
            <a:r>
              <a:rPr lang="en-US" sz="1400">
                <a:latin typeface="Calibri"/>
                <a:ea typeface="Calibri"/>
                <a:cs typeface="Calibri"/>
                <a:sym typeface="Calibri"/>
              </a:rPr>
              <a:t>are new variables that are constructed</a:t>
            </a:r>
            <a:endParaRPr sz="1400">
              <a:latin typeface="Calibri"/>
              <a:ea typeface="Calibri"/>
              <a:cs typeface="Calibri"/>
              <a:sym typeface="Calibri"/>
            </a:endParaRPr>
          </a:p>
          <a:p>
            <a:pPr indent="0" lvl="0" marL="12700" rtl="0" algn="just">
              <a:lnSpc>
                <a:spcPct val="100000"/>
              </a:lnSpc>
              <a:spcBef>
                <a:spcPts val="0"/>
              </a:spcBef>
              <a:spcAft>
                <a:spcPts val="0"/>
              </a:spcAft>
              <a:buNone/>
            </a:pPr>
            <a:r>
              <a:rPr b="1" lang="en-US" sz="1400">
                <a:latin typeface="Calibri"/>
                <a:ea typeface="Calibri"/>
                <a:cs typeface="Calibri"/>
                <a:sym typeface="Calibri"/>
              </a:rPr>
              <a:t>as linear combinations </a:t>
            </a:r>
            <a:r>
              <a:rPr lang="en-US" sz="1400">
                <a:latin typeface="Calibri"/>
                <a:ea typeface="Calibri"/>
                <a:cs typeface="Calibri"/>
                <a:sym typeface="Calibri"/>
              </a:rPr>
              <a:t>or mixtures of the initial variables.</a:t>
            </a:r>
            <a:endParaRPr sz="1400">
              <a:latin typeface="Calibri"/>
              <a:ea typeface="Calibri"/>
              <a:cs typeface="Calibri"/>
              <a:sym typeface="Calibri"/>
            </a:endParaRPr>
          </a:p>
          <a:p>
            <a:pPr indent="0" lvl="0" marL="12700" marR="3025140" rtl="0" algn="just">
              <a:lnSpc>
                <a:spcPct val="100000"/>
              </a:lnSpc>
              <a:spcBef>
                <a:spcPts val="334"/>
              </a:spcBef>
              <a:spcAft>
                <a:spcPts val="0"/>
              </a:spcAft>
              <a:buNone/>
            </a:pPr>
            <a:r>
              <a:rPr lang="en-US" sz="1400">
                <a:latin typeface="Calibri"/>
                <a:ea typeface="Calibri"/>
                <a:cs typeface="Calibri"/>
                <a:sym typeface="Calibri"/>
              </a:rPr>
              <a:t>There are as many principal components as there are variables in the data, so principal components are constructed in such a manner  that  the  first  principal  component  accounts  for the </a:t>
            </a:r>
            <a:r>
              <a:rPr b="1" lang="en-US" sz="1400">
                <a:latin typeface="Calibri"/>
                <a:ea typeface="Calibri"/>
                <a:cs typeface="Calibri"/>
                <a:sym typeface="Calibri"/>
              </a:rPr>
              <a:t>largest possible variance </a:t>
            </a:r>
            <a:r>
              <a:rPr lang="en-US" sz="1400">
                <a:latin typeface="Calibri"/>
                <a:ea typeface="Calibri"/>
                <a:cs typeface="Calibri"/>
                <a:sym typeface="Calibri"/>
              </a:rPr>
              <a:t>in the data set.</a:t>
            </a:r>
            <a:endParaRPr sz="1400">
              <a:latin typeface="Calibri"/>
              <a:ea typeface="Calibri"/>
              <a:cs typeface="Calibri"/>
              <a:sym typeface="Calibri"/>
            </a:endParaRPr>
          </a:p>
          <a:p>
            <a:pPr indent="0" lvl="0" marL="12700" marR="3025775" rtl="0" algn="just">
              <a:lnSpc>
                <a:spcPct val="100000"/>
              </a:lnSpc>
              <a:spcBef>
                <a:spcPts val="335"/>
              </a:spcBef>
              <a:spcAft>
                <a:spcPts val="0"/>
              </a:spcAft>
              <a:buNone/>
            </a:pPr>
            <a:r>
              <a:rPr lang="en-US" sz="1400">
                <a:latin typeface="Calibri"/>
                <a:ea typeface="Calibri"/>
                <a:cs typeface="Calibri"/>
                <a:sym typeface="Calibri"/>
              </a:rPr>
              <a:t>The first principal component would be the line that matches the purple one, and it’s the line in which the projection of the points (red dots) is the most spread out.</a:t>
            </a:r>
            <a:endParaRPr sz="1400">
              <a:latin typeface="Calibri"/>
              <a:ea typeface="Calibri"/>
              <a:cs typeface="Calibri"/>
              <a:sym typeface="Calibri"/>
            </a:endParaRPr>
          </a:p>
          <a:p>
            <a:pPr indent="0" lvl="0" marL="12700" marR="3023870" rtl="0" algn="just">
              <a:lnSpc>
                <a:spcPct val="100000"/>
              </a:lnSpc>
              <a:spcBef>
                <a:spcPts val="340"/>
              </a:spcBef>
              <a:spcAft>
                <a:spcPts val="0"/>
              </a:spcAft>
              <a:buNone/>
            </a:pPr>
            <a:r>
              <a:rPr lang="en-US" sz="1400">
                <a:latin typeface="Calibri"/>
                <a:ea typeface="Calibri"/>
                <a:cs typeface="Calibri"/>
                <a:sym typeface="Calibri"/>
              </a:rPr>
              <a:t>Mathematically speaking, that </a:t>
            </a:r>
            <a:r>
              <a:rPr b="1" lang="en-US" sz="1400">
                <a:latin typeface="Calibri"/>
                <a:ea typeface="Calibri"/>
                <a:cs typeface="Calibri"/>
                <a:sym typeface="Calibri"/>
              </a:rPr>
              <a:t>maximizes the variance (the average of the squared distances from the projected points (red dots) to the origin).</a:t>
            </a:r>
            <a:endParaRPr sz="1400">
              <a:latin typeface="Calibri"/>
              <a:ea typeface="Calibri"/>
              <a:cs typeface="Calibri"/>
              <a:sym typeface="Calibri"/>
            </a:endParaRPr>
          </a:p>
          <a:p>
            <a:pPr indent="0" lvl="0" marL="4751070" rtl="0" algn="l">
              <a:lnSpc>
                <a:spcPct val="100000"/>
              </a:lnSpc>
              <a:spcBef>
                <a:spcPts val="1075"/>
              </a:spcBef>
              <a:spcAft>
                <a:spcPts val="0"/>
              </a:spcAft>
              <a:buNone/>
            </a:pPr>
            <a:r>
              <a:rPr lang="en-US" sz="1000" u="sng">
                <a:solidFill>
                  <a:srgbClr val="5F5F5F"/>
                </a:solidFill>
                <a:latin typeface="Calibri"/>
                <a:ea typeface="Calibri"/>
                <a:cs typeface="Calibri"/>
                <a:sym typeface="Calibri"/>
                <a:hlinkClick r:id="rId5">
                  <a:extLst>
                    <a:ext uri="{A12FA001-AC4F-418D-AE19-62706E023703}">
                      <ahyp:hlinkClr val="tx"/>
                    </a:ext>
                  </a:extLst>
                </a:hlinkClick>
              </a:rPr>
              <a:t>Principal Component Analysis (PCA) Explained | Built In</a:t>
            </a:r>
            <a:endParaRPr sz="1000">
              <a:latin typeface="Calibri"/>
              <a:ea typeface="Calibri"/>
              <a:cs typeface="Calibri"/>
              <a:sym typeface="Calibri"/>
            </a:endParaRPr>
          </a:p>
        </p:txBody>
      </p:sp>
      <p:sp>
        <p:nvSpPr>
          <p:cNvPr id="279" name="Google Shape;279;p18"/>
          <p:cNvSpPr txBox="1"/>
          <p:nvPr>
            <p:ph idx="12" type="sldNum"/>
          </p:nvPr>
        </p:nvSpPr>
        <p:spPr>
          <a:xfrm>
            <a:off x="8401811" y="4830876"/>
            <a:ext cx="244475" cy="177800"/>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19"/>
          <p:cNvSpPr txBox="1"/>
          <p:nvPr>
            <p:ph type="title"/>
          </p:nvPr>
        </p:nvSpPr>
        <p:spPr>
          <a:xfrm>
            <a:off x="535940" y="454913"/>
            <a:ext cx="7755890" cy="452119"/>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Principal component analysis step-by-step</a:t>
            </a:r>
            <a:endParaRPr/>
          </a:p>
        </p:txBody>
      </p:sp>
      <p:pic>
        <p:nvPicPr>
          <p:cNvPr id="285" name="Google Shape;285;p19"/>
          <p:cNvPicPr preferRelativeResize="0"/>
          <p:nvPr/>
        </p:nvPicPr>
        <p:blipFill rotWithShape="1">
          <a:blip r:embed="rId3">
            <a:alphaModFix/>
          </a:blip>
          <a:srcRect b="0" l="0" r="0" t="0"/>
          <a:stretch/>
        </p:blipFill>
        <p:spPr>
          <a:xfrm>
            <a:off x="3968496" y="1329182"/>
            <a:ext cx="4506290" cy="3322066"/>
          </a:xfrm>
          <a:prstGeom prst="rect">
            <a:avLst/>
          </a:prstGeom>
          <a:noFill/>
          <a:ln>
            <a:noFill/>
          </a:ln>
        </p:spPr>
      </p:pic>
      <p:sp>
        <p:nvSpPr>
          <p:cNvPr id="286" name="Google Shape;286;p19"/>
          <p:cNvSpPr txBox="1"/>
          <p:nvPr/>
        </p:nvSpPr>
        <p:spPr>
          <a:xfrm>
            <a:off x="946810" y="1411986"/>
            <a:ext cx="2483485" cy="314198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1400">
                <a:latin typeface="Calibri"/>
                <a:ea typeface="Calibri"/>
                <a:cs typeface="Calibri"/>
                <a:sym typeface="Calibri"/>
              </a:rPr>
              <a:t>Standardization.</a:t>
            </a:r>
            <a:endParaRPr sz="1400">
              <a:latin typeface="Calibri"/>
              <a:ea typeface="Calibri"/>
              <a:cs typeface="Calibri"/>
              <a:sym typeface="Calibri"/>
            </a:endParaRPr>
          </a:p>
          <a:p>
            <a:pPr indent="0" lvl="0" marL="0" rtl="0" algn="l">
              <a:lnSpc>
                <a:spcPct val="100000"/>
              </a:lnSpc>
              <a:spcBef>
                <a:spcPts val="640"/>
              </a:spcBef>
              <a:spcAft>
                <a:spcPts val="0"/>
              </a:spcAft>
              <a:buNone/>
            </a:pPr>
            <a:r>
              <a:t/>
            </a:r>
            <a:endParaRPr sz="1400">
              <a:latin typeface="Calibri"/>
              <a:ea typeface="Calibri"/>
              <a:cs typeface="Calibri"/>
              <a:sym typeface="Calibri"/>
            </a:endParaRPr>
          </a:p>
          <a:p>
            <a:pPr indent="0" lvl="0" marL="12700" rtl="0" algn="l">
              <a:lnSpc>
                <a:spcPct val="100000"/>
              </a:lnSpc>
              <a:spcBef>
                <a:spcPts val="0"/>
              </a:spcBef>
              <a:spcAft>
                <a:spcPts val="0"/>
              </a:spcAft>
              <a:buNone/>
            </a:pPr>
            <a:r>
              <a:rPr lang="en-US" sz="1400">
                <a:latin typeface="Calibri"/>
                <a:ea typeface="Calibri"/>
                <a:cs typeface="Calibri"/>
                <a:sym typeface="Calibri"/>
              </a:rPr>
              <a:t>Covariance Matrix Computation.</a:t>
            </a:r>
            <a:endParaRPr sz="1400">
              <a:latin typeface="Calibri"/>
              <a:ea typeface="Calibri"/>
              <a:cs typeface="Calibri"/>
              <a:sym typeface="Calibri"/>
            </a:endParaRPr>
          </a:p>
          <a:p>
            <a:pPr indent="0" lvl="0" marL="0" rtl="0" algn="l">
              <a:lnSpc>
                <a:spcPct val="100000"/>
              </a:lnSpc>
              <a:spcBef>
                <a:spcPts val="645"/>
              </a:spcBef>
              <a:spcAft>
                <a:spcPts val="0"/>
              </a:spcAft>
              <a:buNone/>
            </a:pPr>
            <a:r>
              <a:t/>
            </a:r>
            <a:endParaRPr sz="1400">
              <a:latin typeface="Calibri"/>
              <a:ea typeface="Calibri"/>
              <a:cs typeface="Calibri"/>
              <a:sym typeface="Calibri"/>
            </a:endParaRPr>
          </a:p>
          <a:p>
            <a:pPr indent="0" lvl="0" marL="12700" marR="5080" rtl="0" algn="just">
              <a:lnSpc>
                <a:spcPct val="100000"/>
              </a:lnSpc>
              <a:spcBef>
                <a:spcPts val="0"/>
              </a:spcBef>
              <a:spcAft>
                <a:spcPts val="0"/>
              </a:spcAft>
              <a:buNone/>
            </a:pPr>
            <a:r>
              <a:rPr lang="en-US" sz="1400">
                <a:latin typeface="Calibri"/>
                <a:ea typeface="Calibri"/>
                <a:cs typeface="Calibri"/>
                <a:sym typeface="Calibri"/>
              </a:rPr>
              <a:t>Compute  the  eigenvectors  and eigenvalues  of  the  covariance matrix to identify the principal components.</a:t>
            </a:r>
            <a:endParaRPr sz="1400">
              <a:latin typeface="Calibri"/>
              <a:ea typeface="Calibri"/>
              <a:cs typeface="Calibri"/>
              <a:sym typeface="Calibri"/>
            </a:endParaRPr>
          </a:p>
          <a:p>
            <a:pPr indent="0" lvl="0" marL="0" rtl="0" algn="l">
              <a:lnSpc>
                <a:spcPct val="100000"/>
              </a:lnSpc>
              <a:spcBef>
                <a:spcPts val="645"/>
              </a:spcBef>
              <a:spcAft>
                <a:spcPts val="0"/>
              </a:spcAft>
              <a:buNone/>
            </a:pPr>
            <a:r>
              <a:t/>
            </a:r>
            <a:endParaRPr sz="1400">
              <a:latin typeface="Calibri"/>
              <a:ea typeface="Calibri"/>
              <a:cs typeface="Calibri"/>
              <a:sym typeface="Calibri"/>
            </a:endParaRPr>
          </a:p>
          <a:p>
            <a:pPr indent="0" lvl="0" marL="12700" rtl="0" algn="just">
              <a:lnSpc>
                <a:spcPct val="100000"/>
              </a:lnSpc>
              <a:spcBef>
                <a:spcPts val="0"/>
              </a:spcBef>
              <a:spcAft>
                <a:spcPts val="0"/>
              </a:spcAft>
              <a:buNone/>
            </a:pPr>
            <a:r>
              <a:rPr lang="en-US" sz="1400">
                <a:latin typeface="Calibri"/>
                <a:ea typeface="Calibri"/>
                <a:cs typeface="Calibri"/>
                <a:sym typeface="Calibri"/>
              </a:rPr>
              <a:t>Create a Feature Vector.</a:t>
            </a:r>
            <a:endParaRPr sz="1400">
              <a:latin typeface="Calibri"/>
              <a:ea typeface="Calibri"/>
              <a:cs typeface="Calibri"/>
              <a:sym typeface="Calibri"/>
            </a:endParaRPr>
          </a:p>
          <a:p>
            <a:pPr indent="0" lvl="0" marL="0" rtl="0" algn="l">
              <a:lnSpc>
                <a:spcPct val="100000"/>
              </a:lnSpc>
              <a:spcBef>
                <a:spcPts val="645"/>
              </a:spcBef>
              <a:spcAft>
                <a:spcPts val="0"/>
              </a:spcAft>
              <a:buNone/>
            </a:pPr>
            <a:r>
              <a:t/>
            </a:r>
            <a:endParaRPr sz="1400">
              <a:latin typeface="Calibri"/>
              <a:ea typeface="Calibri"/>
              <a:cs typeface="Calibri"/>
              <a:sym typeface="Calibri"/>
            </a:endParaRPr>
          </a:p>
          <a:p>
            <a:pPr indent="0" lvl="0" marL="12700" rtl="0" algn="just">
              <a:lnSpc>
                <a:spcPct val="100000"/>
              </a:lnSpc>
              <a:spcBef>
                <a:spcPts val="0"/>
              </a:spcBef>
              <a:spcAft>
                <a:spcPts val="0"/>
              </a:spcAft>
              <a:buNone/>
            </a:pPr>
            <a:r>
              <a:rPr lang="en-US" sz="1400">
                <a:latin typeface="Calibri"/>
                <a:ea typeface="Calibri"/>
                <a:cs typeface="Calibri"/>
                <a:sym typeface="Calibri"/>
              </a:rPr>
              <a:t>Recast  the  Data  Along  the</a:t>
            </a:r>
            <a:endParaRPr sz="1400">
              <a:latin typeface="Calibri"/>
              <a:ea typeface="Calibri"/>
              <a:cs typeface="Calibri"/>
              <a:sym typeface="Calibri"/>
            </a:endParaRPr>
          </a:p>
          <a:p>
            <a:pPr indent="0" lvl="0" marL="12700" rtl="0" algn="just">
              <a:lnSpc>
                <a:spcPct val="100000"/>
              </a:lnSpc>
              <a:spcBef>
                <a:spcPts val="0"/>
              </a:spcBef>
              <a:spcAft>
                <a:spcPts val="0"/>
              </a:spcAft>
              <a:buNone/>
            </a:pPr>
            <a:r>
              <a:rPr lang="en-US" sz="1400">
                <a:latin typeface="Calibri"/>
                <a:ea typeface="Calibri"/>
                <a:cs typeface="Calibri"/>
                <a:sym typeface="Calibri"/>
              </a:rPr>
              <a:t>Principal Components Axes.</a:t>
            </a:r>
            <a:endParaRPr sz="1400">
              <a:latin typeface="Calibri"/>
              <a:ea typeface="Calibri"/>
              <a:cs typeface="Calibri"/>
              <a:sym typeface="Calibri"/>
            </a:endParaRPr>
          </a:p>
        </p:txBody>
      </p:sp>
      <p:pic>
        <p:nvPicPr>
          <p:cNvPr id="287" name="Google Shape;287;p19"/>
          <p:cNvPicPr preferRelativeResize="0"/>
          <p:nvPr/>
        </p:nvPicPr>
        <p:blipFill rotWithShape="1">
          <a:blip r:embed="rId4">
            <a:alphaModFix/>
          </a:blip>
          <a:srcRect b="0" l="0" r="0" t="0"/>
          <a:stretch/>
        </p:blipFill>
        <p:spPr>
          <a:xfrm>
            <a:off x="616369" y="1479041"/>
            <a:ext cx="114300" cy="124967"/>
          </a:xfrm>
          <a:prstGeom prst="rect">
            <a:avLst/>
          </a:prstGeom>
          <a:noFill/>
          <a:ln>
            <a:noFill/>
          </a:ln>
        </p:spPr>
      </p:pic>
      <p:pic>
        <p:nvPicPr>
          <p:cNvPr id="288" name="Google Shape;288;p19"/>
          <p:cNvPicPr preferRelativeResize="0"/>
          <p:nvPr/>
        </p:nvPicPr>
        <p:blipFill rotWithShape="1">
          <a:blip r:embed="rId4">
            <a:alphaModFix/>
          </a:blip>
          <a:srcRect b="0" l="0" r="0" t="0"/>
          <a:stretch/>
        </p:blipFill>
        <p:spPr>
          <a:xfrm>
            <a:off x="616369" y="1991105"/>
            <a:ext cx="114300" cy="124968"/>
          </a:xfrm>
          <a:prstGeom prst="rect">
            <a:avLst/>
          </a:prstGeom>
          <a:noFill/>
          <a:ln>
            <a:noFill/>
          </a:ln>
        </p:spPr>
      </p:pic>
      <p:pic>
        <p:nvPicPr>
          <p:cNvPr id="289" name="Google Shape;289;p19"/>
          <p:cNvPicPr preferRelativeResize="0"/>
          <p:nvPr/>
        </p:nvPicPr>
        <p:blipFill rotWithShape="1">
          <a:blip r:embed="rId4">
            <a:alphaModFix/>
          </a:blip>
          <a:srcRect b="0" l="0" r="0" t="0"/>
          <a:stretch/>
        </p:blipFill>
        <p:spPr>
          <a:xfrm>
            <a:off x="616369" y="2503170"/>
            <a:ext cx="114300" cy="124968"/>
          </a:xfrm>
          <a:prstGeom prst="rect">
            <a:avLst/>
          </a:prstGeom>
          <a:noFill/>
          <a:ln>
            <a:noFill/>
          </a:ln>
        </p:spPr>
      </p:pic>
      <p:pic>
        <p:nvPicPr>
          <p:cNvPr id="290" name="Google Shape;290;p19"/>
          <p:cNvPicPr preferRelativeResize="0"/>
          <p:nvPr/>
        </p:nvPicPr>
        <p:blipFill rotWithShape="1">
          <a:blip r:embed="rId4">
            <a:alphaModFix/>
          </a:blip>
          <a:srcRect b="0" l="0" r="0" t="0"/>
          <a:stretch/>
        </p:blipFill>
        <p:spPr>
          <a:xfrm>
            <a:off x="616369" y="3655314"/>
            <a:ext cx="114300" cy="124968"/>
          </a:xfrm>
          <a:prstGeom prst="rect">
            <a:avLst/>
          </a:prstGeom>
          <a:noFill/>
          <a:ln>
            <a:noFill/>
          </a:ln>
        </p:spPr>
      </p:pic>
      <p:pic>
        <p:nvPicPr>
          <p:cNvPr id="291" name="Google Shape;291;p19"/>
          <p:cNvPicPr preferRelativeResize="0"/>
          <p:nvPr/>
        </p:nvPicPr>
        <p:blipFill rotWithShape="1">
          <a:blip r:embed="rId4">
            <a:alphaModFix/>
          </a:blip>
          <a:srcRect b="0" l="0" r="0" t="0"/>
          <a:stretch/>
        </p:blipFill>
        <p:spPr>
          <a:xfrm>
            <a:off x="616369" y="4167378"/>
            <a:ext cx="114300" cy="124968"/>
          </a:xfrm>
          <a:prstGeom prst="rect">
            <a:avLst/>
          </a:prstGeom>
          <a:noFill/>
          <a:ln>
            <a:noFill/>
          </a:ln>
        </p:spPr>
      </p:pic>
      <p:sp>
        <p:nvSpPr>
          <p:cNvPr id="292" name="Google Shape;292;p19"/>
          <p:cNvSpPr txBox="1"/>
          <p:nvPr>
            <p:ph idx="12" type="sldNum"/>
          </p:nvPr>
        </p:nvSpPr>
        <p:spPr>
          <a:xfrm>
            <a:off x="8401811" y="4830876"/>
            <a:ext cx="244475" cy="177800"/>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0"/>
          <p:cNvSpPr txBox="1"/>
          <p:nvPr>
            <p:ph type="title"/>
          </p:nvPr>
        </p:nvSpPr>
        <p:spPr>
          <a:xfrm>
            <a:off x="535940" y="454913"/>
            <a:ext cx="7755890" cy="452119"/>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Principal component analysis – iris example</a:t>
            </a:r>
            <a:endParaRPr/>
          </a:p>
        </p:txBody>
      </p:sp>
      <p:pic>
        <p:nvPicPr>
          <p:cNvPr id="298" name="Google Shape;298;p20"/>
          <p:cNvPicPr preferRelativeResize="0"/>
          <p:nvPr/>
        </p:nvPicPr>
        <p:blipFill rotWithShape="1">
          <a:blip r:embed="rId3">
            <a:alphaModFix/>
          </a:blip>
          <a:srcRect b="0" l="0" r="0" t="0"/>
          <a:stretch/>
        </p:blipFill>
        <p:spPr>
          <a:xfrm>
            <a:off x="4720631" y="1605910"/>
            <a:ext cx="3915227" cy="3005261"/>
          </a:xfrm>
          <a:prstGeom prst="rect">
            <a:avLst/>
          </a:prstGeom>
          <a:noFill/>
          <a:ln>
            <a:noFill/>
          </a:ln>
        </p:spPr>
      </p:pic>
      <p:pic>
        <p:nvPicPr>
          <p:cNvPr id="299" name="Google Shape;299;p20"/>
          <p:cNvPicPr preferRelativeResize="0"/>
          <p:nvPr/>
        </p:nvPicPr>
        <p:blipFill rotWithShape="1">
          <a:blip r:embed="rId4">
            <a:alphaModFix/>
          </a:blip>
          <a:srcRect b="0" l="0" r="0" t="0"/>
          <a:stretch/>
        </p:blipFill>
        <p:spPr>
          <a:xfrm>
            <a:off x="357214" y="1605726"/>
            <a:ext cx="4064914" cy="3135568"/>
          </a:xfrm>
          <a:prstGeom prst="rect">
            <a:avLst/>
          </a:prstGeom>
          <a:noFill/>
          <a:ln>
            <a:noFill/>
          </a:ln>
        </p:spPr>
      </p:pic>
      <p:sp>
        <p:nvSpPr>
          <p:cNvPr id="300" name="Google Shape;300;p20"/>
          <p:cNvSpPr txBox="1"/>
          <p:nvPr>
            <p:ph idx="12" type="sldNum"/>
          </p:nvPr>
        </p:nvSpPr>
        <p:spPr>
          <a:xfrm>
            <a:off x="8401811" y="4830876"/>
            <a:ext cx="244475" cy="177800"/>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21"/>
          <p:cNvSpPr txBox="1"/>
          <p:nvPr>
            <p:ph type="title"/>
          </p:nvPr>
        </p:nvSpPr>
        <p:spPr>
          <a:xfrm>
            <a:off x="535940" y="454913"/>
            <a:ext cx="7755890" cy="452119"/>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t-distributed Stochastic Neighbor Embedding (t-SNE)</a:t>
            </a:r>
            <a:endParaRPr/>
          </a:p>
        </p:txBody>
      </p:sp>
      <p:pic>
        <p:nvPicPr>
          <p:cNvPr id="306" name="Google Shape;306;p21"/>
          <p:cNvPicPr preferRelativeResize="0"/>
          <p:nvPr/>
        </p:nvPicPr>
        <p:blipFill rotWithShape="1">
          <a:blip r:embed="rId3">
            <a:alphaModFix/>
          </a:blip>
          <a:srcRect b="0" l="0" r="0" t="0"/>
          <a:stretch/>
        </p:blipFill>
        <p:spPr>
          <a:xfrm>
            <a:off x="548640" y="1432052"/>
            <a:ext cx="140208" cy="141732"/>
          </a:xfrm>
          <a:prstGeom prst="rect">
            <a:avLst/>
          </a:prstGeom>
          <a:noFill/>
          <a:ln>
            <a:noFill/>
          </a:ln>
        </p:spPr>
      </p:pic>
      <p:sp>
        <p:nvSpPr>
          <p:cNvPr id="307" name="Google Shape;307;p21"/>
          <p:cNvSpPr txBox="1"/>
          <p:nvPr/>
        </p:nvSpPr>
        <p:spPr>
          <a:xfrm>
            <a:off x="879144" y="1357375"/>
            <a:ext cx="4448175" cy="3120726"/>
          </a:xfrm>
          <a:prstGeom prst="rect">
            <a:avLst/>
          </a:prstGeom>
          <a:noFill/>
          <a:ln>
            <a:noFill/>
          </a:ln>
        </p:spPr>
        <p:txBody>
          <a:bodyPr anchorCtr="0" anchor="t" bIns="0" lIns="0" spcFirstLastPara="1" rIns="0" wrap="square" tIns="12050">
            <a:spAutoFit/>
          </a:bodyPr>
          <a:lstStyle/>
          <a:p>
            <a:pPr indent="0" lvl="0" marL="12700" marR="5715" rtl="0" algn="just">
              <a:lnSpc>
                <a:spcPct val="100000"/>
              </a:lnSpc>
              <a:spcBef>
                <a:spcPts val="0"/>
              </a:spcBef>
              <a:spcAft>
                <a:spcPts val="0"/>
              </a:spcAft>
              <a:buNone/>
            </a:pPr>
            <a:r>
              <a:rPr lang="en-US" sz="1600">
                <a:latin typeface="Calibri"/>
                <a:ea typeface="Calibri"/>
                <a:cs typeface="Calibri"/>
                <a:sym typeface="Calibri"/>
              </a:rPr>
              <a:t>t-SNE is </a:t>
            </a:r>
            <a:r>
              <a:rPr b="1" lang="en-US" sz="1600">
                <a:latin typeface="Calibri"/>
                <a:ea typeface="Calibri"/>
                <a:cs typeface="Calibri"/>
                <a:sym typeface="Calibri"/>
              </a:rPr>
              <a:t>nonlinear </a:t>
            </a:r>
            <a:r>
              <a:rPr lang="en-US" sz="1600">
                <a:latin typeface="Calibri"/>
                <a:ea typeface="Calibri"/>
                <a:cs typeface="Calibri"/>
                <a:sym typeface="Calibri"/>
              </a:rPr>
              <a:t>dimensionality reduction: allows to separate data that cannot be separated by any straight line.</a:t>
            </a:r>
            <a:endParaRPr sz="1600">
              <a:latin typeface="Calibri"/>
              <a:ea typeface="Calibri"/>
              <a:cs typeface="Calibri"/>
              <a:sym typeface="Calibri"/>
            </a:endParaRPr>
          </a:p>
          <a:p>
            <a:pPr indent="0" lvl="0" marL="12700" rtl="0" algn="just">
              <a:lnSpc>
                <a:spcPct val="100000"/>
              </a:lnSpc>
              <a:spcBef>
                <a:spcPts val="385"/>
              </a:spcBef>
              <a:spcAft>
                <a:spcPts val="0"/>
              </a:spcAft>
              <a:buNone/>
            </a:pPr>
            <a:r>
              <a:rPr lang="en-US" sz="1600">
                <a:latin typeface="Calibri"/>
                <a:ea typeface="Calibri"/>
                <a:cs typeface="Calibri"/>
                <a:sym typeface="Calibri"/>
              </a:rPr>
              <a:t>The first part is to create a </a:t>
            </a:r>
            <a:r>
              <a:rPr b="1" lang="en-US" sz="1600">
                <a:latin typeface="Calibri"/>
                <a:ea typeface="Calibri"/>
                <a:cs typeface="Calibri"/>
                <a:sym typeface="Calibri"/>
              </a:rPr>
              <a:t>probability distribution</a:t>
            </a:r>
            <a:endParaRPr sz="1600">
              <a:latin typeface="Calibri"/>
              <a:ea typeface="Calibri"/>
              <a:cs typeface="Calibri"/>
              <a:sym typeface="Calibri"/>
            </a:endParaRPr>
          </a:p>
          <a:p>
            <a:pPr indent="0" lvl="0" marL="12700" rtl="0" algn="just">
              <a:lnSpc>
                <a:spcPct val="100000"/>
              </a:lnSpc>
              <a:spcBef>
                <a:spcPts val="0"/>
              </a:spcBef>
              <a:spcAft>
                <a:spcPts val="0"/>
              </a:spcAft>
              <a:buNone/>
            </a:pPr>
            <a:r>
              <a:rPr b="1" lang="en-US" sz="1600">
                <a:latin typeface="Calibri"/>
                <a:ea typeface="Calibri"/>
                <a:cs typeface="Calibri"/>
                <a:sym typeface="Calibri"/>
              </a:rPr>
              <a:t>that represents similarities between neighbors</a:t>
            </a:r>
            <a:r>
              <a:rPr lang="en-US" sz="1600">
                <a:latin typeface="Calibri"/>
                <a:ea typeface="Calibri"/>
                <a:cs typeface="Calibri"/>
                <a:sym typeface="Calibri"/>
              </a:rPr>
              <a:t>.</a:t>
            </a:r>
            <a:endParaRPr sz="1600">
              <a:latin typeface="Calibri"/>
              <a:ea typeface="Calibri"/>
              <a:cs typeface="Calibri"/>
              <a:sym typeface="Calibri"/>
            </a:endParaRPr>
          </a:p>
          <a:p>
            <a:pPr indent="0" lvl="0" marL="12700" marR="5080" rtl="0" algn="just">
              <a:lnSpc>
                <a:spcPct val="100000"/>
              </a:lnSpc>
              <a:spcBef>
                <a:spcPts val="385"/>
              </a:spcBef>
              <a:spcAft>
                <a:spcPts val="0"/>
              </a:spcAft>
              <a:buNone/>
            </a:pPr>
            <a:r>
              <a:rPr lang="en-US" sz="1600">
                <a:latin typeface="Calibri"/>
                <a:ea typeface="Calibri"/>
                <a:cs typeface="Calibri"/>
                <a:sym typeface="Calibri"/>
              </a:rPr>
              <a:t>The next part is to create low-dimensional space with the same number of points as in the original space. Points should be spread randomly on a new space.</a:t>
            </a:r>
            <a:endParaRPr sz="1600">
              <a:latin typeface="Calibri"/>
              <a:ea typeface="Calibri"/>
              <a:cs typeface="Calibri"/>
              <a:sym typeface="Calibri"/>
            </a:endParaRPr>
          </a:p>
          <a:p>
            <a:pPr indent="0" lvl="0" marL="12700" rtl="0" algn="just">
              <a:spcBef>
                <a:spcPts val="385"/>
              </a:spcBef>
              <a:spcAft>
                <a:spcPts val="0"/>
              </a:spcAft>
              <a:buNone/>
            </a:pPr>
            <a:r>
              <a:rPr lang="en-US" sz="1600">
                <a:latin typeface="Calibri"/>
                <a:ea typeface="Calibri"/>
                <a:cs typeface="Calibri"/>
                <a:sym typeface="Calibri"/>
              </a:rPr>
              <a:t>The  goal  of  this  algorithm  is  to  </a:t>
            </a:r>
            <a:r>
              <a:rPr b="1" lang="en-US" sz="1600">
                <a:latin typeface="Calibri"/>
                <a:ea typeface="Calibri"/>
                <a:cs typeface="Calibri"/>
                <a:sym typeface="Calibri"/>
              </a:rPr>
              <a:t>find  similar probability  distribution  in  low-dimensional  space </a:t>
            </a:r>
            <a:r>
              <a:rPr lang="en-US" sz="1600">
                <a:latin typeface="Calibri"/>
                <a:ea typeface="Calibri"/>
                <a:cs typeface="Calibri"/>
                <a:sym typeface="Calibri"/>
              </a:rPr>
              <a:t>(student  t-distribution  with  a  single  degree  of freedom is used).</a:t>
            </a:r>
            <a:endParaRPr sz="1600">
              <a:latin typeface="Calibri"/>
              <a:ea typeface="Calibri"/>
              <a:cs typeface="Calibri"/>
              <a:sym typeface="Calibri"/>
            </a:endParaRPr>
          </a:p>
        </p:txBody>
      </p:sp>
      <p:pic>
        <p:nvPicPr>
          <p:cNvPr id="308" name="Google Shape;308;p21"/>
          <p:cNvPicPr preferRelativeResize="0"/>
          <p:nvPr/>
        </p:nvPicPr>
        <p:blipFill rotWithShape="1">
          <a:blip r:embed="rId3">
            <a:alphaModFix/>
          </a:blip>
          <a:srcRect b="0" l="0" r="0" t="0"/>
          <a:stretch/>
        </p:blipFill>
        <p:spPr>
          <a:xfrm>
            <a:off x="548640" y="2212339"/>
            <a:ext cx="140208" cy="141731"/>
          </a:xfrm>
          <a:prstGeom prst="rect">
            <a:avLst/>
          </a:prstGeom>
          <a:noFill/>
          <a:ln>
            <a:noFill/>
          </a:ln>
        </p:spPr>
      </p:pic>
      <p:pic>
        <p:nvPicPr>
          <p:cNvPr id="309" name="Google Shape;309;p21"/>
          <p:cNvPicPr preferRelativeResize="0"/>
          <p:nvPr/>
        </p:nvPicPr>
        <p:blipFill rotWithShape="1">
          <a:blip r:embed="rId3">
            <a:alphaModFix/>
          </a:blip>
          <a:srcRect b="0" l="0" r="0" t="0"/>
          <a:stretch/>
        </p:blipFill>
        <p:spPr>
          <a:xfrm>
            <a:off x="548640" y="2748788"/>
            <a:ext cx="140208" cy="141731"/>
          </a:xfrm>
          <a:prstGeom prst="rect">
            <a:avLst/>
          </a:prstGeom>
          <a:noFill/>
          <a:ln>
            <a:noFill/>
          </a:ln>
        </p:spPr>
      </p:pic>
      <p:pic>
        <p:nvPicPr>
          <p:cNvPr id="310" name="Google Shape;310;p21"/>
          <p:cNvPicPr preferRelativeResize="0"/>
          <p:nvPr/>
        </p:nvPicPr>
        <p:blipFill rotWithShape="1">
          <a:blip r:embed="rId3">
            <a:alphaModFix/>
          </a:blip>
          <a:srcRect b="0" l="0" r="0" t="0"/>
          <a:stretch/>
        </p:blipFill>
        <p:spPr>
          <a:xfrm>
            <a:off x="548640" y="3529076"/>
            <a:ext cx="140208" cy="141731"/>
          </a:xfrm>
          <a:prstGeom prst="rect">
            <a:avLst/>
          </a:prstGeom>
          <a:noFill/>
          <a:ln>
            <a:noFill/>
          </a:ln>
        </p:spPr>
      </p:pic>
      <p:pic>
        <p:nvPicPr>
          <p:cNvPr id="311" name="Google Shape;311;p21"/>
          <p:cNvPicPr preferRelativeResize="0"/>
          <p:nvPr/>
        </p:nvPicPr>
        <p:blipFill rotWithShape="1">
          <a:blip r:embed="rId4">
            <a:alphaModFix/>
          </a:blip>
          <a:srcRect b="0" l="0" r="0" t="0"/>
          <a:stretch/>
        </p:blipFill>
        <p:spPr>
          <a:xfrm>
            <a:off x="5754136" y="1648510"/>
            <a:ext cx="914684" cy="859932"/>
          </a:xfrm>
          <a:prstGeom prst="rect">
            <a:avLst/>
          </a:prstGeom>
          <a:noFill/>
          <a:ln>
            <a:noFill/>
          </a:ln>
        </p:spPr>
      </p:pic>
      <p:pic>
        <p:nvPicPr>
          <p:cNvPr id="312" name="Google Shape;312;p21"/>
          <p:cNvPicPr preferRelativeResize="0"/>
          <p:nvPr/>
        </p:nvPicPr>
        <p:blipFill rotWithShape="1">
          <a:blip r:embed="rId5">
            <a:alphaModFix/>
          </a:blip>
          <a:srcRect b="0" l="0" r="0" t="0"/>
          <a:stretch/>
        </p:blipFill>
        <p:spPr>
          <a:xfrm>
            <a:off x="5645932" y="3028553"/>
            <a:ext cx="1083015" cy="687445"/>
          </a:xfrm>
          <a:prstGeom prst="rect">
            <a:avLst/>
          </a:prstGeom>
          <a:noFill/>
          <a:ln>
            <a:noFill/>
          </a:ln>
        </p:spPr>
      </p:pic>
      <p:sp>
        <p:nvSpPr>
          <p:cNvPr id="313" name="Google Shape;313;p21"/>
          <p:cNvSpPr txBox="1"/>
          <p:nvPr/>
        </p:nvSpPr>
        <p:spPr>
          <a:xfrm>
            <a:off x="901090" y="4652264"/>
            <a:ext cx="5777865" cy="177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000" u="sng">
                <a:solidFill>
                  <a:srgbClr val="5F5F5F"/>
                </a:solidFill>
                <a:latin typeface="Calibri"/>
                <a:ea typeface="Calibri"/>
                <a:cs typeface="Calibri"/>
                <a:sym typeface="Calibri"/>
                <a:hlinkClick r:id="rId6">
                  <a:extLst>
                    <a:ext uri="{A12FA001-AC4F-418D-AE19-62706E023703}">
                      <ahyp:hlinkClr val="tx"/>
                    </a:ext>
                  </a:extLst>
                </a:hlinkClick>
              </a:rPr>
              <a:t>t-SNE clearly explained. An intuitive explanation of t-SNE… | by Kemal Erdem (burnpiro) | Towards Data Science</a:t>
            </a:r>
            <a:endParaRPr sz="1000">
              <a:latin typeface="Calibri"/>
              <a:ea typeface="Calibri"/>
              <a:cs typeface="Calibri"/>
              <a:sym typeface="Calibri"/>
            </a:endParaRPr>
          </a:p>
        </p:txBody>
      </p:sp>
      <p:sp>
        <p:nvSpPr>
          <p:cNvPr id="314" name="Google Shape;314;p21"/>
          <p:cNvSpPr/>
          <p:nvPr/>
        </p:nvSpPr>
        <p:spPr>
          <a:xfrm>
            <a:off x="6969252" y="2008632"/>
            <a:ext cx="447040" cy="86995"/>
          </a:xfrm>
          <a:custGeom>
            <a:rect b="b" l="l" r="r" t="t"/>
            <a:pathLst>
              <a:path extrusionOk="0" h="86994" w="447040">
                <a:moveTo>
                  <a:pt x="403098" y="0"/>
                </a:moveTo>
                <a:lnTo>
                  <a:pt x="403098" y="21717"/>
                </a:lnTo>
                <a:lnTo>
                  <a:pt x="0" y="21717"/>
                </a:lnTo>
                <a:lnTo>
                  <a:pt x="0" y="65150"/>
                </a:lnTo>
                <a:lnTo>
                  <a:pt x="403098" y="65150"/>
                </a:lnTo>
                <a:lnTo>
                  <a:pt x="403098" y="86868"/>
                </a:lnTo>
                <a:lnTo>
                  <a:pt x="446531" y="43434"/>
                </a:lnTo>
                <a:lnTo>
                  <a:pt x="403098" y="0"/>
                </a:lnTo>
                <a:close/>
              </a:path>
            </a:pathLst>
          </a:custGeom>
          <a:solidFill>
            <a:srgbClr val="6F2F9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15" name="Google Shape;315;p21"/>
          <p:cNvSpPr/>
          <p:nvPr/>
        </p:nvSpPr>
        <p:spPr>
          <a:xfrm>
            <a:off x="6969252" y="3305555"/>
            <a:ext cx="447040" cy="88900"/>
          </a:xfrm>
          <a:custGeom>
            <a:rect b="b" l="l" r="r" t="t"/>
            <a:pathLst>
              <a:path extrusionOk="0" h="88900" w="447040">
                <a:moveTo>
                  <a:pt x="402336" y="0"/>
                </a:moveTo>
                <a:lnTo>
                  <a:pt x="402336" y="22098"/>
                </a:lnTo>
                <a:lnTo>
                  <a:pt x="0" y="22098"/>
                </a:lnTo>
                <a:lnTo>
                  <a:pt x="0" y="66294"/>
                </a:lnTo>
                <a:lnTo>
                  <a:pt x="402336" y="66294"/>
                </a:lnTo>
                <a:lnTo>
                  <a:pt x="402336" y="88392"/>
                </a:lnTo>
                <a:lnTo>
                  <a:pt x="446531" y="44196"/>
                </a:lnTo>
                <a:lnTo>
                  <a:pt x="402336" y="0"/>
                </a:lnTo>
                <a:close/>
              </a:path>
            </a:pathLst>
          </a:custGeom>
          <a:solidFill>
            <a:srgbClr val="6F2F9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16" name="Google Shape;316;p21"/>
          <p:cNvSpPr txBox="1"/>
          <p:nvPr/>
        </p:nvSpPr>
        <p:spPr>
          <a:xfrm>
            <a:off x="6211570" y="4054855"/>
            <a:ext cx="2107565" cy="177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000" u="sng">
                <a:solidFill>
                  <a:srgbClr val="5F5F5F"/>
                </a:solidFill>
                <a:latin typeface="Calibri"/>
                <a:ea typeface="Calibri"/>
                <a:cs typeface="Calibri"/>
                <a:sym typeface="Calibri"/>
                <a:hlinkClick r:id="rId7">
                  <a:extLst>
                    <a:ext uri="{A12FA001-AC4F-418D-AE19-62706E023703}">
                      <ahyp:hlinkClr val="tx"/>
                    </a:ext>
                  </a:extLst>
                </a:hlinkClick>
              </a:rPr>
              <a:t>How to Use t-SNE Effectively (distill.pub)</a:t>
            </a:r>
            <a:endParaRPr sz="1000">
              <a:latin typeface="Calibri"/>
              <a:ea typeface="Calibri"/>
              <a:cs typeface="Calibri"/>
              <a:sym typeface="Calibri"/>
            </a:endParaRPr>
          </a:p>
        </p:txBody>
      </p:sp>
      <p:pic>
        <p:nvPicPr>
          <p:cNvPr id="317" name="Google Shape;317;p21"/>
          <p:cNvPicPr preferRelativeResize="0"/>
          <p:nvPr/>
        </p:nvPicPr>
        <p:blipFill rotWithShape="1">
          <a:blip r:embed="rId8">
            <a:alphaModFix/>
          </a:blip>
          <a:srcRect b="0" l="0" r="0" t="0"/>
          <a:stretch/>
        </p:blipFill>
        <p:spPr>
          <a:xfrm>
            <a:off x="7749663" y="2972170"/>
            <a:ext cx="940074" cy="770402"/>
          </a:xfrm>
          <a:prstGeom prst="rect">
            <a:avLst/>
          </a:prstGeom>
          <a:noFill/>
          <a:ln>
            <a:noFill/>
          </a:ln>
        </p:spPr>
      </p:pic>
      <p:pic>
        <p:nvPicPr>
          <p:cNvPr id="318" name="Google Shape;318;p21"/>
          <p:cNvPicPr preferRelativeResize="0"/>
          <p:nvPr/>
        </p:nvPicPr>
        <p:blipFill rotWithShape="1">
          <a:blip r:embed="rId9">
            <a:alphaModFix/>
          </a:blip>
          <a:srcRect b="0" l="0" r="0" t="0"/>
          <a:stretch/>
        </p:blipFill>
        <p:spPr>
          <a:xfrm>
            <a:off x="7767828" y="1563624"/>
            <a:ext cx="966216" cy="966215"/>
          </a:xfrm>
          <a:prstGeom prst="rect">
            <a:avLst/>
          </a:prstGeom>
          <a:noFill/>
          <a:ln>
            <a:noFill/>
          </a:ln>
        </p:spPr>
      </p:pic>
      <p:sp>
        <p:nvSpPr>
          <p:cNvPr id="319" name="Google Shape;319;p21"/>
          <p:cNvSpPr txBox="1"/>
          <p:nvPr>
            <p:ph idx="12" type="sldNum"/>
          </p:nvPr>
        </p:nvSpPr>
        <p:spPr>
          <a:xfrm>
            <a:off x="8401811" y="4830876"/>
            <a:ext cx="244475" cy="177800"/>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pic>
        <p:nvPicPr>
          <p:cNvPr id="324" name="Google Shape;324;p22"/>
          <p:cNvPicPr preferRelativeResize="0"/>
          <p:nvPr/>
        </p:nvPicPr>
        <p:blipFill rotWithShape="1">
          <a:blip r:embed="rId3">
            <a:alphaModFix/>
          </a:blip>
          <a:srcRect b="0" l="0" r="0" t="0"/>
          <a:stretch/>
        </p:blipFill>
        <p:spPr>
          <a:xfrm>
            <a:off x="1568714" y="3244504"/>
            <a:ext cx="7180262" cy="1479381"/>
          </a:xfrm>
          <a:prstGeom prst="rect">
            <a:avLst/>
          </a:prstGeom>
          <a:noFill/>
          <a:ln>
            <a:noFill/>
          </a:ln>
        </p:spPr>
      </p:pic>
      <p:sp>
        <p:nvSpPr>
          <p:cNvPr id="325" name="Google Shape;325;p22"/>
          <p:cNvSpPr txBox="1"/>
          <p:nvPr>
            <p:ph type="title"/>
          </p:nvPr>
        </p:nvSpPr>
        <p:spPr>
          <a:xfrm>
            <a:off x="535940" y="454913"/>
            <a:ext cx="7491095" cy="87884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lang="en-US"/>
              <a:t>t-SNE: perplexity balances attention between local and global aspects</a:t>
            </a:r>
            <a:endParaRPr/>
          </a:p>
        </p:txBody>
      </p:sp>
      <p:sp>
        <p:nvSpPr>
          <p:cNvPr id="326" name="Google Shape;326;p22"/>
          <p:cNvSpPr txBox="1"/>
          <p:nvPr/>
        </p:nvSpPr>
        <p:spPr>
          <a:xfrm>
            <a:off x="8427211" y="4792776"/>
            <a:ext cx="180975"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200">
                <a:solidFill>
                  <a:srgbClr val="888888"/>
                </a:solidFill>
                <a:latin typeface="Calibri"/>
                <a:ea typeface="Calibri"/>
                <a:cs typeface="Calibri"/>
                <a:sym typeface="Calibri"/>
              </a:rPr>
              <a:t>24</a:t>
            </a:r>
            <a:endParaRPr sz="1200">
              <a:latin typeface="Calibri"/>
              <a:ea typeface="Calibri"/>
              <a:cs typeface="Calibri"/>
              <a:sym typeface="Calibri"/>
            </a:endParaRPr>
          </a:p>
        </p:txBody>
      </p:sp>
      <p:pic>
        <p:nvPicPr>
          <p:cNvPr id="327" name="Google Shape;327;p22"/>
          <p:cNvPicPr preferRelativeResize="0"/>
          <p:nvPr/>
        </p:nvPicPr>
        <p:blipFill rotWithShape="1">
          <a:blip r:embed="rId4">
            <a:alphaModFix/>
          </a:blip>
          <a:srcRect b="0" l="0" r="0" t="0"/>
          <a:stretch/>
        </p:blipFill>
        <p:spPr>
          <a:xfrm>
            <a:off x="577471" y="1501722"/>
            <a:ext cx="7111681" cy="1464365"/>
          </a:xfrm>
          <a:prstGeom prst="rect">
            <a:avLst/>
          </a:prstGeom>
          <a:noFill/>
          <a:ln>
            <a:noFill/>
          </a:ln>
        </p:spPr>
      </p:pic>
      <p:sp>
        <p:nvSpPr>
          <p:cNvPr id="328" name="Google Shape;328;p22"/>
          <p:cNvSpPr txBox="1"/>
          <p:nvPr/>
        </p:nvSpPr>
        <p:spPr>
          <a:xfrm>
            <a:off x="1563750" y="4786071"/>
            <a:ext cx="2831465" cy="177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i="1" lang="en-US" sz="1000">
                <a:latin typeface="Calibri"/>
                <a:ea typeface="Calibri"/>
                <a:cs typeface="Calibri"/>
                <a:sym typeface="Calibri"/>
              </a:rPr>
              <a:t>Seeing global geometry requires fine-tuning perplexity.</a:t>
            </a:r>
            <a:endParaRPr sz="1000">
              <a:latin typeface="Calibri"/>
              <a:ea typeface="Calibri"/>
              <a:cs typeface="Calibri"/>
              <a:sym typeface="Calibri"/>
            </a:endParaRPr>
          </a:p>
        </p:txBody>
      </p:sp>
      <p:sp>
        <p:nvSpPr>
          <p:cNvPr id="329" name="Google Shape;329;p22"/>
          <p:cNvSpPr txBox="1"/>
          <p:nvPr/>
        </p:nvSpPr>
        <p:spPr>
          <a:xfrm>
            <a:off x="535940" y="3036188"/>
            <a:ext cx="2757805" cy="177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i="1" lang="en-US" sz="1000">
                <a:latin typeface="Calibri"/>
                <a:ea typeface="Calibri"/>
                <a:cs typeface="Calibri"/>
                <a:sym typeface="Calibri"/>
              </a:rPr>
              <a:t>Perplexity should be smaller than number of samples.</a:t>
            </a:r>
            <a:endParaRPr sz="1000">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3"/>
          <p:cNvSpPr txBox="1"/>
          <p:nvPr>
            <p:ph type="title"/>
          </p:nvPr>
        </p:nvSpPr>
        <p:spPr>
          <a:xfrm>
            <a:off x="535940" y="454913"/>
            <a:ext cx="7755890" cy="452119"/>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t-SNE: iterative and adaptive algorithm</a:t>
            </a:r>
            <a:endParaRPr/>
          </a:p>
        </p:txBody>
      </p:sp>
      <p:pic>
        <p:nvPicPr>
          <p:cNvPr id="335" name="Google Shape;335;p23"/>
          <p:cNvPicPr preferRelativeResize="0"/>
          <p:nvPr/>
        </p:nvPicPr>
        <p:blipFill rotWithShape="1">
          <a:blip r:embed="rId3">
            <a:alphaModFix/>
          </a:blip>
          <a:srcRect b="0" l="0" r="0" t="0"/>
          <a:stretch/>
        </p:blipFill>
        <p:spPr>
          <a:xfrm>
            <a:off x="522741" y="1195942"/>
            <a:ext cx="7387420" cy="1515916"/>
          </a:xfrm>
          <a:prstGeom prst="rect">
            <a:avLst/>
          </a:prstGeom>
          <a:noFill/>
          <a:ln>
            <a:noFill/>
          </a:ln>
        </p:spPr>
      </p:pic>
      <p:pic>
        <p:nvPicPr>
          <p:cNvPr id="336" name="Google Shape;336;p23"/>
          <p:cNvPicPr preferRelativeResize="0"/>
          <p:nvPr/>
        </p:nvPicPr>
        <p:blipFill rotWithShape="1">
          <a:blip r:embed="rId4">
            <a:alphaModFix/>
          </a:blip>
          <a:srcRect b="0" l="0" r="0" t="0"/>
          <a:stretch/>
        </p:blipFill>
        <p:spPr>
          <a:xfrm>
            <a:off x="1994774" y="3267804"/>
            <a:ext cx="6350087" cy="1324521"/>
          </a:xfrm>
          <a:prstGeom prst="rect">
            <a:avLst/>
          </a:prstGeom>
          <a:noFill/>
          <a:ln>
            <a:noFill/>
          </a:ln>
        </p:spPr>
      </p:pic>
      <p:sp>
        <p:nvSpPr>
          <p:cNvPr id="337" name="Google Shape;337;p23"/>
          <p:cNvSpPr txBox="1"/>
          <p:nvPr/>
        </p:nvSpPr>
        <p:spPr>
          <a:xfrm>
            <a:off x="2004186" y="4670856"/>
            <a:ext cx="5708015" cy="177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i="1" lang="en-US" sz="1000">
                <a:latin typeface="Calibri"/>
                <a:ea typeface="Calibri"/>
                <a:cs typeface="Calibri"/>
                <a:sym typeface="Calibri"/>
              </a:rPr>
              <a:t>Cluster sizes does not have meaning: t-SNE by design adapts its notion of distance to regional density variation.</a:t>
            </a:r>
            <a:endParaRPr sz="1000">
              <a:latin typeface="Calibri"/>
              <a:ea typeface="Calibri"/>
              <a:cs typeface="Calibri"/>
              <a:sym typeface="Calibri"/>
            </a:endParaRPr>
          </a:p>
        </p:txBody>
      </p:sp>
      <p:sp>
        <p:nvSpPr>
          <p:cNvPr id="338" name="Google Shape;338;p23"/>
          <p:cNvSpPr txBox="1"/>
          <p:nvPr>
            <p:ph idx="12" type="sldNum"/>
          </p:nvPr>
        </p:nvSpPr>
        <p:spPr>
          <a:xfrm>
            <a:off x="8401811" y="4830876"/>
            <a:ext cx="244475" cy="177800"/>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
        <p:nvSpPr>
          <p:cNvPr id="339" name="Google Shape;339;p23"/>
          <p:cNvSpPr txBox="1"/>
          <p:nvPr/>
        </p:nvSpPr>
        <p:spPr>
          <a:xfrm>
            <a:off x="488695" y="2745993"/>
            <a:ext cx="5725160" cy="177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i="1" lang="en-US" sz="1000">
                <a:latin typeface="Calibri"/>
                <a:ea typeface="Calibri"/>
                <a:cs typeface="Calibri"/>
                <a:sym typeface="Calibri"/>
              </a:rPr>
              <a:t>A learning rate (often called “epsilon”) is one more hyperparameter; a point of stability is reached by step 1,000</a:t>
            </a:r>
            <a:endParaRPr sz="1000">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24"/>
          <p:cNvSpPr txBox="1"/>
          <p:nvPr>
            <p:ph type="title"/>
          </p:nvPr>
        </p:nvSpPr>
        <p:spPr>
          <a:xfrm>
            <a:off x="535940" y="454913"/>
            <a:ext cx="7755890" cy="452119"/>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t-SNE for single-cell data</a:t>
            </a:r>
            <a:endParaRPr/>
          </a:p>
        </p:txBody>
      </p:sp>
      <p:pic>
        <p:nvPicPr>
          <p:cNvPr id="345" name="Google Shape;345;p24"/>
          <p:cNvPicPr preferRelativeResize="0"/>
          <p:nvPr/>
        </p:nvPicPr>
        <p:blipFill rotWithShape="1">
          <a:blip r:embed="rId3">
            <a:alphaModFix/>
          </a:blip>
          <a:srcRect b="0" l="0" r="0" t="0"/>
          <a:stretch/>
        </p:blipFill>
        <p:spPr>
          <a:xfrm>
            <a:off x="4596384" y="1242060"/>
            <a:ext cx="3759708" cy="2886455"/>
          </a:xfrm>
          <a:prstGeom prst="rect">
            <a:avLst/>
          </a:prstGeom>
          <a:noFill/>
          <a:ln>
            <a:noFill/>
          </a:ln>
        </p:spPr>
      </p:pic>
      <p:sp>
        <p:nvSpPr>
          <p:cNvPr id="346" name="Google Shape;346;p24"/>
          <p:cNvSpPr txBox="1"/>
          <p:nvPr/>
        </p:nvSpPr>
        <p:spPr>
          <a:xfrm>
            <a:off x="4526026" y="4300220"/>
            <a:ext cx="4055110" cy="177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000" u="sng">
                <a:solidFill>
                  <a:srgbClr val="5F5F5F"/>
                </a:solidFill>
                <a:latin typeface="Calibri"/>
                <a:ea typeface="Calibri"/>
                <a:cs typeface="Calibri"/>
                <a:sym typeface="Calibri"/>
                <a:hlinkClick r:id="rId4">
                  <a:extLst>
                    <a:ext uri="{A12FA001-AC4F-418D-AE19-62706E023703}">
                      <ahyp:hlinkClr val="tx"/>
                    </a:ext>
                  </a:extLst>
                </a:hlinkClick>
              </a:rPr>
              <a:t>The art of using t-SNE for single-cell transcriptomics | Nature Communications</a:t>
            </a:r>
            <a:endParaRPr sz="1000">
              <a:latin typeface="Calibri"/>
              <a:ea typeface="Calibri"/>
              <a:cs typeface="Calibri"/>
              <a:sym typeface="Calibri"/>
            </a:endParaRPr>
          </a:p>
        </p:txBody>
      </p:sp>
      <p:sp>
        <p:nvSpPr>
          <p:cNvPr id="347" name="Google Shape;347;p24"/>
          <p:cNvSpPr txBox="1"/>
          <p:nvPr/>
        </p:nvSpPr>
        <p:spPr>
          <a:xfrm>
            <a:off x="835558" y="1262888"/>
            <a:ext cx="3351529" cy="3145092"/>
          </a:xfrm>
          <a:prstGeom prst="rect">
            <a:avLst/>
          </a:prstGeom>
          <a:noFill/>
          <a:ln>
            <a:noFill/>
          </a:ln>
        </p:spPr>
        <p:txBody>
          <a:bodyPr anchorCtr="0" anchor="t" bIns="0" lIns="0" spcFirstLastPara="1" rIns="0" wrap="square" tIns="13325">
            <a:spAutoFit/>
          </a:bodyPr>
          <a:lstStyle/>
          <a:p>
            <a:pPr indent="0" lvl="0" marL="12700" marR="5080" rtl="0" algn="just">
              <a:lnSpc>
                <a:spcPct val="100000"/>
              </a:lnSpc>
              <a:spcBef>
                <a:spcPts val="0"/>
              </a:spcBef>
              <a:spcAft>
                <a:spcPts val="0"/>
              </a:spcAft>
              <a:buNone/>
            </a:pPr>
            <a:r>
              <a:rPr lang="en-US" sz="1400">
                <a:latin typeface="Calibri"/>
                <a:ea typeface="Calibri"/>
                <a:cs typeface="Calibri"/>
                <a:sym typeface="Calibri"/>
              </a:rPr>
              <a:t>Single-cell RNA sequencing datasets usually contain the expression count of </a:t>
            </a:r>
            <a:r>
              <a:rPr b="1" lang="en-US" sz="1400">
                <a:latin typeface="Calibri"/>
                <a:ea typeface="Calibri"/>
                <a:cs typeface="Calibri"/>
                <a:sym typeface="Calibri"/>
              </a:rPr>
              <a:t>thousands of genes for thousands of single cells</a:t>
            </a:r>
            <a:r>
              <a:rPr lang="en-US" sz="1400">
                <a:latin typeface="Calibri"/>
                <a:ea typeface="Calibri"/>
                <a:cs typeface="Calibri"/>
                <a:sym typeface="Calibri"/>
              </a:rPr>
              <a:t>.</a:t>
            </a:r>
            <a:endParaRPr sz="1400">
              <a:latin typeface="Calibri"/>
              <a:ea typeface="Calibri"/>
              <a:cs typeface="Calibri"/>
              <a:sym typeface="Calibri"/>
            </a:endParaRPr>
          </a:p>
          <a:p>
            <a:pPr indent="0" lvl="0" marL="12700" marR="5080" rtl="0" algn="just">
              <a:lnSpc>
                <a:spcPct val="100000"/>
              </a:lnSpc>
              <a:spcBef>
                <a:spcPts val="334"/>
              </a:spcBef>
              <a:spcAft>
                <a:spcPts val="0"/>
              </a:spcAft>
              <a:buNone/>
            </a:pPr>
            <a:r>
              <a:rPr lang="en-US" sz="1400">
                <a:latin typeface="Calibri"/>
                <a:ea typeface="Calibri"/>
                <a:cs typeface="Calibri"/>
                <a:sym typeface="Calibri"/>
              </a:rPr>
              <a:t>The location of a cell on a t-SNE plot is determined by its </a:t>
            </a:r>
            <a:r>
              <a:rPr b="1" lang="en-US" sz="1400">
                <a:latin typeface="Calibri"/>
                <a:ea typeface="Calibri"/>
                <a:cs typeface="Calibri"/>
                <a:sym typeface="Calibri"/>
              </a:rPr>
              <a:t>similarity to other cells</a:t>
            </a:r>
            <a:r>
              <a:rPr lang="en-US" sz="1400">
                <a:latin typeface="Calibri"/>
                <a:ea typeface="Calibri"/>
                <a:cs typeface="Calibri"/>
                <a:sym typeface="Calibri"/>
              </a:rPr>
              <a:t>. Similar  cells  are  placed  together,  while different cells are placed further apart</a:t>
            </a:r>
            <a:endParaRPr sz="1400">
              <a:latin typeface="Calibri"/>
              <a:ea typeface="Calibri"/>
              <a:cs typeface="Calibri"/>
              <a:sym typeface="Calibri"/>
            </a:endParaRPr>
          </a:p>
          <a:p>
            <a:pPr indent="0" lvl="0" marL="12700" marR="5715" rtl="0" algn="just">
              <a:lnSpc>
                <a:spcPct val="100000"/>
              </a:lnSpc>
              <a:spcBef>
                <a:spcPts val="335"/>
              </a:spcBef>
              <a:spcAft>
                <a:spcPts val="0"/>
              </a:spcAft>
              <a:buNone/>
            </a:pPr>
            <a:r>
              <a:rPr lang="en-US" sz="1400">
                <a:latin typeface="Calibri"/>
                <a:ea typeface="Calibri"/>
                <a:cs typeface="Calibri"/>
                <a:sym typeface="Calibri"/>
              </a:rPr>
              <a:t>Cells  within  a  cluster  may  have  </a:t>
            </a:r>
            <a:r>
              <a:rPr b="1" lang="en-US" sz="1400">
                <a:latin typeface="Calibri"/>
                <a:ea typeface="Calibri"/>
                <a:cs typeface="Calibri"/>
                <a:sym typeface="Calibri"/>
              </a:rPr>
              <a:t>similar functions in a tissue</a:t>
            </a:r>
            <a:r>
              <a:rPr lang="en-US" sz="1400">
                <a:latin typeface="Calibri"/>
                <a:ea typeface="Calibri"/>
                <a:cs typeface="Calibri"/>
                <a:sym typeface="Calibri"/>
              </a:rPr>
              <a:t>: they may be the same cell type or react identically to treatment. Different  cell  groups  may  have  different functions in a tissue or may be at diverging stages of development.</a:t>
            </a:r>
            <a:endParaRPr sz="1400">
              <a:latin typeface="Calibri"/>
              <a:ea typeface="Calibri"/>
              <a:cs typeface="Calibri"/>
              <a:sym typeface="Calibri"/>
            </a:endParaRPr>
          </a:p>
          <a:p>
            <a:pPr indent="0" lvl="0" marL="12700" marR="5715" rtl="0" algn="just">
              <a:spcBef>
                <a:spcPts val="335"/>
              </a:spcBef>
              <a:spcAft>
                <a:spcPts val="0"/>
              </a:spcAft>
              <a:buNone/>
            </a:pPr>
            <a:r>
              <a:rPr lang="en-US" sz="1400">
                <a:latin typeface="Calibri"/>
                <a:ea typeface="Calibri"/>
                <a:cs typeface="Calibri"/>
                <a:sym typeface="Calibri"/>
              </a:rPr>
              <a:t>Sometimes used in tandem with PCA.</a:t>
            </a:r>
            <a:endParaRPr sz="1400">
              <a:latin typeface="Calibri"/>
              <a:ea typeface="Calibri"/>
              <a:cs typeface="Calibri"/>
              <a:sym typeface="Calibri"/>
            </a:endParaRPr>
          </a:p>
        </p:txBody>
      </p:sp>
      <p:pic>
        <p:nvPicPr>
          <p:cNvPr id="348" name="Google Shape;348;p24"/>
          <p:cNvPicPr preferRelativeResize="0"/>
          <p:nvPr/>
        </p:nvPicPr>
        <p:blipFill rotWithShape="1">
          <a:blip r:embed="rId5">
            <a:alphaModFix/>
          </a:blip>
          <a:srcRect b="0" l="0" r="0" t="0"/>
          <a:stretch/>
        </p:blipFill>
        <p:spPr>
          <a:xfrm>
            <a:off x="505320" y="1329944"/>
            <a:ext cx="114300" cy="124967"/>
          </a:xfrm>
          <a:prstGeom prst="rect">
            <a:avLst/>
          </a:prstGeom>
          <a:noFill/>
          <a:ln>
            <a:noFill/>
          </a:ln>
        </p:spPr>
      </p:pic>
      <p:pic>
        <p:nvPicPr>
          <p:cNvPr id="349" name="Google Shape;349;p24"/>
          <p:cNvPicPr preferRelativeResize="0"/>
          <p:nvPr/>
        </p:nvPicPr>
        <p:blipFill rotWithShape="1">
          <a:blip r:embed="rId5">
            <a:alphaModFix/>
          </a:blip>
          <a:srcRect b="0" l="0" r="0" t="0"/>
          <a:stretch/>
        </p:blipFill>
        <p:spPr>
          <a:xfrm>
            <a:off x="505320" y="2012695"/>
            <a:ext cx="114300" cy="124968"/>
          </a:xfrm>
          <a:prstGeom prst="rect">
            <a:avLst/>
          </a:prstGeom>
          <a:noFill/>
          <a:ln>
            <a:noFill/>
          </a:ln>
        </p:spPr>
      </p:pic>
      <p:pic>
        <p:nvPicPr>
          <p:cNvPr id="350" name="Google Shape;350;p24"/>
          <p:cNvPicPr preferRelativeResize="0"/>
          <p:nvPr/>
        </p:nvPicPr>
        <p:blipFill rotWithShape="1">
          <a:blip r:embed="rId5">
            <a:alphaModFix/>
          </a:blip>
          <a:srcRect b="0" l="0" r="0" t="0"/>
          <a:stretch/>
        </p:blipFill>
        <p:spPr>
          <a:xfrm>
            <a:off x="505320" y="2908807"/>
            <a:ext cx="114300" cy="124968"/>
          </a:xfrm>
          <a:prstGeom prst="rect">
            <a:avLst/>
          </a:prstGeom>
          <a:noFill/>
          <a:ln>
            <a:noFill/>
          </a:ln>
        </p:spPr>
      </p:pic>
      <p:pic>
        <p:nvPicPr>
          <p:cNvPr id="351" name="Google Shape;351;p24"/>
          <p:cNvPicPr preferRelativeResize="0"/>
          <p:nvPr/>
        </p:nvPicPr>
        <p:blipFill rotWithShape="1">
          <a:blip r:embed="rId5">
            <a:alphaModFix/>
          </a:blip>
          <a:srcRect b="0" l="0" r="0" t="0"/>
          <a:stretch/>
        </p:blipFill>
        <p:spPr>
          <a:xfrm>
            <a:off x="514196" y="4199383"/>
            <a:ext cx="114300" cy="124967"/>
          </a:xfrm>
          <a:prstGeom prst="rect">
            <a:avLst/>
          </a:prstGeom>
          <a:noFill/>
          <a:ln>
            <a:noFill/>
          </a:ln>
        </p:spPr>
      </p:pic>
      <p:sp>
        <p:nvSpPr>
          <p:cNvPr id="352" name="Google Shape;352;p24"/>
          <p:cNvSpPr txBox="1"/>
          <p:nvPr/>
        </p:nvSpPr>
        <p:spPr>
          <a:xfrm>
            <a:off x="4610861" y="4570272"/>
            <a:ext cx="3837940" cy="177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000" u="sng">
                <a:solidFill>
                  <a:srgbClr val="5F5F5F"/>
                </a:solidFill>
                <a:latin typeface="Calibri"/>
                <a:ea typeface="Calibri"/>
                <a:cs typeface="Calibri"/>
                <a:sym typeface="Calibri"/>
                <a:hlinkClick r:id="rId6">
                  <a:extLst>
                    <a:ext uri="{A12FA001-AC4F-418D-AE19-62706E023703}">
                      <ahyp:hlinkClr val="tx"/>
                    </a:ext>
                  </a:extLst>
                </a:hlinkClick>
              </a:rPr>
              <a:t>What does a t-SNE plot show? - Single Cell Discoveries (scdiscoveries.com)</a:t>
            </a:r>
            <a:endParaRPr sz="1000">
              <a:latin typeface="Calibri"/>
              <a:ea typeface="Calibri"/>
              <a:cs typeface="Calibri"/>
              <a:sym typeface="Calibri"/>
            </a:endParaRPr>
          </a:p>
        </p:txBody>
      </p:sp>
      <p:sp>
        <p:nvSpPr>
          <p:cNvPr id="353" name="Google Shape;353;p24"/>
          <p:cNvSpPr txBox="1"/>
          <p:nvPr>
            <p:ph idx="12" type="sldNum"/>
          </p:nvPr>
        </p:nvSpPr>
        <p:spPr>
          <a:xfrm>
            <a:off x="8401811" y="4830876"/>
            <a:ext cx="244475" cy="177800"/>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5"/>
          <p:cNvSpPr txBox="1"/>
          <p:nvPr>
            <p:ph type="title"/>
          </p:nvPr>
        </p:nvSpPr>
        <p:spPr>
          <a:xfrm>
            <a:off x="535940" y="454913"/>
            <a:ext cx="7755890" cy="452119"/>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EDA tutorials</a:t>
            </a:r>
            <a:endParaRPr/>
          </a:p>
        </p:txBody>
      </p:sp>
      <p:sp>
        <p:nvSpPr>
          <p:cNvPr id="359" name="Google Shape;359;p25"/>
          <p:cNvSpPr txBox="1"/>
          <p:nvPr/>
        </p:nvSpPr>
        <p:spPr>
          <a:xfrm>
            <a:off x="879144" y="1411986"/>
            <a:ext cx="7435215" cy="3001010"/>
          </a:xfrm>
          <a:prstGeom prst="rect">
            <a:avLst/>
          </a:prstGeom>
          <a:noFill/>
          <a:ln>
            <a:noFill/>
          </a:ln>
        </p:spPr>
        <p:txBody>
          <a:bodyPr anchorCtr="0" anchor="t" bIns="0" lIns="0" spcFirstLastPara="1" rIns="0" wrap="square" tIns="12050">
            <a:spAutoFit/>
          </a:bodyPr>
          <a:lstStyle/>
          <a:p>
            <a:pPr indent="0" lvl="0" marL="12700" marR="6985" rtl="0" algn="l">
              <a:lnSpc>
                <a:spcPct val="100000"/>
              </a:lnSpc>
              <a:spcBef>
                <a:spcPts val="0"/>
              </a:spcBef>
              <a:spcAft>
                <a:spcPts val="0"/>
              </a:spcAft>
              <a:buNone/>
            </a:pPr>
            <a:r>
              <a:rPr lang="en-US" sz="1600" u="sng">
                <a:solidFill>
                  <a:srgbClr val="5F5F5F"/>
                </a:solidFill>
                <a:latin typeface="Calibri"/>
                <a:ea typeface="Calibri"/>
                <a:cs typeface="Calibri"/>
                <a:sym typeface="Calibri"/>
                <a:hlinkClick r:id="rId3">
                  <a:extLst>
                    <a:ext uri="{A12FA001-AC4F-418D-AE19-62706E023703}">
                      <ahyp:hlinkClr val="tx"/>
                    </a:ext>
                  </a:extLst>
                </a:hlinkClick>
              </a:rPr>
              <a:t>EDA To Prediction(DieTanic) (kaggle.com)</a:t>
            </a:r>
            <a:r>
              <a:rPr lang="en-US" sz="1600">
                <a:solidFill>
                  <a:srgbClr val="5F5F5F"/>
                </a:solidFill>
                <a:latin typeface="Calibri"/>
                <a:ea typeface="Calibri"/>
                <a:cs typeface="Calibri"/>
                <a:sym typeface="Calibri"/>
              </a:rPr>
              <a:t> </a:t>
            </a:r>
            <a:r>
              <a:rPr lang="en-US" sz="1600">
                <a:latin typeface="Calibri"/>
                <a:ea typeface="Calibri"/>
                <a:cs typeface="Calibri"/>
                <a:sym typeface="Calibri"/>
              </a:rPr>
              <a:t>– Titanic dataset, classification problem, </a:t>
            </a:r>
            <a:r>
              <a:rPr b="1" lang="en-US" sz="1600">
                <a:latin typeface="Calibri"/>
                <a:ea typeface="Calibri"/>
                <a:cs typeface="Calibri"/>
                <a:sym typeface="Calibri"/>
              </a:rPr>
              <a:t>today’s tutorial.</a:t>
            </a:r>
            <a:endParaRPr sz="1600">
              <a:latin typeface="Calibri"/>
              <a:ea typeface="Calibri"/>
              <a:cs typeface="Calibri"/>
              <a:sym typeface="Calibri"/>
            </a:endParaRPr>
          </a:p>
          <a:p>
            <a:pPr indent="0" lvl="0" marL="0" rtl="0" algn="l">
              <a:lnSpc>
                <a:spcPct val="100000"/>
              </a:lnSpc>
              <a:spcBef>
                <a:spcPts val="735"/>
              </a:spcBef>
              <a:spcAft>
                <a:spcPts val="0"/>
              </a:spcAft>
              <a:buNone/>
            </a:pPr>
            <a:r>
              <a:t/>
            </a:r>
            <a:endParaRPr sz="1600">
              <a:latin typeface="Calibri"/>
              <a:ea typeface="Calibri"/>
              <a:cs typeface="Calibri"/>
              <a:sym typeface="Calibri"/>
            </a:endParaRPr>
          </a:p>
          <a:p>
            <a:pPr indent="0" lvl="0" marL="12700" marR="6350" rtl="0" algn="l">
              <a:lnSpc>
                <a:spcPct val="100000"/>
              </a:lnSpc>
              <a:spcBef>
                <a:spcPts val="0"/>
              </a:spcBef>
              <a:spcAft>
                <a:spcPts val="0"/>
              </a:spcAft>
              <a:buNone/>
            </a:pPr>
            <a:r>
              <a:rPr lang="en-US" sz="1600" u="sng">
                <a:solidFill>
                  <a:srgbClr val="5F5F5F"/>
                </a:solidFill>
                <a:latin typeface="Calibri"/>
                <a:ea typeface="Calibri"/>
                <a:cs typeface="Calibri"/>
                <a:sym typeface="Calibri"/>
                <a:hlinkClick r:id="rId4">
                  <a:extLst>
                    <a:ext uri="{A12FA001-AC4F-418D-AE19-62706E023703}">
                      <ahyp:hlinkClr val="tx"/>
                    </a:ext>
                  </a:extLst>
                </a:hlinkClick>
              </a:rPr>
              <a:t>Top 1% Approach: EDA, New Models and Stacking (kaggle.com)</a:t>
            </a:r>
            <a:r>
              <a:rPr lang="en-US" sz="1600">
                <a:solidFill>
                  <a:srgbClr val="5F5F5F"/>
                </a:solidFill>
                <a:latin typeface="Calibri"/>
                <a:ea typeface="Calibri"/>
                <a:cs typeface="Calibri"/>
                <a:sym typeface="Calibri"/>
              </a:rPr>
              <a:t> </a:t>
            </a:r>
            <a:r>
              <a:rPr lang="en-US" sz="1600">
                <a:latin typeface="Calibri"/>
                <a:ea typeface="Calibri"/>
                <a:cs typeface="Calibri"/>
                <a:sym typeface="Calibri"/>
              </a:rPr>
              <a:t>– Housing prices dataset, regression problem, for you to explore.</a:t>
            </a:r>
            <a:endParaRPr sz="1600">
              <a:latin typeface="Calibri"/>
              <a:ea typeface="Calibri"/>
              <a:cs typeface="Calibri"/>
              <a:sym typeface="Calibri"/>
            </a:endParaRPr>
          </a:p>
          <a:p>
            <a:pPr indent="0" lvl="0" marL="0" rtl="0" algn="l">
              <a:lnSpc>
                <a:spcPct val="100000"/>
              </a:lnSpc>
              <a:spcBef>
                <a:spcPts val="735"/>
              </a:spcBef>
              <a:spcAft>
                <a:spcPts val="0"/>
              </a:spcAft>
              <a:buNone/>
            </a:pPr>
            <a:r>
              <a:t/>
            </a:r>
            <a:endParaRPr sz="1600">
              <a:latin typeface="Calibri"/>
              <a:ea typeface="Calibri"/>
              <a:cs typeface="Calibri"/>
              <a:sym typeface="Calibri"/>
            </a:endParaRPr>
          </a:p>
          <a:p>
            <a:pPr indent="0" lvl="0" marL="12700" marR="5080" rtl="0" algn="l">
              <a:lnSpc>
                <a:spcPct val="100000"/>
              </a:lnSpc>
              <a:spcBef>
                <a:spcPts val="5"/>
              </a:spcBef>
              <a:spcAft>
                <a:spcPts val="0"/>
              </a:spcAft>
              <a:buNone/>
            </a:pPr>
            <a:r>
              <a:rPr lang="en-US" sz="1600" u="sng">
                <a:solidFill>
                  <a:srgbClr val="5F5F5F"/>
                </a:solidFill>
                <a:latin typeface="Calibri"/>
                <a:ea typeface="Calibri"/>
                <a:cs typeface="Calibri"/>
                <a:sym typeface="Calibri"/>
                <a:hlinkClick r:id="rId5">
                  <a:extLst>
                    <a:ext uri="{A12FA001-AC4F-418D-AE19-62706E023703}">
                      <ahyp:hlinkClr val="tx"/>
                    </a:ext>
                  </a:extLst>
                </a:hlinkClick>
              </a:rPr>
              <a:t>K-Mean clustering for Wine Quality Data (kaggle.com)</a:t>
            </a:r>
            <a:r>
              <a:rPr lang="en-US" sz="1600">
                <a:solidFill>
                  <a:srgbClr val="5F5F5F"/>
                </a:solidFill>
                <a:latin typeface="Calibri"/>
                <a:ea typeface="Calibri"/>
                <a:cs typeface="Calibri"/>
                <a:sym typeface="Calibri"/>
              </a:rPr>
              <a:t> </a:t>
            </a:r>
            <a:r>
              <a:rPr lang="en-US" sz="1600">
                <a:latin typeface="Calibri"/>
                <a:ea typeface="Calibri"/>
                <a:cs typeface="Calibri"/>
                <a:sym typeface="Calibri"/>
              </a:rPr>
              <a:t>– Wines quality dataset, clustering problem, for you to explore.</a:t>
            </a:r>
            <a:endParaRPr sz="1600">
              <a:latin typeface="Calibri"/>
              <a:ea typeface="Calibri"/>
              <a:cs typeface="Calibri"/>
              <a:sym typeface="Calibri"/>
            </a:endParaRPr>
          </a:p>
          <a:p>
            <a:pPr indent="0" lvl="0" marL="0" rtl="0" algn="l">
              <a:lnSpc>
                <a:spcPct val="100000"/>
              </a:lnSpc>
              <a:spcBef>
                <a:spcPts val="735"/>
              </a:spcBef>
              <a:spcAft>
                <a:spcPts val="0"/>
              </a:spcAft>
              <a:buNone/>
            </a:pPr>
            <a:r>
              <a:t/>
            </a:r>
            <a:endParaRPr sz="1600">
              <a:latin typeface="Calibri"/>
              <a:ea typeface="Calibri"/>
              <a:cs typeface="Calibri"/>
              <a:sym typeface="Calibri"/>
            </a:endParaRPr>
          </a:p>
          <a:p>
            <a:pPr indent="0" lvl="0" marL="12700" marR="5080" rtl="0" algn="l">
              <a:lnSpc>
                <a:spcPct val="100000"/>
              </a:lnSpc>
              <a:spcBef>
                <a:spcPts val="0"/>
              </a:spcBef>
              <a:spcAft>
                <a:spcPts val="0"/>
              </a:spcAft>
              <a:buNone/>
            </a:pPr>
            <a:r>
              <a:rPr lang="en-US" sz="1600">
                <a:latin typeface="Calibri"/>
                <a:ea typeface="Calibri"/>
                <a:cs typeface="Calibri"/>
                <a:sym typeface="Calibri"/>
              </a:rPr>
              <a:t>Be careful, as these tutorials are from 4-6 years ago, so the libraries syntax might have significantly changed (e.g. sns.factorplot is now sns.catplot).</a:t>
            </a:r>
            <a:endParaRPr sz="1600">
              <a:latin typeface="Calibri"/>
              <a:ea typeface="Calibri"/>
              <a:cs typeface="Calibri"/>
              <a:sym typeface="Calibri"/>
            </a:endParaRPr>
          </a:p>
        </p:txBody>
      </p:sp>
      <p:pic>
        <p:nvPicPr>
          <p:cNvPr id="360" name="Google Shape;360;p25">
            <a:hlinkClick r:id="rId6"/>
          </p:cNvPr>
          <p:cNvPicPr preferRelativeResize="0"/>
          <p:nvPr/>
        </p:nvPicPr>
        <p:blipFill rotWithShape="1">
          <a:blip r:embed="rId7">
            <a:alphaModFix/>
          </a:blip>
          <a:srcRect b="0" l="0" r="0" t="0"/>
          <a:stretch/>
        </p:blipFill>
        <p:spPr>
          <a:xfrm>
            <a:off x="548640" y="1486661"/>
            <a:ext cx="140208" cy="141732"/>
          </a:xfrm>
          <a:prstGeom prst="rect">
            <a:avLst/>
          </a:prstGeom>
          <a:noFill/>
          <a:ln>
            <a:noFill/>
          </a:ln>
        </p:spPr>
      </p:pic>
      <p:pic>
        <p:nvPicPr>
          <p:cNvPr id="361" name="Google Shape;361;p25">
            <a:hlinkClick r:id="rId8"/>
          </p:cNvPr>
          <p:cNvPicPr preferRelativeResize="0"/>
          <p:nvPr/>
        </p:nvPicPr>
        <p:blipFill rotWithShape="1">
          <a:blip r:embed="rId7">
            <a:alphaModFix/>
          </a:blip>
          <a:srcRect b="0" l="0" r="0" t="0"/>
          <a:stretch/>
        </p:blipFill>
        <p:spPr>
          <a:xfrm>
            <a:off x="548640" y="2315717"/>
            <a:ext cx="140208" cy="141731"/>
          </a:xfrm>
          <a:prstGeom prst="rect">
            <a:avLst/>
          </a:prstGeom>
          <a:noFill/>
          <a:ln>
            <a:noFill/>
          </a:ln>
        </p:spPr>
      </p:pic>
      <p:pic>
        <p:nvPicPr>
          <p:cNvPr id="362" name="Google Shape;362;p25">
            <a:hlinkClick r:id="rId9"/>
          </p:cNvPr>
          <p:cNvPicPr preferRelativeResize="0"/>
          <p:nvPr/>
        </p:nvPicPr>
        <p:blipFill rotWithShape="1">
          <a:blip r:embed="rId7">
            <a:alphaModFix/>
          </a:blip>
          <a:srcRect b="0" l="0" r="0" t="0"/>
          <a:stretch/>
        </p:blipFill>
        <p:spPr>
          <a:xfrm>
            <a:off x="548640" y="3144773"/>
            <a:ext cx="140208" cy="141731"/>
          </a:xfrm>
          <a:prstGeom prst="rect">
            <a:avLst/>
          </a:prstGeom>
          <a:noFill/>
          <a:ln>
            <a:noFill/>
          </a:ln>
        </p:spPr>
      </p:pic>
      <p:pic>
        <p:nvPicPr>
          <p:cNvPr id="363" name="Google Shape;363;p25"/>
          <p:cNvPicPr preferRelativeResize="0"/>
          <p:nvPr/>
        </p:nvPicPr>
        <p:blipFill rotWithShape="1">
          <a:blip r:embed="rId7">
            <a:alphaModFix/>
          </a:blip>
          <a:srcRect b="0" l="0" r="0" t="0"/>
          <a:stretch/>
        </p:blipFill>
        <p:spPr>
          <a:xfrm>
            <a:off x="548640" y="3973829"/>
            <a:ext cx="140208" cy="141731"/>
          </a:xfrm>
          <a:prstGeom prst="rect">
            <a:avLst/>
          </a:prstGeom>
          <a:noFill/>
          <a:ln>
            <a:noFill/>
          </a:ln>
        </p:spPr>
      </p:pic>
      <p:sp>
        <p:nvSpPr>
          <p:cNvPr id="364" name="Google Shape;364;p25"/>
          <p:cNvSpPr txBox="1"/>
          <p:nvPr>
            <p:ph idx="12" type="sldNum"/>
          </p:nvPr>
        </p:nvSpPr>
        <p:spPr>
          <a:xfrm>
            <a:off x="8401811" y="4830876"/>
            <a:ext cx="244475" cy="177800"/>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26"/>
          <p:cNvSpPr txBox="1"/>
          <p:nvPr>
            <p:ph type="title"/>
          </p:nvPr>
        </p:nvSpPr>
        <p:spPr>
          <a:xfrm>
            <a:off x="535940" y="454913"/>
            <a:ext cx="7755890" cy="452119"/>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HW5 – heart failure dataset EDA</a:t>
            </a:r>
            <a:endParaRPr/>
          </a:p>
        </p:txBody>
      </p:sp>
      <p:sp>
        <p:nvSpPr>
          <p:cNvPr id="370" name="Google Shape;370;p26"/>
          <p:cNvSpPr txBox="1"/>
          <p:nvPr/>
        </p:nvSpPr>
        <p:spPr>
          <a:xfrm>
            <a:off x="841044" y="1210183"/>
            <a:ext cx="7778750" cy="3120726"/>
          </a:xfrm>
          <a:prstGeom prst="rect">
            <a:avLst/>
          </a:prstGeom>
          <a:noFill/>
          <a:ln>
            <a:noFill/>
          </a:ln>
        </p:spPr>
        <p:txBody>
          <a:bodyPr anchorCtr="0" anchor="t" bIns="0" lIns="0" spcFirstLastPara="1" rIns="0" wrap="square" tIns="12050">
            <a:spAutoFit/>
          </a:bodyPr>
          <a:lstStyle/>
          <a:p>
            <a:pPr indent="0" lvl="0" marL="50800" rtl="0" algn="just">
              <a:lnSpc>
                <a:spcPct val="100000"/>
              </a:lnSpc>
              <a:spcBef>
                <a:spcPts val="0"/>
              </a:spcBef>
              <a:spcAft>
                <a:spcPts val="0"/>
              </a:spcAft>
              <a:buNone/>
            </a:pPr>
            <a:r>
              <a:rPr lang="en-US" sz="1300" u="sng">
                <a:solidFill>
                  <a:srgbClr val="5F5F5F"/>
                </a:solidFill>
                <a:latin typeface="Calibri"/>
                <a:ea typeface="Calibri"/>
                <a:cs typeface="Calibri"/>
                <a:sym typeface="Calibri"/>
                <a:hlinkClick r:id="rId3">
                  <a:extLst>
                    <a:ext uri="{A12FA001-AC4F-418D-AE19-62706E023703}">
                      <ahyp:hlinkClr val="tx"/>
                    </a:ext>
                  </a:extLst>
                </a:hlinkClick>
              </a:rPr>
              <a:t>Heart Failure Prediction Dataset (kaggle.com)</a:t>
            </a:r>
            <a:endParaRPr sz="1300">
              <a:latin typeface="Calibri"/>
              <a:ea typeface="Calibri"/>
              <a:cs typeface="Calibri"/>
              <a:sym typeface="Calibri"/>
            </a:endParaRPr>
          </a:p>
          <a:p>
            <a:pPr indent="0" lvl="0" marL="0" rtl="0" algn="l">
              <a:lnSpc>
                <a:spcPct val="100000"/>
              </a:lnSpc>
              <a:spcBef>
                <a:spcPts val="600"/>
              </a:spcBef>
              <a:spcAft>
                <a:spcPts val="0"/>
              </a:spcAft>
              <a:buNone/>
            </a:pPr>
            <a:r>
              <a:t/>
            </a:r>
            <a:endParaRPr sz="1300">
              <a:latin typeface="Calibri"/>
              <a:ea typeface="Calibri"/>
              <a:cs typeface="Calibri"/>
              <a:sym typeface="Calibri"/>
            </a:endParaRPr>
          </a:p>
          <a:p>
            <a:pPr indent="0" lvl="0" marL="50800" marR="17780" rtl="0" algn="just">
              <a:lnSpc>
                <a:spcPct val="100000"/>
              </a:lnSpc>
              <a:spcBef>
                <a:spcPts val="0"/>
              </a:spcBef>
              <a:spcAft>
                <a:spcPts val="0"/>
              </a:spcAft>
              <a:buNone/>
            </a:pPr>
            <a:r>
              <a:rPr b="1" lang="en-US" sz="1300">
                <a:latin typeface="Calibri"/>
                <a:ea typeface="Calibri"/>
                <a:cs typeface="Calibri"/>
                <a:sym typeface="Calibri"/>
              </a:rPr>
              <a:t>Your task is to explore this dataset: </a:t>
            </a:r>
            <a:r>
              <a:rPr lang="en-US" sz="1300">
                <a:latin typeface="Calibri"/>
                <a:ea typeface="Calibri"/>
                <a:cs typeface="Calibri"/>
                <a:sym typeface="Calibri"/>
              </a:rPr>
              <a:t>check the features, explain them, check their effect on target variable (heart failure), check for missing data and outliers. Then go in-depth, providing bivariate and multivariate data analysis, suggest for possible feature engineering or variable encoding, and try forming some conclusions.</a:t>
            </a:r>
            <a:endParaRPr sz="1300">
              <a:latin typeface="Calibri"/>
              <a:ea typeface="Calibri"/>
              <a:cs typeface="Calibri"/>
              <a:sym typeface="Calibri"/>
            </a:endParaRPr>
          </a:p>
          <a:p>
            <a:pPr indent="0" lvl="0" marL="0" rtl="0" algn="l">
              <a:lnSpc>
                <a:spcPct val="100000"/>
              </a:lnSpc>
              <a:spcBef>
                <a:spcPts val="595"/>
              </a:spcBef>
              <a:spcAft>
                <a:spcPts val="0"/>
              </a:spcAft>
              <a:buNone/>
            </a:pPr>
            <a:r>
              <a:t/>
            </a:r>
            <a:endParaRPr sz="1300">
              <a:latin typeface="Calibri"/>
              <a:ea typeface="Calibri"/>
              <a:cs typeface="Calibri"/>
              <a:sym typeface="Calibri"/>
            </a:endParaRPr>
          </a:p>
          <a:p>
            <a:pPr indent="0" lvl="0" marL="50800" rtl="0" algn="just">
              <a:lnSpc>
                <a:spcPct val="100000"/>
              </a:lnSpc>
              <a:spcBef>
                <a:spcPts val="0"/>
              </a:spcBef>
              <a:spcAft>
                <a:spcPts val="0"/>
              </a:spcAft>
              <a:buNone/>
            </a:pPr>
            <a:r>
              <a:rPr b="1" lang="en-US" sz="1300">
                <a:latin typeface="Calibri"/>
                <a:ea typeface="Calibri"/>
                <a:cs typeface="Calibri"/>
                <a:sym typeface="Calibri"/>
              </a:rPr>
              <a:t>Please note:</a:t>
            </a:r>
            <a:endParaRPr sz="1300">
              <a:latin typeface="Calibri"/>
              <a:ea typeface="Calibri"/>
              <a:cs typeface="Calibri"/>
              <a:sym typeface="Calibri"/>
            </a:endParaRPr>
          </a:p>
          <a:p>
            <a:pPr indent="-287019" lvl="0" marL="452119" rtl="0" algn="just">
              <a:lnSpc>
                <a:spcPct val="100000"/>
              </a:lnSpc>
              <a:spcBef>
                <a:spcPts val="315"/>
              </a:spcBef>
              <a:spcAft>
                <a:spcPts val="0"/>
              </a:spcAft>
              <a:buSzPts val="1300"/>
              <a:buFont typeface="Arial"/>
              <a:buChar char="•"/>
            </a:pPr>
            <a:r>
              <a:rPr lang="en-US" sz="1300">
                <a:latin typeface="Calibri"/>
                <a:ea typeface="Calibri"/>
                <a:cs typeface="Calibri"/>
                <a:sym typeface="Calibri"/>
              </a:rPr>
              <a:t>The description above is just </a:t>
            </a:r>
            <a:r>
              <a:rPr b="1" lang="en-US" sz="1300">
                <a:latin typeface="Calibri"/>
                <a:ea typeface="Calibri"/>
                <a:cs typeface="Calibri"/>
                <a:sym typeface="Calibri"/>
              </a:rPr>
              <a:t>an example </a:t>
            </a:r>
            <a:r>
              <a:rPr lang="en-US" sz="1300">
                <a:latin typeface="Calibri"/>
                <a:ea typeface="Calibri"/>
                <a:cs typeface="Calibri"/>
                <a:sym typeface="Calibri"/>
              </a:rPr>
              <a:t>of what you can do; the entire analysis is up to you.</a:t>
            </a:r>
            <a:endParaRPr sz="1300">
              <a:latin typeface="Calibri"/>
              <a:ea typeface="Calibri"/>
              <a:cs typeface="Calibri"/>
              <a:sym typeface="Calibri"/>
            </a:endParaRPr>
          </a:p>
          <a:p>
            <a:pPr indent="-287020" lvl="0" marL="451484" marR="17780" rtl="0" algn="just">
              <a:lnSpc>
                <a:spcPct val="100000"/>
              </a:lnSpc>
              <a:spcBef>
                <a:spcPts val="315"/>
              </a:spcBef>
              <a:spcAft>
                <a:spcPts val="0"/>
              </a:spcAft>
              <a:buSzPts val="1300"/>
              <a:buFont typeface="Arial"/>
              <a:buChar char="•"/>
            </a:pPr>
            <a:r>
              <a:rPr lang="en-US" sz="1300">
                <a:latin typeface="Calibri"/>
                <a:ea typeface="Calibri"/>
                <a:cs typeface="Calibri"/>
                <a:sym typeface="Calibri"/>
              </a:rPr>
              <a:t>You should provide detailed comments similar to what we had in lecture’s tutorial, as you would present the analysis results to a person, who is not familiar with the data. </a:t>
            </a:r>
            <a:r>
              <a:rPr b="1" lang="en-US" sz="1300">
                <a:latin typeface="Calibri"/>
                <a:ea typeface="Calibri"/>
                <a:cs typeface="Calibri"/>
                <a:sym typeface="Calibri"/>
              </a:rPr>
              <a:t>You should tell a story that describes the dataset and the situation around it.</a:t>
            </a:r>
            <a:endParaRPr sz="1300">
              <a:latin typeface="Calibri"/>
              <a:ea typeface="Calibri"/>
              <a:cs typeface="Calibri"/>
              <a:sym typeface="Calibri"/>
            </a:endParaRPr>
          </a:p>
          <a:p>
            <a:pPr indent="0" lvl="0" marL="0" rtl="0" algn="l">
              <a:lnSpc>
                <a:spcPct val="100000"/>
              </a:lnSpc>
              <a:spcBef>
                <a:spcPts val="595"/>
              </a:spcBef>
              <a:spcAft>
                <a:spcPts val="0"/>
              </a:spcAft>
              <a:buNone/>
            </a:pPr>
            <a:r>
              <a:t/>
            </a:r>
            <a:endParaRPr sz="1300">
              <a:latin typeface="Calibri"/>
              <a:ea typeface="Calibri"/>
              <a:cs typeface="Calibri"/>
              <a:sym typeface="Calibri"/>
            </a:endParaRPr>
          </a:p>
          <a:p>
            <a:pPr indent="0" lvl="0" marL="50800" rtl="0" algn="just">
              <a:lnSpc>
                <a:spcPct val="100000"/>
              </a:lnSpc>
              <a:spcBef>
                <a:spcPts val="0"/>
              </a:spcBef>
              <a:spcAft>
                <a:spcPts val="0"/>
              </a:spcAft>
              <a:buNone/>
            </a:pPr>
            <a:r>
              <a:rPr b="1" lang="en-US" sz="1300">
                <a:latin typeface="Calibri"/>
                <a:ea typeface="Calibri"/>
                <a:cs typeface="Calibri"/>
                <a:sym typeface="Calibri"/>
              </a:rPr>
              <a:t>Soft Deadline for this task is 02.04.2026 23.59 MSK.</a:t>
            </a:r>
            <a:endParaRPr/>
          </a:p>
          <a:p>
            <a:pPr indent="0" lvl="0" marL="50800" rtl="0" algn="just">
              <a:lnSpc>
                <a:spcPct val="100000"/>
              </a:lnSpc>
              <a:spcBef>
                <a:spcPts val="0"/>
              </a:spcBef>
              <a:spcAft>
                <a:spcPts val="0"/>
              </a:spcAft>
              <a:buNone/>
            </a:pPr>
            <a:r>
              <a:rPr b="1" lang="en-US" sz="1300">
                <a:latin typeface="Calibri"/>
                <a:ea typeface="Calibri"/>
                <a:cs typeface="Calibri"/>
                <a:sym typeface="Calibri"/>
              </a:rPr>
              <a:t>Hard Deadline for this task is 09.04.2026 23.59 MSK.</a:t>
            </a:r>
            <a:endParaRPr b="1" sz="1300">
              <a:latin typeface="Calibri"/>
              <a:ea typeface="Calibri"/>
              <a:cs typeface="Calibri"/>
              <a:sym typeface="Calibri"/>
            </a:endParaRPr>
          </a:p>
        </p:txBody>
      </p:sp>
      <p:pic>
        <p:nvPicPr>
          <p:cNvPr id="371" name="Google Shape;371;p26">
            <a:hlinkClick r:id="rId4"/>
          </p:cNvPr>
          <p:cNvPicPr preferRelativeResize="0"/>
          <p:nvPr/>
        </p:nvPicPr>
        <p:blipFill rotWithShape="1">
          <a:blip r:embed="rId5">
            <a:alphaModFix/>
          </a:blip>
          <a:srcRect b="0" l="0" r="0" t="0"/>
          <a:stretch/>
        </p:blipFill>
        <p:spPr>
          <a:xfrm>
            <a:off x="548640" y="1272794"/>
            <a:ext cx="114300" cy="115824"/>
          </a:xfrm>
          <a:prstGeom prst="rect">
            <a:avLst/>
          </a:prstGeom>
          <a:noFill/>
          <a:ln>
            <a:noFill/>
          </a:ln>
        </p:spPr>
      </p:pic>
      <p:pic>
        <p:nvPicPr>
          <p:cNvPr id="372" name="Google Shape;372;p26"/>
          <p:cNvPicPr preferRelativeResize="0"/>
          <p:nvPr/>
        </p:nvPicPr>
        <p:blipFill rotWithShape="1">
          <a:blip r:embed="rId5">
            <a:alphaModFix/>
          </a:blip>
          <a:srcRect b="0" l="0" r="0" t="0"/>
          <a:stretch/>
        </p:blipFill>
        <p:spPr>
          <a:xfrm>
            <a:off x="548640" y="1748282"/>
            <a:ext cx="114300" cy="115824"/>
          </a:xfrm>
          <a:prstGeom prst="rect">
            <a:avLst/>
          </a:prstGeom>
          <a:noFill/>
          <a:ln>
            <a:noFill/>
          </a:ln>
        </p:spPr>
      </p:pic>
      <p:pic>
        <p:nvPicPr>
          <p:cNvPr id="373" name="Google Shape;373;p26"/>
          <p:cNvPicPr preferRelativeResize="0"/>
          <p:nvPr/>
        </p:nvPicPr>
        <p:blipFill rotWithShape="1">
          <a:blip r:embed="rId5">
            <a:alphaModFix/>
          </a:blip>
          <a:srcRect b="0" l="0" r="0" t="0"/>
          <a:stretch/>
        </p:blipFill>
        <p:spPr>
          <a:xfrm>
            <a:off x="548640" y="2620010"/>
            <a:ext cx="114300" cy="115824"/>
          </a:xfrm>
          <a:prstGeom prst="rect">
            <a:avLst/>
          </a:prstGeom>
          <a:noFill/>
          <a:ln>
            <a:noFill/>
          </a:ln>
        </p:spPr>
      </p:pic>
      <p:pic>
        <p:nvPicPr>
          <p:cNvPr id="374" name="Google Shape;374;p26"/>
          <p:cNvPicPr preferRelativeResize="0"/>
          <p:nvPr/>
        </p:nvPicPr>
        <p:blipFill rotWithShape="1">
          <a:blip r:embed="rId5">
            <a:alphaModFix/>
          </a:blip>
          <a:srcRect b="0" l="0" r="0" t="0"/>
          <a:stretch/>
        </p:blipFill>
        <p:spPr>
          <a:xfrm>
            <a:off x="548640" y="3967226"/>
            <a:ext cx="114300" cy="115824"/>
          </a:xfrm>
          <a:prstGeom prst="rect">
            <a:avLst/>
          </a:prstGeom>
          <a:noFill/>
          <a:ln>
            <a:noFill/>
          </a:ln>
        </p:spPr>
      </p:pic>
      <p:sp>
        <p:nvSpPr>
          <p:cNvPr id="375" name="Google Shape;375;p26"/>
          <p:cNvSpPr txBox="1"/>
          <p:nvPr>
            <p:ph idx="12" type="sldNum"/>
          </p:nvPr>
        </p:nvSpPr>
        <p:spPr>
          <a:xfrm>
            <a:off x="8401811" y="4830876"/>
            <a:ext cx="244475" cy="177800"/>
          </a:xfrm>
          <a:prstGeom prst="rect">
            <a:avLst/>
          </a:prstGeom>
          <a:noFill/>
          <a:ln>
            <a:noFill/>
          </a:ln>
        </p:spPr>
        <p:txBody>
          <a:bodyPr anchorCtr="0" anchor="t" bIns="0" lIns="0" spcFirstLastPara="1" rIns="0" wrap="square" tIns="0">
            <a:spAutoFit/>
          </a:bodyPr>
          <a:lstStyle/>
          <a:p>
            <a:pPr indent="0" lvl="0" marL="38100" rtl="0" algn="l">
              <a:lnSpc>
                <a:spcPct val="103333"/>
              </a:lnSpc>
              <a:spcBef>
                <a:spcPts val="0"/>
              </a:spcBef>
              <a:spcAft>
                <a:spcPts val="0"/>
              </a:spcAft>
              <a:buNone/>
            </a:pPr>
            <a:fld id="{00000000-1234-1234-1234-123412341234}" type="slidenum">
              <a:rPr lang="en-US"/>
              <a:t>‹#›</a:t>
            </a:fld>
            <a:endParaRPr/>
          </a:p>
        </p:txBody>
      </p:sp>
      <p:pic>
        <p:nvPicPr>
          <p:cNvPr id="376" name="Google Shape;376;p26"/>
          <p:cNvPicPr preferRelativeResize="0"/>
          <p:nvPr/>
        </p:nvPicPr>
        <p:blipFill rotWithShape="1">
          <a:blip r:embed="rId5">
            <a:alphaModFix/>
          </a:blip>
          <a:srcRect b="0" l="0" r="0" t="0"/>
          <a:stretch/>
        </p:blipFill>
        <p:spPr>
          <a:xfrm>
            <a:off x="548640" y="4171950"/>
            <a:ext cx="114300" cy="11582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pic>
        <p:nvPicPr>
          <p:cNvPr id="381" name="Google Shape;381;p27"/>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382" name="Google Shape;382;p27"/>
          <p:cNvSpPr txBox="1"/>
          <p:nvPr>
            <p:ph type="title"/>
          </p:nvPr>
        </p:nvSpPr>
        <p:spPr>
          <a:xfrm>
            <a:off x="2338577" y="1198321"/>
            <a:ext cx="4646295" cy="6350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0" lang="en-US" sz="4000">
                <a:solidFill>
                  <a:srgbClr val="FFFFFF"/>
                </a:solidFill>
                <a:latin typeface="Calibri"/>
                <a:ea typeface="Calibri"/>
                <a:cs typeface="Calibri"/>
                <a:sym typeface="Calibri"/>
              </a:rPr>
              <a:t>Thank you for coming!</a:t>
            </a:r>
            <a:endParaRPr sz="4000">
              <a:latin typeface="Calibri"/>
              <a:ea typeface="Calibri"/>
              <a:cs typeface="Calibri"/>
              <a:sym typeface="Calibri"/>
            </a:endParaRPr>
          </a:p>
        </p:txBody>
      </p:sp>
      <p:sp>
        <p:nvSpPr>
          <p:cNvPr id="383" name="Google Shape;383;p27"/>
          <p:cNvSpPr txBox="1"/>
          <p:nvPr/>
        </p:nvSpPr>
        <p:spPr>
          <a:xfrm>
            <a:off x="3431540" y="2307793"/>
            <a:ext cx="2283460" cy="1496051"/>
          </a:xfrm>
          <a:prstGeom prst="rect">
            <a:avLst/>
          </a:prstGeom>
          <a:noFill/>
          <a:ln>
            <a:noFill/>
          </a:ln>
        </p:spPr>
        <p:txBody>
          <a:bodyPr anchorCtr="0" anchor="t" bIns="0" lIns="0" spcFirstLastPara="1" rIns="0" wrap="square" tIns="13325">
            <a:spAutoFit/>
          </a:bodyPr>
          <a:lstStyle/>
          <a:p>
            <a:pPr indent="0" lvl="0" marL="0" rtl="0" algn="ctr">
              <a:lnSpc>
                <a:spcPct val="100000"/>
              </a:lnSpc>
              <a:spcBef>
                <a:spcPts val="0"/>
              </a:spcBef>
              <a:spcAft>
                <a:spcPts val="0"/>
              </a:spcAft>
              <a:buNone/>
            </a:pPr>
            <a:r>
              <a:rPr lang="en-US" sz="2000">
                <a:solidFill>
                  <a:srgbClr val="FFFFFF"/>
                </a:solidFill>
                <a:latin typeface="Calibri"/>
                <a:ea typeface="Calibri"/>
                <a:cs typeface="Calibri"/>
                <a:sym typeface="Calibri"/>
              </a:rPr>
              <a:t>See you on the next course </a:t>
            </a:r>
            <a:r>
              <a:rPr lang="en-US" sz="2000">
                <a:solidFill>
                  <a:srgbClr val="FFFFFF"/>
                </a:solidFill>
                <a:latin typeface="Noto Sans Symbols"/>
                <a:ea typeface="Noto Sans Symbols"/>
                <a:cs typeface="Noto Sans Symbols"/>
                <a:sym typeface="Noto Sans Symbols"/>
              </a:rPr>
              <a:t>☺</a:t>
            </a:r>
            <a:endParaRPr sz="2000">
              <a:latin typeface="Noto Sans Symbols"/>
              <a:ea typeface="Noto Sans Symbols"/>
              <a:cs typeface="Noto Sans Symbols"/>
              <a:sym typeface="Noto Sans Symbols"/>
            </a:endParaRPr>
          </a:p>
          <a:p>
            <a:pPr indent="0" lvl="0" marL="0" rtl="0" algn="l">
              <a:lnSpc>
                <a:spcPct val="100000"/>
              </a:lnSpc>
              <a:spcBef>
                <a:spcPts val="495"/>
              </a:spcBef>
              <a:spcAft>
                <a:spcPts val="0"/>
              </a:spcAft>
              <a:buNone/>
            </a:pPr>
            <a:r>
              <a:t/>
            </a:r>
            <a:endParaRPr sz="2000">
              <a:latin typeface="Noto Sans Symbols"/>
              <a:ea typeface="Noto Sans Symbols"/>
              <a:cs typeface="Noto Sans Symbols"/>
              <a:sym typeface="Noto Sans Symbols"/>
            </a:endParaRPr>
          </a:p>
          <a:p>
            <a:pPr indent="0" lvl="0" marL="363220" marR="359410" rtl="0" algn="ctr">
              <a:lnSpc>
                <a:spcPct val="110000"/>
              </a:lnSpc>
              <a:spcBef>
                <a:spcPts val="0"/>
              </a:spcBef>
              <a:spcAft>
                <a:spcPts val="0"/>
              </a:spcAft>
              <a:buNone/>
            </a:pPr>
            <a:r>
              <a:rPr lang="en-US" sz="1500">
                <a:solidFill>
                  <a:srgbClr val="FFFFFF"/>
                </a:solidFill>
                <a:latin typeface="Calibri"/>
                <a:ea typeface="Calibri"/>
                <a:cs typeface="Calibri"/>
                <a:sym typeface="Calibri"/>
              </a:rPr>
              <a:t>vitdrav@gmail.com</a:t>
            </a:r>
            <a:endParaRPr/>
          </a:p>
          <a:p>
            <a:pPr indent="0" lvl="0" marL="363220" marR="359410" rtl="0" algn="ctr">
              <a:lnSpc>
                <a:spcPct val="110000"/>
              </a:lnSpc>
              <a:spcBef>
                <a:spcPts val="0"/>
              </a:spcBef>
              <a:spcAft>
                <a:spcPts val="0"/>
              </a:spcAft>
              <a:buNone/>
            </a:pPr>
            <a:r>
              <a:rPr lang="en-US" sz="1500">
                <a:solidFill>
                  <a:srgbClr val="FFFFFF"/>
                </a:solidFill>
                <a:latin typeface="Calibri"/>
                <a:ea typeface="Calibri"/>
                <a:cs typeface="Calibri"/>
                <a:sym typeface="Calibri"/>
              </a:rPr>
              <a:t>tg: @vitdrav</a:t>
            </a:r>
            <a:endParaRPr sz="1500">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2026-03-21T20:39:39Z</dcterms:created>
  <dc:creator>Al</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2025-04-30T00:00:00Z</vt:filetime>
  </property>
  <property fmtid="{D5CDD505-2E9C-101B-9397-08002B2CF9AE}" pid="3" name="Creator">
    <vt:lpwstr>Microsoft® PowerPoint® 2013</vt:lpwstr>
  </property>
  <property fmtid="{D5CDD505-2E9C-101B-9397-08002B2CF9AE}" pid="4" name="LastSaved">
    <vt:filetime>2026-03-21T00:00:00Z</vt:filetime>
  </property>
  <property fmtid="{D5CDD505-2E9C-101B-9397-08002B2CF9AE}" pid="5" name="Producer">
    <vt:lpwstr>Microsoft® PowerPoint® 2013</vt:lpwstr>
  </property>
</Properties>
</file>